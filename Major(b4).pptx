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991" r:id="rId1"/>
  </p:sldMasterIdLst>
  <p:notesMasterIdLst>
    <p:notesMasterId r:id="rId16"/>
  </p:notesMasterIdLst>
  <p:sldIdLst>
    <p:sldId id="374" r:id="rId2"/>
    <p:sldId id="366" r:id="rId3"/>
    <p:sldId id="367" r:id="rId4"/>
    <p:sldId id="368" r:id="rId5"/>
    <p:sldId id="370" r:id="rId6"/>
    <p:sldId id="381" r:id="rId7"/>
    <p:sldId id="369" r:id="rId8"/>
    <p:sldId id="371" r:id="rId9"/>
    <p:sldId id="380" r:id="rId10"/>
    <p:sldId id="373" r:id="rId11"/>
    <p:sldId id="376" r:id="rId12"/>
    <p:sldId id="379" r:id="rId13"/>
    <p:sldId id="378" r:id="rId14"/>
    <p:sldId id="37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rica Waite" initials="EW" lastIdx="2" clrIdx="0">
    <p:extLst>
      <p:ext uri="{19B8F6BF-5375-455C-9EA6-DF929625EA0E}">
        <p15:presenceInfo xmlns:p15="http://schemas.microsoft.com/office/powerpoint/2012/main" userId="c568693182780e7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E7F85"/>
    <a:srgbClr val="3C636A"/>
    <a:srgbClr val="19444A"/>
    <a:srgbClr val="A8C1C2"/>
    <a:srgbClr val="67A9B3"/>
    <a:srgbClr val="E4EFED"/>
    <a:srgbClr val="58A0A5"/>
    <a:srgbClr val="D5DFDD"/>
    <a:srgbClr val="A13427"/>
    <a:srgbClr val="E0E2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28" autoAdjust="0"/>
    <p:restoredTop sz="96058"/>
  </p:normalViewPr>
  <p:slideViewPr>
    <p:cSldViewPr snapToGrid="0" snapToObjects="1">
      <p:cViewPr varScale="1">
        <p:scale>
          <a:sx n="85" d="100"/>
          <a:sy n="85" d="100"/>
        </p:scale>
        <p:origin x="504" y="5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6AFEDE-F1BF-6A4A-80D9-CCB6DC4EFE3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711C10-233D-DA48-A5CB-9365BBABB6B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3076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0095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35A78-3159-9AB9-14C5-9B12C2DA7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A24433-BA0E-7899-3554-C22E639AB7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2C519-2DF7-8038-6F83-700E6E9ED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EC30F2-ACB0-41E5-1DF2-6348633D9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0779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64672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171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33260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9C42-36E9-D386-DCA2-9F920A4D6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6CD919-C61D-13A1-E367-5CDDC8E4A7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68CC7-82D9-7426-A4BA-11BF63590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A9AC6-BDFD-D872-0ADB-C8EA3EE378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4505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9979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21017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5C863-C541-31FC-AB19-5480FE9C3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BADF61-79EC-0C40-19CB-3B966BA08B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958DC-8B18-D678-F64F-8F491AC3A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4C82F0-6AB1-41C7-9D28-74E0F6687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4939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711C10-233D-DA48-A5CB-9365BBABB6B4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557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653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786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8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418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33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7145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24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271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3929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551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68155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51396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3111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63917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22753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26857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201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7381E756-E947-FD4A-8A23-D2C983A1A8BD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330669D-EC37-AA42-8CD3-B0788BD38FC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802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2" r:id="rId1"/>
    <p:sldLayoutId id="2147483993" r:id="rId2"/>
    <p:sldLayoutId id="2147483994" r:id="rId3"/>
    <p:sldLayoutId id="2147483995" r:id="rId4"/>
    <p:sldLayoutId id="2147483996" r:id="rId5"/>
    <p:sldLayoutId id="2147483997" r:id="rId6"/>
    <p:sldLayoutId id="2147483998" r:id="rId7"/>
    <p:sldLayoutId id="2147483999" r:id="rId8"/>
    <p:sldLayoutId id="2147484000" r:id="rId9"/>
    <p:sldLayoutId id="2147484001" r:id="rId10"/>
    <p:sldLayoutId id="2147484002" r:id="rId11"/>
    <p:sldLayoutId id="2147484003" r:id="rId12"/>
    <p:sldLayoutId id="2147484004" r:id="rId13"/>
    <p:sldLayoutId id="2147484005" r:id="rId14"/>
    <p:sldLayoutId id="2147484006" r:id="rId15"/>
    <p:sldLayoutId id="2147484007" r:id="rId16"/>
    <p:sldLayoutId id="2147484008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50F0BBFE-FFF5-DD82-C1F8-D8CABD2F8D27}"/>
              </a:ext>
            </a:extLst>
          </p:cNvPr>
          <p:cNvSpPr/>
          <p:nvPr/>
        </p:nvSpPr>
        <p:spPr>
          <a:xfrm>
            <a:off x="-4905" y="880559"/>
            <a:ext cx="5977441" cy="5977441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945B4B-641E-9CDE-D686-9BAE5943AE4F}"/>
              </a:ext>
            </a:extLst>
          </p:cNvPr>
          <p:cNvSpPr/>
          <p:nvPr/>
        </p:nvSpPr>
        <p:spPr>
          <a:xfrm>
            <a:off x="814493" y="1531917"/>
            <a:ext cx="10542619" cy="17048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en-IN" sz="3600" b="1" dirty="0">
                <a:solidFill>
                  <a:srgbClr val="FF0000"/>
                </a:solidFill>
              </a:rPr>
              <a:t>Telugu Handwritten Word Recognition using Transformer Decoder Architecture with Script-Specific Decoding Constraints</a:t>
            </a:r>
            <a:endParaRPr lang="en-US" sz="3600" b="1" kern="100" dirty="0">
              <a:solidFill>
                <a:srgbClr val="FF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DB59CB-2A88-326F-B50C-13DD5449741C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3C2C58-2014-1BD3-9E5A-1F38662690B2}"/>
              </a:ext>
            </a:extLst>
          </p:cNvPr>
          <p:cNvSpPr/>
          <p:nvPr/>
        </p:nvSpPr>
        <p:spPr>
          <a:xfrm>
            <a:off x="814493" y="4215897"/>
            <a:ext cx="2377440" cy="32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sz="2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Guide 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1C13CB-3A48-EC96-8A6B-A0B442263428}"/>
              </a:ext>
            </a:extLst>
          </p:cNvPr>
          <p:cNvSpPr/>
          <p:nvPr/>
        </p:nvSpPr>
        <p:spPr>
          <a:xfrm>
            <a:off x="6186262" y="6292792"/>
            <a:ext cx="5943600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sz="2000" dirty="0">
                <a:solidFill>
                  <a:schemeClr val="tx1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2026-major-B-4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B6A895-E82F-23E8-8812-E73ACE4830D4}"/>
              </a:ext>
            </a:extLst>
          </p:cNvPr>
          <p:cNvSpPr/>
          <p:nvPr/>
        </p:nvSpPr>
        <p:spPr>
          <a:xfrm>
            <a:off x="7805696" y="3995417"/>
            <a:ext cx="4386304" cy="1708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Prepared By</a:t>
            </a:r>
          </a:p>
          <a:p>
            <a:r>
              <a:rPr lang="en-US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	</a:t>
            </a:r>
            <a:r>
              <a:rPr lang="en-US" kern="1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S.Bhargav</a:t>
            </a:r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-   23211A67A7</a:t>
            </a:r>
            <a:endParaRPr lang="en-US" kern="1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        </a:t>
            </a:r>
            <a:r>
              <a:rPr lang="en-US" kern="1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T.Nikitha</a:t>
            </a:r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-  23211a67B6</a:t>
            </a:r>
          </a:p>
          <a:p>
            <a:r>
              <a:rPr lang="en-US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	</a:t>
            </a:r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1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S.Vinod</a:t>
            </a:r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- 23211a67A6</a:t>
            </a:r>
          </a:p>
          <a:p>
            <a:r>
              <a:rPr lang="en-US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	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E02115-26DD-D618-831B-71ABB446BB7A}"/>
              </a:ext>
            </a:extLst>
          </p:cNvPr>
          <p:cNvSpPr/>
          <p:nvPr/>
        </p:nvSpPr>
        <p:spPr>
          <a:xfrm>
            <a:off x="835949" y="6292792"/>
            <a:ext cx="1005840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sz="2000" dirty="0">
                <a:solidFill>
                  <a:srgbClr val="284348"/>
                </a:solidFill>
                <a:effectLst/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0.0.2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CE377E-0306-3D88-A1FA-A5C47F185AF9}"/>
              </a:ext>
            </a:extLst>
          </p:cNvPr>
          <p:cNvSpPr/>
          <p:nvPr/>
        </p:nvSpPr>
        <p:spPr>
          <a:xfrm>
            <a:off x="785150" y="5972750"/>
            <a:ext cx="1005840" cy="32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version</a:t>
            </a:r>
            <a:endParaRPr lang="en-US" kern="1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326BEB-111A-260F-7B88-4EA31252CB52}"/>
              </a:ext>
            </a:extLst>
          </p:cNvPr>
          <p:cNvSpPr/>
          <p:nvPr/>
        </p:nvSpPr>
        <p:spPr>
          <a:xfrm>
            <a:off x="2749565" y="6292792"/>
            <a:ext cx="1554480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sz="20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en-US" sz="2000" dirty="0">
                <a:solidFill>
                  <a:srgbClr val="284348"/>
                </a:solidFill>
                <a:effectLst/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/07/2026</a:t>
            </a:r>
            <a:endParaRPr lang="en-US" sz="2000" dirty="0">
              <a:solidFill>
                <a:srgbClr val="284348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94B0459-1CB2-0E11-7B98-FBBBE2509DEA}"/>
              </a:ext>
            </a:extLst>
          </p:cNvPr>
          <p:cNvSpPr/>
          <p:nvPr/>
        </p:nvSpPr>
        <p:spPr>
          <a:xfrm>
            <a:off x="2698766" y="5972750"/>
            <a:ext cx="1554480" cy="32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en-US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valid until</a:t>
            </a:r>
            <a:endParaRPr lang="en-US" kern="1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4F796AE-057B-C555-3B5C-0465ABCAB6D0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116A283-1233-49D7-A108-3BA5FD096B4A}"/>
              </a:ext>
            </a:extLst>
          </p:cNvPr>
          <p:cNvSpPr/>
          <p:nvPr/>
        </p:nvSpPr>
        <p:spPr>
          <a:xfrm>
            <a:off x="763912" y="5033809"/>
            <a:ext cx="6228524" cy="5135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pl-PL" sz="2400" b="1" dirty="0">
                <a:solidFill>
                  <a:schemeClr val="tx1"/>
                </a:solidFill>
              </a:rPr>
              <a:t>Dr. R.Venkata Ramana Chary</a:t>
            </a:r>
            <a:r>
              <a:rPr lang="en-US" sz="2400" b="1" dirty="0">
                <a:solidFill>
                  <a:schemeClr val="tx1"/>
                </a:solidFill>
              </a:rPr>
              <a:t>,</a:t>
            </a:r>
            <a:r>
              <a:rPr lang="en-IN" sz="2400" b="1" dirty="0">
                <a:solidFill>
                  <a:schemeClr val="tx1"/>
                </a:solidFill>
              </a:rPr>
              <a:t>Professor</a:t>
            </a:r>
            <a:endParaRPr lang="pl-PL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0509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9E3AE-13DD-560D-A63D-6C8443743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0C62516-6CEF-EB94-1E7F-566B7481580F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A26EBCD4-3431-2228-03D3-2869B7D2F3C5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B31E9323-6F72-6CCB-6227-869ED332D333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2B951FB4-FEB1-F3BA-94F6-55943017D7F6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F93D192E-770D-3CE8-BC37-B76310D5F66E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C5320E26-A6C0-A8D0-BD3F-344908BFC539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542FF7A-E21C-52D9-C73F-CAB393950800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578CB7A7-F2BF-A93B-4D06-5E1BFBAA02E6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26845B68-5088-3C0A-CCD8-647D6DA43F88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8641EFC5-4B06-BAFC-8387-6E58DEC0838F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87423DD3-AC08-E075-EC70-E0942DC79BB5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27EC230-49B2-1533-665E-92D86D6CF335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A61A1FE1-A1DA-36E8-E551-32EF841F4634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F04EFDC-6EE9-CF51-A8C4-832B8D2D2B2B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1376B6C8-53E1-495F-A604-895B2854F7FC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9484E8CF-A633-CC2B-51E7-5388815368A8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396DA28D-E678-88BB-AB28-BB877212FBFE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05C47940-C43A-F32E-ED23-7396E7C0079D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1D1BE574-851E-D53B-DA86-42F99C2BB5FA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85D6D787-53C7-B0AD-AD9F-653C06768643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F97E63E8-5EAD-ACC6-5D0E-6BE6362416D6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F080AE19-B473-2A50-1F03-BF5A4A19A93A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B2D97F3A-7644-E375-FF53-BDB296381825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8112509-F3D4-43A4-F766-2932EB7F8575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AB73E3BD-49F0-15E9-3624-F912B4DC782F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17BB1484-865D-6E75-55E3-D4453E9D826A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121303E6-23E8-3C9D-0E14-D0478A8C5056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6AF0F2E3-228B-8230-81DC-733BD51172D7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DADE4E3F-0E81-30A1-A5BB-3311D6ACB003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179371EC-63A0-EAD1-89E1-2FC134337034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9E9B1C8D-6550-7FB0-B62C-8F52AF383D6D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918A657F-CA13-7E30-9D2D-89090F67F28E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C200005E-FE5D-3373-CDB3-D65CF7D2D0A1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991DE68E-E3AB-A597-5C1B-4A2D28CD6A8D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031115B-4ECC-F47D-7AE6-35ED64C4B555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B0DC3849-92E1-560C-B009-49BBDE355F23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DEF81ACB-4EEB-15F5-82DB-B53EC0C8B054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A9F2CC6B-0E19-83A5-420A-1472D0A14E6A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56B7FBE1-655E-59D4-EA06-6FBE5503F936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43B6BF5C-2EDE-F70D-8DEE-280BAE9BBED8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11953966-2A8A-E341-C6F8-8D22E513C1C6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CA999B24-0591-3186-9279-E6712C1174FA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73F90677-B8B2-1202-CAD9-C3E0EA794358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D2D769A0-EBF4-697C-75B4-5B2C48621D2F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08684EFE-F8F4-17AC-7DC2-FB59DF0CEBB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C17ADA70-BC09-F52B-AA57-D9DC924FED6C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5FC67962-4269-F707-4F57-F5D2DE0E7030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C4921048-61F4-37C2-5039-C4E137F57248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B114574F-0354-46B2-B68D-014E45A7D8A8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D20EF4F9-9B32-B94F-E02B-771BE4CAEE8D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4D4A312B-4503-6997-9773-C27865812759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42C6D97F-567D-B660-8F27-39E9BB2E060E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EEAE97F5-F54F-BA09-E3DE-93B1940D56A6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701DC1B1-C4B7-1A6E-083D-F1BEF5A78200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BB485BED-2AE8-988E-E58F-C74C09E78843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1AA3D735-9E69-3A7A-8D3D-17BBBF9454E6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DE148600-2BC1-6D58-D980-8B51A83440A2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8AB9928D-0460-075F-02B4-CF6497EEE5DA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757FC627-FE71-A98D-03DA-144B4C82B225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487E3F44-2DD8-4887-49E2-A0E337BE137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C9922B8C-E876-88AE-4FC1-82B2AD59B4F6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AAA9EB88-02B1-53D9-3DCF-41EB3FB72382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EF23B8E0-608E-8B26-411E-EED6193BE0D3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F2FECB-BA81-59C1-C176-EC89EFCF57EA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A7409FFF-A363-869A-9C7B-F5B534F42336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78DA66E1-8B0A-3964-FD9A-E414EB6DA86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490A88FD-E2E2-0B73-65A1-B89F39828227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FE33B111-F93C-9BBC-8572-5E77337537FD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72909C9-F7FA-C734-5345-EFFC25C6429C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8E3DF96B-D275-CD83-BC06-48E289F5DBC3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EDFEC26A-DC90-A44F-A8FF-912D430764D0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ECB6B390-CECF-F92E-EFD8-1162A10BC5F5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AFB0F408-0D01-6548-1420-44E012F2F1FF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026C3BB9-F99C-1A79-4D1F-018776E89229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96AAA162-5A8F-0E9D-EB61-90B4CB86C314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3137E4A9-1051-52BD-CE42-AB30AB7772DC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BE8DAE25-A032-E9ED-4A69-51DF85A08BFF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F7B8C2BF-1DEE-3163-1E3E-C2B91F15FA85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26E750B4-EE7D-5FBE-B887-B3E276493230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14A56043-72DD-B3C2-D096-2511890CD587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9D072568-B4D2-1C53-A5D7-D1A5DDED5FB8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0EB6B316-4AAE-0EAA-62D4-A76175822809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A61EC186-FFD3-CDEF-8EF9-44ACAB9DA2AE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8A0F11C9-8ACC-607E-30FE-DE00374871D9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2706753F-F4DF-8171-EC1D-98D8877448AD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FEE8DBF-D8FC-4ED8-67DE-C8FC1ED19216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CD9B1BEA-C34B-5DD3-EF68-27DD67B53747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52082DD0-EFCA-3B7C-36BE-8BFB148EEAF1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34B3A2FC-E727-8C80-6DF5-91BF36E8BAC3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16AD6296-DC54-B091-2F42-E1DC9225272E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B84A9056-87EF-BFD7-35A3-1E07BBDB9517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88467C66-29B3-4037-ECC1-86EAF3E5A57E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1F5BDCD3-98E0-E201-3AA4-2CECF6505774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9F70C27C-A948-A757-D386-D612E464552B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93923BEF-3A3A-47A4-A50B-2DA3FF98920A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28E451E4-B757-FF4F-B979-FD76177B04D1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65315426-492F-42F1-5B55-3B1DC073E5C6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DF2CD808-C208-BBB6-A673-9FDA1C22EB27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96680EF-1BB0-B56F-1D7D-8D44AC932334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B2778265-5202-FA48-2C87-4635F1873275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AF8729A0-B701-0406-C766-798F0BE2F75C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5D6AEBA0-C6D8-807C-02E1-DBFA740EBFEA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E45F01FC-A6FD-F898-D13B-0A566F42149A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E248389B-C03B-117A-1618-2A8969CE7799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777C09F-8CD5-47B5-DA21-489E6E0175EC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E2DD246B-28BF-40BF-3545-F6BD12CA1842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C34BF7BD-D243-C857-783F-99940E76D8E5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763139EE-0215-FE35-6E79-211F3B55836B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BE40FEBF-4BC0-3EF7-194F-B81CC107F6B2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BFE53BA3-D288-08E2-9473-4DA50885E844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943E6C5C-E23B-DA5B-39F4-731D9D136163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730723D0-8B4E-C4D6-E046-4A828304A3FA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AE4EE879-E4CF-51E8-7FB9-5F819B4A9563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D0CF7611-392C-1165-6658-A7B3B85C3F84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A15CCA92-2607-286F-0510-916FB3CFA4F1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06D76A4D-D93C-1DFB-2AE4-1C0136E8DF28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26FA0BBA-9233-811F-5E0F-28AB277006E4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A36DAB22-70DE-D3FB-E04F-5712C5E4D57A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4D5E2C8-BC98-AFB7-29C7-59EE0137324C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A1C661C4-BCB9-3ECE-2DE6-9BFF7E7E8ED2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01CB608-909D-F016-660F-DCBCDCE36BEB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17B1BDE6-AF92-6CA9-8505-8CA4A898D779}"/>
              </a:ext>
            </a:extLst>
          </p:cNvPr>
          <p:cNvSpPr/>
          <p:nvPr/>
        </p:nvSpPr>
        <p:spPr>
          <a:xfrm>
            <a:off x="-179805" y="880559"/>
            <a:ext cx="5977441" cy="5977441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76D1F76-E976-435F-0915-718359B0E705}"/>
              </a:ext>
            </a:extLst>
          </p:cNvPr>
          <p:cNvSpPr/>
          <p:nvPr/>
        </p:nvSpPr>
        <p:spPr>
          <a:xfrm>
            <a:off x="-4905" y="0"/>
            <a:ext cx="6785714" cy="7590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0" rIns="0" bIns="0" rtlCol="0" anchor="t" anchorCtr="0"/>
          <a:lstStyle/>
          <a:p>
            <a:r>
              <a:rPr lang="en-US" sz="4400" kern="100" dirty="0">
                <a:solidFill>
                  <a:schemeClr val="bg1"/>
                </a:solidFill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contents</a:t>
            </a:r>
            <a:endParaRPr lang="en-US" sz="4400" kern="100" dirty="0">
              <a:solidFill>
                <a:schemeClr val="bg1"/>
              </a:solidFill>
              <a:effectLst/>
              <a:latin typeface="Courier" pitchFamily="2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8" name="Rounded Rectangle 177">
            <a:extLst>
              <a:ext uri="{FF2B5EF4-FFF2-40B4-BE49-F238E27FC236}">
                <a16:creationId xmlns:a16="http://schemas.microsoft.com/office/drawing/2014/main" id="{CCC9A221-2A56-7D2E-FFEB-4753B473795B}"/>
              </a:ext>
            </a:extLst>
          </p:cNvPr>
          <p:cNvSpPr/>
          <p:nvPr/>
        </p:nvSpPr>
        <p:spPr>
          <a:xfrm>
            <a:off x="408324" y="1956693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79" name="Rounded Rectangle 178">
            <a:extLst>
              <a:ext uri="{FF2B5EF4-FFF2-40B4-BE49-F238E27FC236}">
                <a16:creationId xmlns:a16="http://schemas.microsoft.com/office/drawing/2014/main" id="{27971E31-C07A-AE31-37DB-A441CD7D7919}"/>
              </a:ext>
            </a:extLst>
          </p:cNvPr>
          <p:cNvSpPr/>
          <p:nvPr/>
        </p:nvSpPr>
        <p:spPr>
          <a:xfrm>
            <a:off x="408324" y="2726339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80" name="Rounded Rectangle 179">
            <a:extLst>
              <a:ext uri="{FF2B5EF4-FFF2-40B4-BE49-F238E27FC236}">
                <a16:creationId xmlns:a16="http://schemas.microsoft.com/office/drawing/2014/main" id="{CD3AF959-2A46-3137-5EC8-F9B48C246679}"/>
              </a:ext>
            </a:extLst>
          </p:cNvPr>
          <p:cNvSpPr/>
          <p:nvPr/>
        </p:nvSpPr>
        <p:spPr>
          <a:xfrm>
            <a:off x="408324" y="3495986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81" name="Rounded Rectangle 180">
            <a:extLst>
              <a:ext uri="{FF2B5EF4-FFF2-40B4-BE49-F238E27FC236}">
                <a16:creationId xmlns:a16="http://schemas.microsoft.com/office/drawing/2014/main" id="{84236C8B-1290-FDCF-9942-9F91E3C77807}"/>
              </a:ext>
            </a:extLst>
          </p:cNvPr>
          <p:cNvSpPr/>
          <p:nvPr/>
        </p:nvSpPr>
        <p:spPr>
          <a:xfrm>
            <a:off x="408324" y="1187047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50AF555-259A-BAC7-6A83-B48C64E5F768}"/>
              </a:ext>
            </a:extLst>
          </p:cNvPr>
          <p:cNvSpPr/>
          <p:nvPr/>
        </p:nvSpPr>
        <p:spPr>
          <a:xfrm>
            <a:off x="408324" y="1283306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6ABB8FA6-0F7B-5BFA-5402-46A263D13E2C}"/>
              </a:ext>
            </a:extLst>
          </p:cNvPr>
          <p:cNvSpPr/>
          <p:nvPr/>
        </p:nvSpPr>
        <p:spPr>
          <a:xfrm>
            <a:off x="408324" y="2044334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B61D67B3-4C69-C2A2-11C6-ADA64D74983B}"/>
              </a:ext>
            </a:extLst>
          </p:cNvPr>
          <p:cNvSpPr/>
          <p:nvPr/>
        </p:nvSpPr>
        <p:spPr>
          <a:xfrm>
            <a:off x="408324" y="2808986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D2E24AB5-4866-03BD-9143-C82C8BC6B246}"/>
              </a:ext>
            </a:extLst>
          </p:cNvPr>
          <p:cNvSpPr/>
          <p:nvPr/>
        </p:nvSpPr>
        <p:spPr>
          <a:xfrm>
            <a:off x="408324" y="3570014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19ADA066-07EA-6239-A37C-96500A546C4A}"/>
              </a:ext>
            </a:extLst>
          </p:cNvPr>
          <p:cNvSpPr/>
          <p:nvPr/>
        </p:nvSpPr>
        <p:spPr>
          <a:xfrm>
            <a:off x="1213375" y="2000177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Abstract</a:t>
            </a:r>
            <a:endParaRPr lang="en-US" sz="2400" dirty="0">
              <a:solidFill>
                <a:srgbClr val="284348"/>
              </a:solidFill>
            </a:endParaRP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22528E6E-A883-903B-984A-C03763ED8E99}"/>
              </a:ext>
            </a:extLst>
          </p:cNvPr>
          <p:cNvSpPr/>
          <p:nvPr/>
        </p:nvSpPr>
        <p:spPr>
          <a:xfrm>
            <a:off x="1258464" y="2763938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22EA9CBD-FBD2-7B28-3F7A-77B253EE763F}"/>
              </a:ext>
            </a:extLst>
          </p:cNvPr>
          <p:cNvSpPr/>
          <p:nvPr/>
        </p:nvSpPr>
        <p:spPr>
          <a:xfrm>
            <a:off x="1213375" y="5998918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Datasets</a:t>
            </a:r>
            <a:endParaRPr lang="en-US" sz="2400" dirty="0">
              <a:solidFill>
                <a:srgbClr val="284348"/>
              </a:solidFill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2B24C3BD-EC74-4C1F-BC5B-E02E455A4302}"/>
              </a:ext>
            </a:extLst>
          </p:cNvPr>
          <p:cNvSpPr/>
          <p:nvPr/>
        </p:nvSpPr>
        <p:spPr>
          <a:xfrm>
            <a:off x="1206963" y="3570014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Proposed System</a:t>
            </a:r>
            <a:endParaRPr lang="en-US" sz="2400" dirty="0">
              <a:solidFill>
                <a:srgbClr val="284348"/>
              </a:solidFill>
            </a:endParaRPr>
          </a:p>
        </p:txBody>
      </p:sp>
      <p:sp>
        <p:nvSpPr>
          <p:cNvPr id="193" name="Rounded Rectangle 192">
            <a:extLst>
              <a:ext uri="{FF2B5EF4-FFF2-40B4-BE49-F238E27FC236}">
                <a16:creationId xmlns:a16="http://schemas.microsoft.com/office/drawing/2014/main" id="{9B9794C0-7435-F770-47B7-063ED458ABCA}"/>
              </a:ext>
            </a:extLst>
          </p:cNvPr>
          <p:cNvSpPr/>
          <p:nvPr/>
        </p:nvSpPr>
        <p:spPr>
          <a:xfrm>
            <a:off x="427618" y="5904279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E9517791-9655-2290-E7A5-D97FCA7545F7}"/>
              </a:ext>
            </a:extLst>
          </p:cNvPr>
          <p:cNvSpPr/>
          <p:nvPr/>
        </p:nvSpPr>
        <p:spPr>
          <a:xfrm>
            <a:off x="427618" y="5987072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7E255D06-CB08-658F-FDE2-D360057BD06C}"/>
              </a:ext>
            </a:extLst>
          </p:cNvPr>
          <p:cNvSpPr/>
          <p:nvPr/>
        </p:nvSpPr>
        <p:spPr>
          <a:xfrm>
            <a:off x="1184872" y="1254506"/>
            <a:ext cx="4114800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Justification of Title</a:t>
            </a:r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EF34A6E-AFB3-39B1-896A-04425CB1AEF6}"/>
              </a:ext>
            </a:extLst>
          </p:cNvPr>
          <p:cNvSpPr/>
          <p:nvPr/>
        </p:nvSpPr>
        <p:spPr>
          <a:xfrm>
            <a:off x="408324" y="4316478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03" name="Rounded Rectangle 202">
            <a:extLst>
              <a:ext uri="{FF2B5EF4-FFF2-40B4-BE49-F238E27FC236}">
                <a16:creationId xmlns:a16="http://schemas.microsoft.com/office/drawing/2014/main" id="{D99671FC-C7CB-CC93-7A1E-ED31AAD41AA2}"/>
              </a:ext>
            </a:extLst>
          </p:cNvPr>
          <p:cNvSpPr/>
          <p:nvPr/>
        </p:nvSpPr>
        <p:spPr>
          <a:xfrm>
            <a:off x="408324" y="5086125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7181CDA8-BE26-7EA2-D8C6-6872B6EFC43D}"/>
              </a:ext>
            </a:extLst>
          </p:cNvPr>
          <p:cNvSpPr/>
          <p:nvPr/>
        </p:nvSpPr>
        <p:spPr>
          <a:xfrm>
            <a:off x="408324" y="4399125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E05C212A-A216-C219-9572-B93EB0A01C9B}"/>
              </a:ext>
            </a:extLst>
          </p:cNvPr>
          <p:cNvSpPr/>
          <p:nvPr/>
        </p:nvSpPr>
        <p:spPr>
          <a:xfrm>
            <a:off x="408324" y="5160153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C2D7FE12-E0C8-FF0B-F50A-679180881E6F}"/>
              </a:ext>
            </a:extLst>
          </p:cNvPr>
          <p:cNvSpPr/>
          <p:nvPr/>
        </p:nvSpPr>
        <p:spPr>
          <a:xfrm>
            <a:off x="1213168" y="5212510"/>
            <a:ext cx="4920981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cs typeface="Times New Roman" panose="02020603050405020304" pitchFamily="18" charset="0"/>
              </a:rPr>
              <a:t>Methodology / Algorithm </a:t>
            </a:r>
            <a:endParaRPr lang="en-US" sz="2400" dirty="0">
              <a:solidFill>
                <a:srgbClr val="284348"/>
              </a:solidFill>
            </a:endParaRP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CCC68BB7-2350-4795-BBB1-D1FA12192FBF}"/>
              </a:ext>
            </a:extLst>
          </p:cNvPr>
          <p:cNvSpPr/>
          <p:nvPr/>
        </p:nvSpPr>
        <p:spPr>
          <a:xfrm>
            <a:off x="5299672" y="1207985"/>
            <a:ext cx="599837" cy="4430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en-US" sz="3200" kern="100" dirty="0">
                <a:solidFill>
                  <a:schemeClr val="bg1"/>
                </a:solidFill>
                <a:effectLst/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795CD46F-EBFC-424F-9BD5-FED61520C7FE}"/>
              </a:ext>
            </a:extLst>
          </p:cNvPr>
          <p:cNvSpPr/>
          <p:nvPr/>
        </p:nvSpPr>
        <p:spPr>
          <a:xfrm>
            <a:off x="6067724" y="1163372"/>
            <a:ext cx="4920982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2400" dirty="0">
                <a:solidFill>
                  <a:srgbClr val="284348"/>
                </a:solidFill>
                <a:effectLst/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onclusion</a:t>
            </a:r>
          </a:p>
        </p:txBody>
      </p:sp>
      <p:sp>
        <p:nvSpPr>
          <p:cNvPr id="196" name="Rounded Rectangle 192">
            <a:extLst>
              <a:ext uri="{FF2B5EF4-FFF2-40B4-BE49-F238E27FC236}">
                <a16:creationId xmlns:a16="http://schemas.microsoft.com/office/drawing/2014/main" id="{F09F1CE6-AEC7-498F-B5FB-417DE2D395F8}"/>
              </a:ext>
            </a:extLst>
          </p:cNvPr>
          <p:cNvSpPr/>
          <p:nvPr/>
        </p:nvSpPr>
        <p:spPr>
          <a:xfrm>
            <a:off x="5250683" y="1109022"/>
            <a:ext cx="599837" cy="599837"/>
          </a:xfrm>
          <a:prstGeom prst="roundRect">
            <a:avLst/>
          </a:prstGeom>
          <a:solidFill>
            <a:srgbClr val="67A9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D55521EB-9DC5-4B52-8534-F3A6164B83DE}"/>
              </a:ext>
            </a:extLst>
          </p:cNvPr>
          <p:cNvSpPr/>
          <p:nvPr/>
        </p:nvSpPr>
        <p:spPr>
          <a:xfrm>
            <a:off x="1213169" y="4464503"/>
            <a:ext cx="3657955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2400" dirty="0">
                <a:solidFill>
                  <a:srgbClr val="284348"/>
                </a:solidFill>
                <a:latin typeface="Century Gothic" panose="020B0502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Outcomes of Project</a:t>
            </a:r>
            <a:endParaRPr lang="en-US" sz="2400" dirty="0">
              <a:solidFill>
                <a:srgbClr val="28434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6110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FDB59CB-2A88-326F-B50C-13DD5449741C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E515F57-09B5-448B-92E7-FC5DA071875D}"/>
              </a:ext>
            </a:extLst>
          </p:cNvPr>
          <p:cNvSpPr/>
          <p:nvPr/>
        </p:nvSpPr>
        <p:spPr>
          <a:xfrm>
            <a:off x="1297450" y="773844"/>
            <a:ext cx="4114800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Justification of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414731-81FB-ED3A-0A63-5A6D4E9307CE}"/>
              </a:ext>
            </a:extLst>
          </p:cNvPr>
          <p:cNvSpPr txBox="1"/>
          <p:nvPr/>
        </p:nvSpPr>
        <p:spPr>
          <a:xfrm>
            <a:off x="1184988" y="1421686"/>
            <a:ext cx="10248676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200" b="1" dirty="0"/>
              <a:t>"Telugu Handwritten Word Recognition"</a:t>
            </a:r>
            <a:r>
              <a:rPr lang="en-IN" sz="2200" dirty="0"/>
              <a:t>: Defines the exact problem domain.</a:t>
            </a:r>
          </a:p>
          <a:p>
            <a:endParaRPr lang="en-IN" sz="2200" dirty="0"/>
          </a:p>
          <a:p>
            <a:r>
              <a:rPr lang="en-IN" sz="2200" b="1" dirty="0"/>
              <a:t>"Transformer Decoder Architecture"</a:t>
            </a:r>
            <a:r>
              <a:rPr lang="en-IN" sz="2200" dirty="0"/>
              <a:t>: Specifies the core autoregressive model used, contrasting with older RNN/LSTM approaches.</a:t>
            </a:r>
          </a:p>
          <a:p>
            <a:endParaRPr lang="en-IN" sz="2200" dirty="0"/>
          </a:p>
          <a:p>
            <a:r>
              <a:rPr lang="en-IN" sz="2200" b="1" dirty="0"/>
              <a:t>“CTC” </a:t>
            </a:r>
            <a:r>
              <a:rPr lang="en-IN" sz="2200" dirty="0"/>
              <a:t>— Connectionist Temporal Classification (A loss function used to train models like </a:t>
            </a:r>
            <a:r>
              <a:rPr lang="en-IN" sz="2200" dirty="0" err="1"/>
              <a:t>BiLSTM</a:t>
            </a:r>
            <a:r>
              <a:rPr lang="en-IN" sz="2200" dirty="0"/>
              <a:t> when the alignment between the input image and output text is unknown)</a:t>
            </a:r>
          </a:p>
          <a:p>
            <a:endParaRPr lang="en-IN" sz="2200" dirty="0"/>
          </a:p>
          <a:p>
            <a:r>
              <a:rPr lang="en-IN" sz="2200" b="1" dirty="0"/>
              <a:t>"Joint CTC Loss"</a:t>
            </a:r>
            <a:r>
              <a:rPr lang="en-IN" sz="2200" dirty="0"/>
              <a:t>: Highlights the training innovation (using CTC as an auxiliary </a:t>
            </a:r>
            <a:r>
              <a:rPr lang="en-IN" sz="2200" dirty="0" err="1"/>
              <a:t>regularizer</a:t>
            </a:r>
            <a:r>
              <a:rPr lang="en-IN" sz="2200" dirty="0"/>
              <a:t> for the encoder).</a:t>
            </a:r>
          </a:p>
          <a:p>
            <a:endParaRPr lang="en-IN" sz="2200" dirty="0"/>
          </a:p>
          <a:p>
            <a:r>
              <a:rPr lang="en-IN" sz="2200" b="1" dirty="0"/>
              <a:t>"Script-Specific Decoding Constraints"</a:t>
            </a:r>
            <a:r>
              <a:rPr lang="en-IN" sz="2200" dirty="0"/>
              <a:t>: Highlights the primary novelty—incorporating Telugu linguistic rules (Akshara bigrams) to prevent orthographically impossible predictions.</a:t>
            </a:r>
          </a:p>
          <a:p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159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FDB59CB-2A88-326F-B50C-13DD5449741C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399D189F-4A6E-4780-B8BA-D8DF2A40A12C}"/>
              </a:ext>
            </a:extLst>
          </p:cNvPr>
          <p:cNvSpPr/>
          <p:nvPr/>
        </p:nvSpPr>
        <p:spPr>
          <a:xfrm>
            <a:off x="1173494" y="517816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AC4D14-BA0E-3D94-C60B-73C4A38EB56F}"/>
              </a:ext>
            </a:extLst>
          </p:cNvPr>
          <p:cNvSpPr txBox="1"/>
          <p:nvPr/>
        </p:nvSpPr>
        <p:spPr>
          <a:xfrm>
            <a:off x="951723" y="1421686"/>
            <a:ext cx="974865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Handwritten Text Recognition (HTR)</a:t>
            </a:r>
            <a:r>
              <a:rPr lang="en-IN" sz="2200" dirty="0"/>
              <a:t> for Indic scripts like </a:t>
            </a:r>
            <a:r>
              <a:rPr lang="en-IN" sz="2200" b="1" dirty="0"/>
              <a:t>Telugu</a:t>
            </a:r>
            <a:r>
              <a:rPr lang="en-IN" sz="2200" dirty="0"/>
              <a:t> is a challenging task. Telugu script has a </a:t>
            </a:r>
            <a:r>
              <a:rPr lang="en-IN" sz="2200" b="1" dirty="0"/>
              <a:t>complex, non-linear structure</a:t>
            </a:r>
            <a:r>
              <a:rPr lang="en-IN" sz="2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/>
              <a:t>Frequent use of </a:t>
            </a:r>
            <a:r>
              <a:rPr lang="en-IN" sz="2200" b="1" dirty="0"/>
              <a:t>conjunct consonants (compound characters)</a:t>
            </a:r>
            <a:r>
              <a:rPr lang="en-IN" sz="2200" dirty="0"/>
              <a:t> increases recognition difficulty.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High intra-class variation</a:t>
            </a:r>
            <a:r>
              <a:rPr lang="en-IN" sz="2200" dirty="0"/>
              <a:t> in handwriting affects model performance. Traditional HTR systems rely on </a:t>
            </a:r>
            <a:r>
              <a:rPr lang="en-IN" sz="2200" b="1" dirty="0"/>
              <a:t>Connectionist Temporal Classification (CTC)</a:t>
            </a:r>
            <a:r>
              <a:rPr lang="en-IN" sz="2200" dirty="0"/>
              <a:t> with </a:t>
            </a:r>
            <a:r>
              <a:rPr lang="en-IN" sz="2200" b="1" dirty="0"/>
              <a:t>Recurrent Neural Networks (RNNs)</a:t>
            </a:r>
            <a:r>
              <a:rPr lang="en-IN" sz="2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/>
              <a:t> The proposed architecture uses a </a:t>
            </a:r>
            <a:r>
              <a:rPr lang="en-IN" sz="2200" b="1" dirty="0"/>
              <a:t>ResNet-18 Convolutional Encoder</a:t>
            </a:r>
            <a:r>
              <a:rPr lang="en-IN" sz="2200" dirty="0"/>
              <a:t> with an </a:t>
            </a:r>
            <a:r>
              <a:rPr lang="en-IN" sz="2200" b="1" dirty="0"/>
              <a:t>autoregressive Transformer Decoder</a:t>
            </a:r>
            <a:r>
              <a:rPr lang="en-IN" sz="2200" dirty="0"/>
              <a:t>. 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 err="1"/>
              <a:t>ntroduces</a:t>
            </a:r>
            <a:r>
              <a:rPr lang="en-IN" sz="2200" dirty="0"/>
              <a:t> a </a:t>
            </a:r>
            <a:r>
              <a:rPr lang="en-IN" sz="2200" b="1" dirty="0"/>
              <a:t>Script-Specific Decoding Constraint</a:t>
            </a:r>
            <a:r>
              <a:rPr lang="en-IN" sz="2200" dirty="0"/>
              <a:t> using a </a:t>
            </a:r>
            <a:r>
              <a:rPr lang="en-IN" sz="2200" b="1" dirty="0"/>
              <a:t>valid-bigram transition matrix</a:t>
            </a:r>
            <a:r>
              <a:rPr lang="en-IN" sz="2200" dirty="0"/>
              <a:t> based on Telugu linguistic rules (</a:t>
            </a:r>
            <a:r>
              <a:rPr lang="en-IN" sz="2200" b="1" dirty="0" err="1"/>
              <a:t>Aksharas</a:t>
            </a:r>
            <a:r>
              <a:rPr lang="en-IN" sz="2200" dirty="0"/>
              <a:t>).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dirty="0"/>
              <a:t>Achieves better recognition of </a:t>
            </a:r>
            <a:r>
              <a:rPr lang="en-IN" sz="2200" b="1" dirty="0"/>
              <a:t>complex compound characters</a:t>
            </a:r>
            <a:r>
              <a:rPr lang="en-IN" sz="2200" dirty="0"/>
              <a:t>, especially those containing the </a:t>
            </a:r>
            <a:r>
              <a:rPr lang="en-IN" sz="2200" b="1" dirty="0"/>
              <a:t>virama (్)</a:t>
            </a:r>
            <a:r>
              <a:rPr lang="en-IN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58779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FDB59CB-2A88-326F-B50C-13DD5449741C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5501B6B-EC77-47C1-BED3-6FC1C9A01967}"/>
              </a:ext>
            </a:extLst>
          </p:cNvPr>
          <p:cNvSpPr/>
          <p:nvPr/>
        </p:nvSpPr>
        <p:spPr>
          <a:xfrm>
            <a:off x="1173494" y="562945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graphicFrame>
        <p:nvGraphicFramePr>
          <p:cNvPr id="170" name="Table 169">
            <a:extLst>
              <a:ext uri="{FF2B5EF4-FFF2-40B4-BE49-F238E27FC236}">
                <a16:creationId xmlns:a16="http://schemas.microsoft.com/office/drawing/2014/main" id="{4928DC8E-5573-4EF0-B6EF-41385CE76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962872"/>
              </p:ext>
            </p:extLst>
          </p:nvPr>
        </p:nvGraphicFramePr>
        <p:xfrm>
          <a:off x="142080" y="1072389"/>
          <a:ext cx="11743003" cy="52986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2750">
                  <a:extLst>
                    <a:ext uri="{9D8B030D-6E8A-4147-A177-3AD203B41FA5}">
                      <a16:colId xmlns:a16="http://schemas.microsoft.com/office/drawing/2014/main" val="4167517054"/>
                    </a:ext>
                  </a:extLst>
                </a:gridCol>
                <a:gridCol w="2818686">
                  <a:extLst>
                    <a:ext uri="{9D8B030D-6E8A-4147-A177-3AD203B41FA5}">
                      <a16:colId xmlns:a16="http://schemas.microsoft.com/office/drawing/2014/main" val="2903303254"/>
                    </a:ext>
                  </a:extLst>
                </a:gridCol>
                <a:gridCol w="1628999">
                  <a:extLst>
                    <a:ext uri="{9D8B030D-6E8A-4147-A177-3AD203B41FA5}">
                      <a16:colId xmlns:a16="http://schemas.microsoft.com/office/drawing/2014/main" val="861101941"/>
                    </a:ext>
                  </a:extLst>
                </a:gridCol>
                <a:gridCol w="1628999">
                  <a:extLst>
                    <a:ext uri="{9D8B030D-6E8A-4147-A177-3AD203B41FA5}">
                      <a16:colId xmlns:a16="http://schemas.microsoft.com/office/drawing/2014/main" val="679990113"/>
                    </a:ext>
                  </a:extLst>
                </a:gridCol>
                <a:gridCol w="3006063">
                  <a:extLst>
                    <a:ext uri="{9D8B030D-6E8A-4147-A177-3AD203B41FA5}">
                      <a16:colId xmlns:a16="http://schemas.microsoft.com/office/drawing/2014/main" val="21456632"/>
                    </a:ext>
                  </a:extLst>
                </a:gridCol>
                <a:gridCol w="1937506">
                  <a:extLst>
                    <a:ext uri="{9D8B030D-6E8A-4147-A177-3AD203B41FA5}">
                      <a16:colId xmlns:a16="http://schemas.microsoft.com/office/drawing/2014/main" val="2170512275"/>
                    </a:ext>
                  </a:extLst>
                </a:gridCol>
              </a:tblGrid>
              <a:tr h="452349">
                <a:tc>
                  <a:txBody>
                    <a:bodyPr/>
                    <a:lstStyle/>
                    <a:p>
                      <a:r>
                        <a:rPr lang="en-US" dirty="0"/>
                        <a:t>S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Ref Paper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Author &amp;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Techniques/Algorithms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Limitations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5629365"/>
                  </a:ext>
                </a:extLst>
              </a:tr>
              <a:tr h="20787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Offline Handwritten Text Recognition for Indic Scripts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Dutta et al., 2018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To create a benchmark dataset (IIIT-HW-Dev / IIIT-HW-Telugu) and evaluate baseline HTR performance for Indic scripts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CRNN (Convolutional Recurrent Neural Network) + CTC loss.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CTC assumes conditional independence; struggles with compound characters, </a:t>
                      </a:r>
                      <a:r>
                        <a:rPr lang="en-IN" dirty="0" err="1"/>
                        <a:t>matras</a:t>
                      </a:r>
                      <a:r>
                        <a:rPr lang="en-IN" dirty="0"/>
                        <a:t>, and complex Telugu ligatures.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3667319"/>
                  </a:ext>
                </a:extLst>
              </a:tr>
              <a:tr h="1856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End-to-End Offline Handwritten Text Recognition for Telugu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IIT-M Thesis, 2021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To improve Telugu HTR accuracy over basic models by using multidimensional sequence learning.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CNN + MDLSTM (Multi-Dimensional LSTM) + CTC.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LSTMs have limited global context; relies purely on data without hard orthographic rules; achieved 7.48% CER on Telugu datasets.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4949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4233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86C67-0500-7B2D-DCD1-ECD578D19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21687914-4C57-41D0-E697-2A4AB2A355B4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5E9AA46F-0294-7A98-BD50-39EE2843E98A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F8C70B62-1FAD-EC83-533F-7C7AB7192914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9B847DA-8CE3-FF31-5839-79F3070F04C9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84CC3DCE-8AFD-6119-8391-CBF36B7E68B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E451A31-58C4-9F9B-755C-6FF616AEBB48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B291B662-61AA-ED27-53BB-11E7D5FA8594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7BE16F6A-8179-F31A-DE5E-FF0D854DB4CB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C5A87F98-43A1-8456-9823-10B5151CB374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14F8E09-F2D5-97B4-5139-32E129E732FD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D1E961E1-86B5-1F1A-2A06-2A9BB7095BFA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1A48D2EA-2E22-C1EB-BBBC-66F69D1B4514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4D174644-3DF2-A847-F5D0-D862943D2386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D2C204EF-FB48-E210-9DC2-BC9AFDC771B4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8288B317-656A-B02C-CED1-0663EDC714FA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EC90B90-E938-5711-CE5F-C7AA87F2AFF6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481C500A-820F-E867-E3CD-6FD62772A8F1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9DE3581-1A37-9244-B78F-C6AFDC32570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4D06710C-D185-66AF-49AD-352B58713F71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B64DB7B5-9278-F1CF-6807-9537798DCA7C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365BC0A-D6BA-05AB-E1B8-AD97A5353724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9952CFD0-8CFA-E923-CAAA-4D30EDB6E23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441E73D4-DE6E-6A9C-31D4-32572B27046F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4BFA196-1B73-C672-9AD3-544B120919C0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E0922B7B-650D-B7FD-DB4D-24082B5BE9A9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5DFC417D-3E6A-694D-ACB4-73B22C44A731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E6950FE5-DE0B-A42E-20C7-D0A64996333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73CC33F6-3266-BFAC-835A-DE18DC2494E3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CC8C2117-5BC4-839B-375C-DC8E9DBD314E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C4EB8406-5123-4BB2-2D01-B2BF12C7062E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0DE97E12-F179-F053-B50F-DB14ECC14DA0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F5538742-BC28-2385-0F60-5FC26E396349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84BFD4E2-0192-5A81-9D69-AED948E07320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FEB9F39F-E72C-81A0-65C4-1DBA2A361989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DADDADB4-5727-F60F-34A8-421954350956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A89B71DB-7197-0D17-4774-8F496575CFB1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1BBCE01F-75A0-A4D0-7B6D-93589BEC49A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991AB66E-99E6-67B0-A3CC-E335F268C97E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973FCEF9-BD12-39B2-28A3-9066BACC6829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E6D01707-6AA0-B073-F5F7-5D6FCBC9CBC0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9E161638-6D60-DF9E-E656-1181CF349B73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FF072A3E-1BBC-3190-781C-C164AFF982B5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105C0788-2F2C-3FDB-728B-F452FB2949A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3BCE1E27-954E-5079-BC4C-1E85A721F818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5A3DB1BB-4EBE-D667-9D0E-1677091E0A85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678BED9-9109-656C-C207-B860F4CA91E8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EE507883-AD72-738E-841E-531096DBE575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BACDA458-31A0-C176-198B-E68D2DEB9DE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0B293D49-F48F-7E68-935F-4D3CCE6C6190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5403DE86-72A2-2CA1-8993-44E8FED6E18A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7C1290CD-55E0-1055-3EF8-1598F653308D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12BD7A4A-9674-D8A8-27CB-C4CAB01F2404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53B2C6E8-0635-69EA-DE32-76E2CAFF42D7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71DD6756-E0B4-104C-164B-1DFBF7789A44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963A61AC-EAC8-4C5A-8AB4-8A707657A0C2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29241834-FBB3-21C3-EEA3-7F7224940333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21F3A0F6-4149-9EB6-3499-917DBF07DCDB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8C0C414B-BC33-E101-FFEE-901C2A7F8F2A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8D394BF6-AFAB-1F45-D7F6-EC2233CCAF3B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58F16BA3-29C4-843B-AD43-9C71316D6539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FE321842-9AD7-E625-FBA8-DE06AF3B31EC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A76521EB-4078-344C-8AFB-11861116082C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6C7BEEEB-9EBE-8C71-D0EE-2A925644AEAC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1E5F2E64-38A6-B3E5-8A54-2040B8496311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ACCC77BC-4500-34FC-1805-434E61F4ED0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6F81B600-DDEC-DEB9-725E-15F4CBAD5D7F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670D0333-E80A-B47C-4099-18BAF14435B8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26A911E9-2FF0-A797-DD38-4510958E8614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6327E320-8FD8-41EB-363D-61939CB90D3D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66251BEB-12BF-7008-E769-41D587DEAAE4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AEC54D02-B1B3-92D6-D7AB-C8CFC1673582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A2FEE9B1-E2AD-396F-D72F-CD334BF68F2A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40E276C2-F80F-1D9D-2281-17004FD5816A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51E20602-649C-DBFC-365E-93631C2FF760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00268E58-E274-BED0-2DC9-9A0F2E970D71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0415CB37-21DE-ABA6-6ECB-591416A28690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F5998E65-4F35-5291-4681-01A127671029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5A22AF0F-D212-7363-5BB0-A231717E4F13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05AFAD90-0C31-1AB5-A786-F0791CD7AFE8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A02E46A6-C7BD-6F4C-8FAF-390B783254A3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E352EAE2-3570-67D6-2FD3-4A78BC3D1124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627EBC0-2635-DFE9-1ED7-B0667CE5D1FC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E192B6B6-D006-2C7F-A21B-067E24647798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FD7CF3D7-6717-AA91-9093-587D296D622D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8401AB8B-AA14-92E4-7F3B-A8DEEAC0B557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000709AE-1FDA-912E-5F78-768D57E7CC17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2B1C79E2-DE92-B8D5-83A9-6BEE471EDBEB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E2AED058-6814-C767-D5EF-EC9DC74C1791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D250ACAC-1594-72A9-233B-111ABA1BD03C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FD14511F-2F43-B76C-3102-55B37626C684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D5559984-9DE2-865E-E572-E9D0E422685F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3E97D0C7-2BF5-BE29-FBF7-04EBD7599EE7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9AABDF20-8BF6-AF99-8EFA-B129ED6A1BC4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4FF348ED-5C72-0D2B-D905-843C9B72B252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232F13F1-9906-0553-8F09-EA814C8D9744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265D6A17-414C-E12A-6449-F34E0B624939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F9CFFC5D-CFE7-8B21-2E2E-8B77F01A94B5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0742FF03-4F3B-44E8-1DFF-611939775A6D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C97A26E0-62F4-9155-375A-4B41D2D0C3DD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BE7AFFFF-320B-62AE-D29A-B1B283C5C2A3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1A5120E2-C92C-BB64-5D05-2F4379410590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CF1AF898-9968-93BE-9A7A-5CB45FBA9B68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80113B45-F9C9-3C15-01DB-2FC8AE3DA750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F0EFE9EA-88AA-DD8E-7E9D-E5C53344406A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7C7A8FD1-9F45-17A1-2011-AB856201554D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FCD245E0-6A05-247E-0FF0-AF90C7CB03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14BAE418-F872-4ED6-5FE9-4BA87064AE14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E225A1C-655C-C25C-1A37-0EEFA486EDB0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C55FF119-EB76-B33B-1EC5-8486193EC7BC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B7269A9-60B8-4678-9D7F-38AAEE5EFB8B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81B215-84A1-EE8A-C7FB-94BDE263BD3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1D8A20B3-13AD-F2C9-4AA2-A2BA442407AA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EB3F7185-0B38-53E0-AE68-19AAECF99493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4CCEDF6A-975A-639F-64CA-D706B9994205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9B227EAB-50D9-21EA-C61E-4E86BF59C5A6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884110CB-4221-D48F-0CD0-1D6AC095AC75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8B5791DB-E97E-F01A-FF44-2BA5B24C7DA7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DA1889D3-6059-09F3-CE18-D832562C1392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980C9144-1A97-7C67-C633-0630D1D75868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1D17661F-9F61-8DBF-254C-CE460D9B79C8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E2D79D5C-DABA-404C-1CB4-DF68AB1D348E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7861DA4D-C52E-911E-EF8B-35138673B84A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3421A8-F1E0-CC70-DC18-2AAEC6226BCF}"/>
              </a:ext>
            </a:extLst>
          </p:cNvPr>
          <p:cNvSpPr/>
          <p:nvPr/>
        </p:nvSpPr>
        <p:spPr>
          <a:xfrm>
            <a:off x="1325894" y="248713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graphicFrame>
        <p:nvGraphicFramePr>
          <p:cNvPr id="170" name="Table 169">
            <a:extLst>
              <a:ext uri="{FF2B5EF4-FFF2-40B4-BE49-F238E27FC236}">
                <a16:creationId xmlns:a16="http://schemas.microsoft.com/office/drawing/2014/main" id="{AC8CFB64-C39F-FD0C-BB1D-9D52B265F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2625117"/>
              </p:ext>
            </p:extLst>
          </p:nvPr>
        </p:nvGraphicFramePr>
        <p:xfrm>
          <a:off x="179294" y="839652"/>
          <a:ext cx="11705789" cy="5843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536">
                  <a:extLst>
                    <a:ext uri="{9D8B030D-6E8A-4147-A177-3AD203B41FA5}">
                      <a16:colId xmlns:a16="http://schemas.microsoft.com/office/drawing/2014/main" val="4167517054"/>
                    </a:ext>
                  </a:extLst>
                </a:gridCol>
                <a:gridCol w="2818686">
                  <a:extLst>
                    <a:ext uri="{9D8B030D-6E8A-4147-A177-3AD203B41FA5}">
                      <a16:colId xmlns:a16="http://schemas.microsoft.com/office/drawing/2014/main" val="2903303254"/>
                    </a:ext>
                  </a:extLst>
                </a:gridCol>
                <a:gridCol w="1628999">
                  <a:extLst>
                    <a:ext uri="{9D8B030D-6E8A-4147-A177-3AD203B41FA5}">
                      <a16:colId xmlns:a16="http://schemas.microsoft.com/office/drawing/2014/main" val="861101941"/>
                    </a:ext>
                  </a:extLst>
                </a:gridCol>
                <a:gridCol w="1628999">
                  <a:extLst>
                    <a:ext uri="{9D8B030D-6E8A-4147-A177-3AD203B41FA5}">
                      <a16:colId xmlns:a16="http://schemas.microsoft.com/office/drawing/2014/main" val="679990113"/>
                    </a:ext>
                  </a:extLst>
                </a:gridCol>
                <a:gridCol w="3006063">
                  <a:extLst>
                    <a:ext uri="{9D8B030D-6E8A-4147-A177-3AD203B41FA5}">
                      <a16:colId xmlns:a16="http://schemas.microsoft.com/office/drawing/2014/main" val="21456632"/>
                    </a:ext>
                  </a:extLst>
                </a:gridCol>
                <a:gridCol w="1937506">
                  <a:extLst>
                    <a:ext uri="{9D8B030D-6E8A-4147-A177-3AD203B41FA5}">
                      <a16:colId xmlns:a16="http://schemas.microsoft.com/office/drawing/2014/main" val="2170512275"/>
                    </a:ext>
                  </a:extLst>
                </a:gridCol>
              </a:tblGrid>
              <a:tr h="417632">
                <a:tc>
                  <a:txBody>
                    <a:bodyPr/>
                    <a:lstStyle/>
                    <a:p>
                      <a:r>
                        <a:rPr lang="en-US" dirty="0"/>
                        <a:t>S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Ref Paper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Author &amp;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Objectives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Techniques/Algorithms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Limitations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5629365"/>
                  </a:ext>
                </a:extLst>
              </a:tr>
              <a:tr h="28703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PARSeq: Scene Text Recognition with Permuted Autoregressive Sequence Models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Bautista et al., 2022 / 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To achieve SOTA text recognition by learning internal language models through permutation-based autoregressive decoding.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Vision Transformer (ViT) encoder + autoregressive decoder + attention.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Designed for general/Latin scene text; does not inherently model strict grammatical and orthographic constraints of Indic scripts.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3667319"/>
                  </a:ext>
                </a:extLst>
              </a:tr>
              <a:tr h="2138694">
                <a:tc>
                  <a:txBody>
                    <a:bodyPr/>
                    <a:lstStyle/>
                    <a:p>
                      <a:pPr indent="0" algn="l" fontAlgn="base" latinLnBrk="0">
                        <a:buNone/>
                      </a:pPr>
                      <a:r>
                        <a:rPr lang="en-IN">
                          <a:effectLst/>
                          <a:latin typeface="pplxSans"/>
                        </a:rPr>
                        <a:t>4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indent="0" algn="l" fontAlgn="base" latinLnBrk="0">
                        <a:buNone/>
                      </a:pPr>
                      <a:r>
                        <a:rPr lang="en-IN">
                          <a:effectLst/>
                          <a:latin typeface="pplxSans"/>
                        </a:rPr>
                        <a:t>Recent Advancements in Telugu OCR and HTR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indent="0" algn="l" fontAlgn="base" latinLnBrk="0">
                        <a:buNone/>
                      </a:pPr>
                      <a:r>
                        <a:rPr lang="en-IN">
                          <a:effectLst/>
                          <a:latin typeface="pplxSans"/>
                        </a:rPr>
                        <a:t>Various (2024–2025 papers)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indent="0" algn="l" fontAlgn="base" latinLnBrk="0">
                        <a:buNone/>
                      </a:pPr>
                      <a:r>
                        <a:rPr lang="en-IN">
                          <a:effectLst/>
                          <a:latin typeface="pplxSans"/>
                        </a:rPr>
                        <a:t>To improve accuracy on Telugu historical documents and modern handwriting.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indent="0" algn="l" fontAlgn="base" latinLnBrk="0">
                        <a:buNone/>
                      </a:pPr>
                      <a:r>
                        <a:rPr lang="en-IN">
                          <a:effectLst/>
                          <a:latin typeface="pplxSans"/>
                        </a:rPr>
                        <a:t>Standard CNN–RNN pipelines with CTC + data augmentation.</a:t>
                      </a:r>
                    </a:p>
                  </a:txBody>
                  <a:tcPr marL="60960" marR="60960" marT="60960" marB="60960" anchor="ctr"/>
                </a:tc>
                <a:tc>
                  <a:txBody>
                    <a:bodyPr/>
                    <a:lstStyle/>
                    <a:p>
                      <a:pPr indent="0" algn="l" fontAlgn="base" latinLnBrk="0">
                        <a:buNone/>
                      </a:pPr>
                      <a:r>
                        <a:rPr lang="en-IN" dirty="0">
                          <a:effectLst/>
                          <a:latin typeface="pplxSans"/>
                        </a:rPr>
                        <a:t>Still largely reliant on sequential RNNs; critical gap in enforcing hard constraints to prevent impossible Telugu character sequences.</a:t>
                      </a:r>
                    </a:p>
                  </a:txBody>
                  <a:tcPr marL="60960" marR="60960" marT="60960" marB="60960" anchor="ctr"/>
                </a:tc>
                <a:extLst>
                  <a:ext uri="{0D108BD9-81ED-4DB2-BD59-A6C34878D82A}">
                    <a16:rowId xmlns:a16="http://schemas.microsoft.com/office/drawing/2014/main" val="2164949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4845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FDB59CB-2A88-326F-B50C-13DD5449741C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5501B6B-EC77-47C1-BED3-6FC1C9A01967}"/>
              </a:ext>
            </a:extLst>
          </p:cNvPr>
          <p:cNvSpPr/>
          <p:nvPr/>
        </p:nvSpPr>
        <p:spPr>
          <a:xfrm>
            <a:off x="1222193" y="606910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DD2D7-29C5-58FD-F34A-D74901BEDE79}"/>
              </a:ext>
            </a:extLst>
          </p:cNvPr>
          <p:cNvSpPr txBox="1"/>
          <p:nvPr/>
        </p:nvSpPr>
        <p:spPr>
          <a:xfrm>
            <a:off x="1222193" y="1305502"/>
            <a:ext cx="9963931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200" b="1" dirty="0"/>
              <a:t>Architecture:</a:t>
            </a:r>
            <a:r>
              <a:rPr lang="en-IN" sz="2200" dirty="0"/>
              <a:t> Convolutional Neural Network (CNN) feature extractor + Bidirectional Long Short-Term Memory (</a:t>
            </a:r>
            <a:r>
              <a:rPr lang="en-IN" sz="2200" dirty="0" err="1"/>
              <a:t>BiLSTM</a:t>
            </a:r>
            <a:r>
              <a:rPr lang="en-IN" sz="2200" dirty="0"/>
              <a:t>) sequence model + CTC Loss.</a:t>
            </a:r>
          </a:p>
          <a:p>
            <a:endParaRPr lang="en-IN" sz="2200" dirty="0"/>
          </a:p>
          <a:p>
            <a:r>
              <a:rPr lang="en-IN" sz="2200" b="1" dirty="0"/>
              <a:t>Drawbacks / Limitations:</a:t>
            </a:r>
          </a:p>
          <a:p>
            <a:endParaRPr lang="en-IN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Conditional Independence Assumption:</a:t>
            </a:r>
            <a:r>
              <a:rPr lang="en-IN" sz="2200" dirty="0"/>
              <a:t> CTC predicts characters independently at each time step. It does not "remember" the previous character when predicting the current one.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Orthographic Violations:</a:t>
            </a:r>
            <a:r>
              <a:rPr lang="en-IN" sz="2200" dirty="0"/>
              <a:t> Because it lacks memory, the CTC model frequently outputs text that violates Telugu spelling rules (e.g., predicting a vowel modifier directly after a virama, which is impossible in Telugu).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Poor on Compound Characters:</a:t>
            </a:r>
            <a:r>
              <a:rPr lang="en-IN" sz="2200" dirty="0"/>
              <a:t> Conjunct characters (like </a:t>
            </a:r>
            <a:r>
              <a:rPr lang="en-IN" sz="2200" dirty="0" err="1"/>
              <a:t>క్ష</a:t>
            </a:r>
            <a:r>
              <a:rPr lang="en-IN" sz="2200" dirty="0"/>
              <a:t>, </a:t>
            </a:r>
            <a:r>
              <a:rPr lang="en-IN" sz="2200" dirty="0" err="1"/>
              <a:t>త్ర</a:t>
            </a:r>
            <a:r>
              <a:rPr lang="en-IN" sz="2200" dirty="0"/>
              <a:t>) require precise sequencing of consonants and viramas. The existing system struggles heavily here.</a:t>
            </a:r>
          </a:p>
          <a:p>
            <a:pPr>
              <a:buNone/>
            </a:pP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288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74F796AE-057B-C555-3B5C-0465ABCAB6D0}"/>
              </a:ext>
            </a:extLst>
          </p:cNvPr>
          <p:cNvSpPr/>
          <p:nvPr/>
        </p:nvSpPr>
        <p:spPr>
          <a:xfrm>
            <a:off x="-4905" y="5797530"/>
            <a:ext cx="12196905" cy="813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5501B6B-EC77-47C1-BED3-6FC1C9A01967}"/>
              </a:ext>
            </a:extLst>
          </p:cNvPr>
          <p:cNvSpPr/>
          <p:nvPr/>
        </p:nvSpPr>
        <p:spPr>
          <a:xfrm>
            <a:off x="1173494" y="575793"/>
            <a:ext cx="3670368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  <a:endParaRPr lang="en-US" sz="3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38708B-F848-32C7-A158-297045C0D5BD}"/>
              </a:ext>
            </a:extLst>
          </p:cNvPr>
          <p:cNvSpPr txBox="1"/>
          <p:nvPr/>
        </p:nvSpPr>
        <p:spPr>
          <a:xfrm>
            <a:off x="821094" y="1341762"/>
            <a:ext cx="11231607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200" b="1" dirty="0"/>
              <a:t>Architecture:</a:t>
            </a:r>
            <a:r>
              <a:rPr lang="en-IN" sz="2200" dirty="0"/>
              <a:t> ResNet-18 CNN Encoder + Autoregressive Transformer Decoder + Auxiliary CTC Head.</a:t>
            </a:r>
          </a:p>
          <a:p>
            <a:endParaRPr lang="en-IN" sz="2200" dirty="0"/>
          </a:p>
          <a:p>
            <a:r>
              <a:rPr lang="en-IN" sz="2200" b="1" dirty="0"/>
              <a:t>Key Innovations :</a:t>
            </a:r>
          </a:p>
          <a:p>
            <a:endParaRPr lang="en-IN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Autoregressive Decoding:</a:t>
            </a:r>
            <a:r>
              <a:rPr lang="en-IN" sz="2200" dirty="0"/>
              <a:t> The Transformer decoder predicts the next character based on the image features </a:t>
            </a:r>
            <a:r>
              <a:rPr lang="en-IN" sz="2200" i="1" dirty="0"/>
              <a:t>and</a:t>
            </a:r>
            <a:r>
              <a:rPr lang="en-IN" sz="2200" dirty="0"/>
              <a:t> all previously predicted characters, capturing complex dependencies.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Linguistic Constraints:</a:t>
            </a:r>
            <a:r>
              <a:rPr lang="en-IN" sz="2200" dirty="0"/>
              <a:t> We inject a Telugu bigram transition matrix during the decoding phase. If the model tries to predict an invalid character combination (e.g., EOS after a virama), the constraint heavily penalizes it, forcing a grammatically valid prediction.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Joint CTC-Attention Training:</a:t>
            </a:r>
            <a:r>
              <a:rPr lang="en-IN" sz="2200" dirty="0"/>
              <a:t> We train the model with both Cross-Entropy (CE) loss on the decoder (weight: 0.7) and CTC loss on the encoder (weight: 0.3). The CTC loss forces the encoder to learn better character-level visual features early in training, stabilizing the Transformer.</a:t>
            </a:r>
          </a:p>
        </p:txBody>
      </p:sp>
    </p:spTree>
    <p:extLst>
      <p:ext uri="{BB962C8B-B14F-4D97-AF65-F5344CB8AC3E}">
        <p14:creationId xmlns:p14="http://schemas.microsoft.com/office/powerpoint/2010/main" val="1160442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8A166-56A2-1431-B5AA-94305BF84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86BB909-B2D7-116D-13C5-82CF3A4D1B4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CBDD7EC1-FA5D-D15A-B31D-9E2DE3BF9E56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3F5C230B-64CA-DF36-FB1A-E9EAD1B6B66A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C8AB5465-579A-EF24-7C91-7F2F8E81269C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F3D1DD9F-C201-7FF2-35B0-2B1F201E9FA9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C69A8352-78A6-7D0E-7A3D-51B2EB97D244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953A4E5B-BA95-BCE7-9ED7-318FB209D035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1E4EAE93-79A3-2419-772E-D6D8D0F9531B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1129A41-9596-A84C-AA0A-378A8BAA303E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E8C38090-79CE-C731-287A-93D3B9AAD88F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89167B3F-CF4E-6B01-85A9-4F52266FBAD4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2D0505F1-09FE-8300-3869-AEF3DB7A5F4E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A75D5AD0-0BFE-77C3-2193-6CC783D08AAB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55782B0A-E8A0-C1D4-2951-4FD9FD3D1498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910C77E3-13EA-0ECA-BF27-E04933291898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A8E1185-60F2-DB09-F081-3E925C5A218A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D7425D42-6821-DC3F-927F-B39C54FB1DC8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5D3A26D3-6AC6-2B5D-C353-576DB017EDA1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13D0F20D-6994-FC55-361D-943E6EDE66A0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62415490-4A13-D7B0-31C6-51EB4B15FAC6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AF47AC7-4497-5938-8B62-2E003CEE2DCB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2DE17559-9A0D-7C51-40D2-A2A023FDB7A7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75DDF5F1-72D8-E749-F7B8-175E709B5662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0D5B6E71-0190-EF19-13CD-744ACB4B2BAF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6A683AC4-4426-4282-CCF3-F52B1E53922B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4B0D9316-2D97-E844-F367-785E123AFE90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8C43FF56-62C8-ABA5-128D-D4BB252AE3D8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719902AB-0C93-D3FD-CCF0-6F1EF493EBA6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BBF97EB9-213C-5847-DB8B-5494011664DB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92EAD11-8000-0CB9-1731-36ABE328F8A9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68D7E77C-EC92-508E-3981-855B1CB76D72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5138376-B4FB-BBBD-0427-5538768903D4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3BFB94E8-1E4E-D4A3-2A29-E551A1CE1374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E5B9407D-6F58-A309-CA54-7AF261CB2D04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C729625C-7322-3D50-3C11-76684D6EBF24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8E39C563-6723-0ED9-1C2F-93DA5313592F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F667C0D7-CAE6-EED2-94A6-B3D91E3B6A05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5F64FB21-5911-F833-3B6E-F2E0D3A5568F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3F2B0BEF-D0AD-87CB-6FF1-DA4C41BCA39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2F9B59FD-BCFC-1608-5232-080A1D5CBF00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78B246D5-640C-8120-2797-2DD547586E4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331F6B1D-12F5-FB6E-8C94-3BD2377E8F37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A3D37587-DC75-4944-8D39-81F149ADAF93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8D041BA6-B132-8F7B-47C5-74F1F7E20235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0D3E63DF-B8B3-5C43-3A2F-C473A0D75D48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54488A43-EDD7-AAA4-7923-9DD4B04CA99E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7503AC2-1F8F-DA1E-847C-8A33F7F5AC01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54062D96-02E4-082E-1AD0-03BB31B26D8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CB44376F-1CDA-B0A2-807A-8B0705283DED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013A2044-2404-2CB3-ECB5-CDE92502229E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3F3C58DA-D4F9-21C1-176E-1BF7247347E5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0F7423C1-58E4-3705-B0B3-34615F2B2501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01A1B164-DF04-32EB-5BAF-A7C6E220E77A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1EAEA2C9-4970-06AA-5654-F5CF68684360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EBF97EFF-9569-9739-8A2A-BE05A8FA82F5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A1C27CBA-2131-840B-CC88-02B7AA371F02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48177A2C-71DE-6557-DE37-CEDDDAF2289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69032793-DA2C-813E-E9D9-AE236782F496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766862A6-B569-2374-C7D6-DE206265D3A5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641F2B67-B023-B63B-77BF-A0413CA19E6A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A29ECBD3-B104-348B-E84B-46376A370E35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7C17F933-621B-B4FE-383E-59C7788FC4AA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3A910E4A-A48F-FD5B-9A98-59F7952F382C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745C1FF4-9263-3229-2E2A-3A935E4823B0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7C9FD9D-2CD0-CD64-EEA0-208F8F7BA79D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BCF2D776-5293-3CB2-B3EB-B1EE0B41DE4D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862059B8-4B72-62AC-5D59-C40FC926B03B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FD8EEFA-9148-2C52-BF63-4157EC6D18E0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6093543E-01FD-2191-6B94-2FCE8405C98F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5ADB6E97-F4C6-C64E-2023-8A7F1D4F4D7B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26363DDF-EF4B-FB58-C053-B9A5CD3F0A60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04A9090E-66DC-39E5-DC2F-A1C009F589C1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E549EA3E-3E39-AF84-4348-6D3864205813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72FC4A40-3B1C-BDF4-0584-76BA76507147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C2B1C8E2-A694-BEE8-EB1D-2544AE1F41D6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EA1C97D8-9E9E-66AC-062E-7C8CC0D4ADD0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07EB3F52-DB27-F56D-4820-AC98057BDBC0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A7672622-9E00-B43B-9CAA-5777DF534998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2FEE2F46-53D5-7937-B9F5-33D707FCD516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0D9092A4-806C-ADF2-C457-EFACE35CDBFF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01B3E652-48C3-F41D-ABD5-143E8C4BFDCA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80B58297-BA2B-104A-C24D-20AD5C56B3CC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B6C65CEC-9FFB-7299-5B36-45D254F8CEB7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3C25D111-8E1B-07AC-E34C-2EAF979A2B75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25D83390-FE0C-402A-B9CF-4AD3895B8A1A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16C4A28D-D4FF-9AB3-383F-81B2B1196DA4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6DB12F57-0EA6-92E3-B3F8-F1CA9F497547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8587E165-0B79-DA34-9663-76BC09DA4C7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D345FFD-0F2E-194C-0063-E896D7EF1C62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FF2E265F-47EE-87FE-DF1B-3E52B5868E7A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FC1F2A78-2F1D-B46E-C60B-057102678E9A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7460BDE5-B827-90D7-05BF-D1360DDF8E72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90A8CBD4-3D83-D247-A612-DF8B070D6DE4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18D2C3E-73DB-A9CA-EEF9-800CA2283077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D846E8CA-49F6-6783-B9D0-4038BB7D5396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283B341A-DFBD-4788-DA9D-25445501AFD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B5325633-4FCB-CAA4-770C-72B2B2EED2A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4B412B16-533C-FBBB-6C05-F941026E05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F784887A-734E-558F-444D-904A9F8963B0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9DE16E1A-551B-3383-57A8-61E5949CE7B7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50154095-F011-EDAC-619A-7F9C8ECF61F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C08E07C5-E85A-6C4E-E3E8-DEAEDC1E0086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B7BC8E96-F2D9-B4DA-8D85-E2C3E69261E8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ED02BA56-90BC-1C41-690F-8289283616F0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7410181A-D30F-8A2C-F88A-4D2EACF5C8E0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8EF0C074-16A7-A119-CAF8-6C39ABE5A227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4ABD9BF8-C831-03A7-5C77-8479A7BE16A3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C4091FE2-4FA8-9F9D-2F2F-CB7D844173C6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64B9F95E-D1A8-6BC0-2B72-228B1F75F4E8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B5901D30-A354-32A7-BBEF-43B63F5FC3C2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12E5A69-D769-3E0C-57AA-0AFB781CDA11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69AEE2F4-387F-B206-0C59-2601775D5FFA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78208ECE-5B00-65FD-ECDB-58935AC229D6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694321A1-7A56-D917-8420-5E5AF80BD0E8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510765E8-8AF8-DB76-6F02-F138B4C0DF30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641FF0D0-08C5-CBB6-5B67-1FE4CB45395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8A7CE465-B3C2-3D4E-27F2-F09F7F6AB848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594ECCE1-56EF-45FB-A765-015A4AD91BD1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96085721-0A9C-9D0F-13D0-4D2BF02E21CD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1910B977-A098-A6E7-C829-FACDFFA7DBE9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7E0FE5A5-6090-0884-35ED-CB12139CB336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69" name="Rectangle 168">
            <a:extLst>
              <a:ext uri="{FF2B5EF4-FFF2-40B4-BE49-F238E27FC236}">
                <a16:creationId xmlns:a16="http://schemas.microsoft.com/office/drawing/2014/main" id="{6565C949-3443-FEE8-2DE5-0E5E38B5F740}"/>
              </a:ext>
            </a:extLst>
          </p:cNvPr>
          <p:cNvSpPr/>
          <p:nvPr/>
        </p:nvSpPr>
        <p:spPr>
          <a:xfrm>
            <a:off x="1173493" y="575792"/>
            <a:ext cx="7396765" cy="1324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IN" sz="3600" b="1" dirty="0">
                <a:solidFill>
                  <a:srgbClr val="FF0000"/>
                </a:solidFill>
              </a:rPr>
              <a:t>Architecture</a:t>
            </a:r>
          </a:p>
          <a:p>
            <a:r>
              <a:rPr lang="en-IN" sz="3600" b="1" dirty="0">
                <a:solidFill>
                  <a:srgbClr val="FF0000"/>
                </a:solidFill>
              </a:rPr>
              <a:t>Diagram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3297F0-882B-7F4B-2C2B-A145871DD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001" y="0"/>
            <a:ext cx="66039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439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272B836-303F-DF4A-69B1-B2C662E9F50B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02BC24B3-E39A-CB46-4E1E-768CEC92BF43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2436BCE-063A-1B43-09E4-3AEA3552CC5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A6616B3F-11BD-D8FD-89CA-7D56D09FF5F0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1DB4174E-509B-CF12-3BBF-0028C4D1663C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31A3526-0937-7AB7-D30D-8870E9E719FB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EB7D4F9D-7741-FDC2-3741-CDF62A89A0AD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D2D0A7FB-AA0E-1C19-5625-0FB54171CCF5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A69B4B22-6F5A-FCB4-73ED-B60A3F13C8F3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6C01E5-B9A7-3F15-A590-FAA17C94DBD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775AE82-2537-4B05-330D-3AF2C37B1F0E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F5C9632-1C53-F6BA-A1DA-7B0EB01C6E7D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494B565-E2DA-D992-2272-831FAB18CD28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A822E09-3362-108B-8798-EC8292F549FE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2C831DFE-47FB-E3D4-D5D2-9F583B3FEFC6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BF0B3D84-9378-FF28-B840-0B20A983CEE2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C73E7F8-D1D3-B301-76CF-13B8B2ABE819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9DBC961-5BE8-85E0-50B9-413EFE96AD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FB8399A-B674-9339-D63B-BFC9BBEABFC9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C3D9DE4-4371-9055-4B9D-A7D8990BC129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8B9270AF-ED1F-1411-1CAA-46F106488251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AD2E06C7-C283-457E-10FF-A0D9E71CDC9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ACCFA092-BB4F-F4F2-A5CD-6BD4E3767751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AB654535-BBE5-AB0E-61BC-13E959EAC58B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2079DAE5-59E5-0967-317C-13A94DF53547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4A9868D-358C-979E-0D2F-84D51462320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29AA5E6-7ED1-8382-E428-68AB2F3BB39E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4AEDC2C-D56D-FD92-7B29-7FA38F85E671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F617ED90-AE8D-BA61-0D56-6ABDD7C248D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1E3486-760F-0831-2891-78277486CDED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9F9A68D-8B7F-0937-780B-25A30672527A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009B92A9-12EB-6D7E-30FC-8581666C702A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A401D31-0501-9FC4-A959-55B5EB9526D7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BBE587C8-D91B-0ABE-40E2-C1F88AD22C33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736F4B9-5F6B-284D-A8C8-C4D6EB8364F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DBCD5585-B771-28CF-5638-CA6ADF70CEAB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3E6BA4B3-165F-23BD-5B2B-25CDF0C6C5B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DEEAEA1A-F391-64D7-033E-FDEBD5DEA025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832A59C-F643-EABB-6887-41B2D8D6495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60EE77C-1B6A-2D49-8C6C-11B191C3E03A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1DA9E69-ED6B-C85C-74BA-191FE05EC48C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2F6215A-84D3-0DC8-4B16-AF901F73FC6E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CFB554D9-6A3C-2352-7CB3-7954CCFAE007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685958D-E39A-CAC7-67F4-DBF3A87D1834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14493297-4BD7-5010-739F-C152F576EA69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B37008F-0FFE-EF29-1D88-2CDD3DB6B9E5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6C4F2AF6-AFCC-9939-79D2-7A1690280168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490FED5B-B21A-98E2-5EE8-71512ACF1723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3F54A48-FBD1-6597-C96C-B9FED8D3AFB7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F210C79F-E766-B137-A052-F060B344F532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80C35B28-2ED2-2755-5AE1-A66F4DFAA8A2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AB9A3344-4D04-B32F-FD89-AF6F51416BBF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A57EBA0F-BF87-1BB9-24D1-C10C4D75397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A033F54E-11DC-29C2-D514-8B65F590C94D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AE2B9EC8-479D-D5D8-6BCA-057218002C3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BDCDC82B-0D9A-2EE4-9B3E-CF599F760347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4AA3840-594E-06FE-0A71-30CE90557E3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42ED5282-FA59-F5AF-648F-2A453D9779B8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B79E65-E610-34FA-C420-BCF913D122B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9728ABB-945F-C69B-1928-27FEE400AE9E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8072CB1-B5CD-9356-A549-AA020ACA7B0B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0FA01F9-C391-1654-A89D-D52449152939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AFC130C3-1C07-1667-4EBC-6AD73E51EEB7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5F88F9D8-EB9C-16EA-CFE3-135920BBC166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C6C7310-671C-B284-B7F8-A3E8FB1800BF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5F953CD5-5686-8CBA-CBB8-1F26F9018E77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7BADDD77-D9A6-8181-B0AC-C6BEFA3E95A1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1A0A3682-B0A9-29FA-1599-3080E9906ABF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0663EA5C-A76E-9895-678B-A2EDB2931ABA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AE84B9E-077F-763A-85D3-145EB11C3961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66DAD28-8608-603E-039D-812413132E2F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37424B85-59D5-ED1B-1E16-A610508AD952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37843F9-878D-7589-15C8-D97EEBFC1D11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C0BDE6A0-10E0-3427-1C7B-EA5E6D644758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2C9D456-4204-3EF2-46D3-9860E49808CE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982399C-C36A-15B5-ACF1-82617BF7A952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1CFF4D0C-089E-70F7-4235-BE74CF1C2815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731147F-C7BE-5636-9A89-DC61C5FFDD01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5D3295F-510F-F59C-7C46-1DD2D94E7D89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33ED0707-5D7F-A4AC-5758-7B87830037E5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6112A6F8-6F9B-B524-5A8C-115DCD59E1AB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71E06284-8328-8C24-1858-B235EA2AC4CD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34E17CD-D47F-B5BB-46C6-C9C8343DC580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6CD04A39-C69A-A9B9-12B3-D1ACCACAD3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B168A7EF-2378-97A6-EB9E-5138CF0DEDEF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8F5637D-71F6-10CF-32C5-5EEB7547998C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58455D73-747E-056B-7B38-8A001DF0975A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6C0A3B2-92B9-6A16-B5FF-A74D2F748F22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435AC269-03D3-675D-4C48-08D6CE86D4C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BD5AA58-306D-EB99-32B5-9E4A1640A9D3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716CA12-D736-2D47-505A-4E57016A89B2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624491B8-458E-01A7-4909-5893814B8D5F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E039EE44-DAC7-5757-4BF2-EA2A26BEA92F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09F3D42-1DD6-BD53-022E-9DFCD5048304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D85F3FA-EB83-8F16-0B69-E6B9D38B8AEE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69A6764-8AC2-FE4D-90C9-15CA00F37E53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821CA983-C5A8-757E-F0A7-A4D987800519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DB299C9-C10F-6BD1-9AFE-22EF23772983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2ECAEEB9-0496-CCEF-13F3-71167F70256E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22EF5CE-20AB-28AB-F26B-A88E085941B9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0138DB83-A947-E98D-D6E2-0F369DC669DA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B11FF71F-EE8F-61C1-5CBA-D00666980044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C71722CA-EBE9-82B1-621E-306960CB6E02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C646E80-51C4-039E-FAEC-CAD0F7CA1458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EFB0F54E-128B-5239-A521-2EEBE2D1916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3A8941A6-7F83-281A-03C0-660FB6AC3DFC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B18D1468-A732-D1A1-DCD9-B2AE4A776E8A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A72D15E5-F3D1-86AD-6923-E1C631250F7A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D8B9901C-934D-534C-B018-95631FE5E499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A30F3CAB-4984-0AAD-0789-9C721786C1B1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3ABACA79-42B5-5D7D-459A-B644504C7089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5314BA32-099D-5AD2-041E-50CAE1A96419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6D58FBC-3DC3-EEF8-7A21-2CAE571371E4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BCD7C23-EFA9-DD7B-E708-94DD702C4C8A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35CD32A3-6E53-4DF6-FFF6-ACA214FD7142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FF920B72-20A0-E030-5EC6-20094CF0EF7B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9E5EACAF-8340-0440-CFCE-CD483845D92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E324DBAA-B96D-2F3C-08AB-0F24C14D9324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0BAC4BEB-5471-BFC1-84ED-C2287007D220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B5142260-56EC-D969-3DF2-8FFB3A03683F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5E181CF7-9B33-6E89-A038-436D066A7CF7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FDB59CB-2A88-326F-B50C-13DD5449741C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5501B6B-EC77-47C1-BED3-6FC1C9A01967}"/>
              </a:ext>
            </a:extLst>
          </p:cNvPr>
          <p:cNvSpPr/>
          <p:nvPr/>
        </p:nvSpPr>
        <p:spPr>
          <a:xfrm>
            <a:off x="1040005" y="177693"/>
            <a:ext cx="4963980" cy="9038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Methodology/Algorithm</a:t>
            </a:r>
            <a:endParaRPr lang="en-US" sz="3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2E799-159A-2A90-39E1-7235425EDCD1}"/>
              </a:ext>
            </a:extLst>
          </p:cNvPr>
          <p:cNvSpPr txBox="1"/>
          <p:nvPr/>
        </p:nvSpPr>
        <p:spPr>
          <a:xfrm>
            <a:off x="1040005" y="891269"/>
            <a:ext cx="10393660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Data Ingestion &amp; Preprocessing:</a:t>
            </a:r>
            <a:endParaRPr lang="en-IN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Load images and labels.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Apply Unicode Normalization (NFC) to ensure consistent character representation.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Apply image transformations (grayscale conversion, elastic distortion for augmentation, aspect-ratio-preserving resize to 64x512).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Feature Extraction:</a:t>
            </a:r>
            <a:r>
              <a:rPr lang="en-IN" dirty="0"/>
              <a:t>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The ResNet-18 encoder processes the image and compresses the height dimension, outputting a sequence of feature vectors (e.g., 64 timesteps of size 256).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Joint Training Phase:</a:t>
            </a:r>
            <a:endParaRPr lang="en-IN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The encoder output goes to an auxiliary CTC head to compute CTC Loss.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The encoder output </a:t>
            </a:r>
            <a:r>
              <a:rPr lang="en-IN" i="1" dirty="0"/>
              <a:t>and</a:t>
            </a:r>
            <a:r>
              <a:rPr lang="en-IN" dirty="0"/>
              <a:t> the target text sequence go into the Transformer Decoder using "Teacher Forcing".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The decoder outputs logits, and Cross-Entropy (CE) loss is computed.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Total Loss = (0.7 * CE) + (0.3 * CTC).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Constrained Decoding (Inference):</a:t>
            </a:r>
            <a:endParaRPr lang="en-IN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The model predicts character by character.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At step </a:t>
            </a:r>
            <a:r>
              <a:rPr lang="en-IN" i="1" dirty="0"/>
              <a:t>t</a:t>
            </a:r>
            <a:r>
              <a:rPr lang="en-IN" dirty="0"/>
              <a:t>, the model outputs probabilities for the next character.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The </a:t>
            </a:r>
            <a:r>
              <a:rPr lang="en-IN" b="1" dirty="0"/>
              <a:t>Telugu Masking Algorithm</a:t>
            </a:r>
            <a:r>
              <a:rPr lang="en-IN" dirty="0"/>
              <a:t> checks the prediction at </a:t>
            </a:r>
            <a:r>
              <a:rPr lang="en-IN" i="1" dirty="0"/>
              <a:t>t-1</a:t>
            </a:r>
            <a:r>
              <a:rPr lang="en-IN" dirty="0"/>
              <a:t>. It applies a massive penalty (-10.0) to any character at step </a:t>
            </a:r>
            <a:r>
              <a:rPr lang="en-IN" i="1" dirty="0"/>
              <a:t>t</a:t>
            </a:r>
            <a:r>
              <a:rPr lang="en-IN" dirty="0"/>
              <a:t> that is linguistically invalid to follow </a:t>
            </a:r>
            <a:r>
              <a:rPr lang="en-IN" i="1" dirty="0"/>
              <a:t>t-1</a:t>
            </a:r>
            <a:r>
              <a:rPr lang="en-IN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dirty="0"/>
              <a:t>Beam Search (k=5) is used to find the most likely overall sequence.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313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339D3A7-D124-D453-107B-4794853CA76A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rgbClr val="E7E9DE"/>
          </a:solidFill>
        </p:grpSpPr>
        <p:sp>
          <p:nvSpPr>
            <p:cNvPr id="7" name="Freeform 236">
              <a:extLst>
                <a:ext uri="{FF2B5EF4-FFF2-40B4-BE49-F238E27FC236}">
                  <a16:creationId xmlns:a16="http://schemas.microsoft.com/office/drawing/2014/main" id="{C692FC92-BA67-9A43-3F06-E7C166B34CCD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 237">
              <a:extLst>
                <a:ext uri="{FF2B5EF4-FFF2-40B4-BE49-F238E27FC236}">
                  <a16:creationId xmlns:a16="http://schemas.microsoft.com/office/drawing/2014/main" id="{9C39C8B2-9CB2-01B8-AE4C-CD2FBCDC4A8F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 238">
              <a:extLst>
                <a:ext uri="{FF2B5EF4-FFF2-40B4-BE49-F238E27FC236}">
                  <a16:creationId xmlns:a16="http://schemas.microsoft.com/office/drawing/2014/main" id="{F890BF1E-1489-2663-CC9B-DB6A131D3886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239">
              <a:extLst>
                <a:ext uri="{FF2B5EF4-FFF2-40B4-BE49-F238E27FC236}">
                  <a16:creationId xmlns:a16="http://schemas.microsoft.com/office/drawing/2014/main" id="{A1AE53BC-99F1-2AD8-772A-62892BCE24D3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240">
              <a:extLst>
                <a:ext uri="{FF2B5EF4-FFF2-40B4-BE49-F238E27FC236}">
                  <a16:creationId xmlns:a16="http://schemas.microsoft.com/office/drawing/2014/main" id="{62AC52AC-878E-9B51-F7AA-4D45F79FE813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241">
              <a:extLst>
                <a:ext uri="{FF2B5EF4-FFF2-40B4-BE49-F238E27FC236}">
                  <a16:creationId xmlns:a16="http://schemas.microsoft.com/office/drawing/2014/main" id="{7C5C6D17-C257-1937-793D-22D42BD75C7E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242">
              <a:extLst>
                <a:ext uri="{FF2B5EF4-FFF2-40B4-BE49-F238E27FC236}">
                  <a16:creationId xmlns:a16="http://schemas.microsoft.com/office/drawing/2014/main" id="{8F481CCC-CF45-3767-F391-4762BE4FF5C6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243">
              <a:extLst>
                <a:ext uri="{FF2B5EF4-FFF2-40B4-BE49-F238E27FC236}">
                  <a16:creationId xmlns:a16="http://schemas.microsoft.com/office/drawing/2014/main" id="{09A5B1FB-306D-D7AC-D4B0-19A43DE063CE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244">
              <a:extLst>
                <a:ext uri="{FF2B5EF4-FFF2-40B4-BE49-F238E27FC236}">
                  <a16:creationId xmlns:a16="http://schemas.microsoft.com/office/drawing/2014/main" id="{FB4ABE76-8AAF-0FC4-092F-53E50FF04C60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245">
              <a:extLst>
                <a:ext uri="{FF2B5EF4-FFF2-40B4-BE49-F238E27FC236}">
                  <a16:creationId xmlns:a16="http://schemas.microsoft.com/office/drawing/2014/main" id="{120339E5-4C8C-7E65-DD0E-4E82795CAC31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246">
              <a:extLst>
                <a:ext uri="{FF2B5EF4-FFF2-40B4-BE49-F238E27FC236}">
                  <a16:creationId xmlns:a16="http://schemas.microsoft.com/office/drawing/2014/main" id="{043F97F4-A7BC-A2A3-D652-6599CA9DF3E2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247">
              <a:extLst>
                <a:ext uri="{FF2B5EF4-FFF2-40B4-BE49-F238E27FC236}">
                  <a16:creationId xmlns:a16="http://schemas.microsoft.com/office/drawing/2014/main" id="{976E28FB-EF7C-240D-321D-AE74954532A3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248">
              <a:extLst>
                <a:ext uri="{FF2B5EF4-FFF2-40B4-BE49-F238E27FC236}">
                  <a16:creationId xmlns:a16="http://schemas.microsoft.com/office/drawing/2014/main" id="{6DD153BC-1C22-4E3B-2D54-6A092F11E801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249">
              <a:extLst>
                <a:ext uri="{FF2B5EF4-FFF2-40B4-BE49-F238E27FC236}">
                  <a16:creationId xmlns:a16="http://schemas.microsoft.com/office/drawing/2014/main" id="{529A3F63-2EE4-EAED-F805-CC5A7426BE8D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 250">
              <a:extLst>
                <a:ext uri="{FF2B5EF4-FFF2-40B4-BE49-F238E27FC236}">
                  <a16:creationId xmlns:a16="http://schemas.microsoft.com/office/drawing/2014/main" id="{AFFD858F-3E5B-FEB4-E7E0-4D7EA243FBED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51">
              <a:extLst>
                <a:ext uri="{FF2B5EF4-FFF2-40B4-BE49-F238E27FC236}">
                  <a16:creationId xmlns:a16="http://schemas.microsoft.com/office/drawing/2014/main" id="{F365ED03-A3A8-CDDA-E96B-E0D85038E7BC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52">
              <a:extLst>
                <a:ext uri="{FF2B5EF4-FFF2-40B4-BE49-F238E27FC236}">
                  <a16:creationId xmlns:a16="http://schemas.microsoft.com/office/drawing/2014/main" id="{7075D9B0-AF41-C987-E503-A36D3324087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53">
              <a:extLst>
                <a:ext uri="{FF2B5EF4-FFF2-40B4-BE49-F238E27FC236}">
                  <a16:creationId xmlns:a16="http://schemas.microsoft.com/office/drawing/2014/main" id="{40A86ACE-0F07-3B54-BA08-A9D40E41CBBE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54">
              <a:extLst>
                <a:ext uri="{FF2B5EF4-FFF2-40B4-BE49-F238E27FC236}">
                  <a16:creationId xmlns:a16="http://schemas.microsoft.com/office/drawing/2014/main" id="{24A4817A-4CAA-210E-BBEB-8257444BA791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5">
              <a:extLst>
                <a:ext uri="{FF2B5EF4-FFF2-40B4-BE49-F238E27FC236}">
                  <a16:creationId xmlns:a16="http://schemas.microsoft.com/office/drawing/2014/main" id="{B5DCE319-E064-80E5-A9BA-2253FE3C47D9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56">
              <a:extLst>
                <a:ext uri="{FF2B5EF4-FFF2-40B4-BE49-F238E27FC236}">
                  <a16:creationId xmlns:a16="http://schemas.microsoft.com/office/drawing/2014/main" id="{7786CADC-F8A5-8AC2-469E-32BC2F894BFF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57">
              <a:extLst>
                <a:ext uri="{FF2B5EF4-FFF2-40B4-BE49-F238E27FC236}">
                  <a16:creationId xmlns:a16="http://schemas.microsoft.com/office/drawing/2014/main" id="{83782620-A851-BD3C-13DB-29C723E26132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58">
              <a:extLst>
                <a:ext uri="{FF2B5EF4-FFF2-40B4-BE49-F238E27FC236}">
                  <a16:creationId xmlns:a16="http://schemas.microsoft.com/office/drawing/2014/main" id="{04B80DB6-2470-17FC-A29D-F7706D389D5A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59">
              <a:extLst>
                <a:ext uri="{FF2B5EF4-FFF2-40B4-BE49-F238E27FC236}">
                  <a16:creationId xmlns:a16="http://schemas.microsoft.com/office/drawing/2014/main" id="{7AB78B21-A3DB-655F-BD40-871A550259D0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260">
              <a:extLst>
                <a:ext uri="{FF2B5EF4-FFF2-40B4-BE49-F238E27FC236}">
                  <a16:creationId xmlns:a16="http://schemas.microsoft.com/office/drawing/2014/main" id="{D8F1A212-0B3A-CE1F-750C-A9B2CE74E3FF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261">
              <a:extLst>
                <a:ext uri="{FF2B5EF4-FFF2-40B4-BE49-F238E27FC236}">
                  <a16:creationId xmlns:a16="http://schemas.microsoft.com/office/drawing/2014/main" id="{AB591BA7-BC16-7889-0209-C6CE48F40EDB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262">
              <a:extLst>
                <a:ext uri="{FF2B5EF4-FFF2-40B4-BE49-F238E27FC236}">
                  <a16:creationId xmlns:a16="http://schemas.microsoft.com/office/drawing/2014/main" id="{24836A41-EBE1-82A0-8089-7832B006924F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263">
              <a:extLst>
                <a:ext uri="{FF2B5EF4-FFF2-40B4-BE49-F238E27FC236}">
                  <a16:creationId xmlns:a16="http://schemas.microsoft.com/office/drawing/2014/main" id="{BC04F691-C0AF-0BFF-11BC-F7E0B5636527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264">
              <a:extLst>
                <a:ext uri="{FF2B5EF4-FFF2-40B4-BE49-F238E27FC236}">
                  <a16:creationId xmlns:a16="http://schemas.microsoft.com/office/drawing/2014/main" id="{B360064C-8A08-0858-70D5-DEEAB124EB39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265">
              <a:extLst>
                <a:ext uri="{FF2B5EF4-FFF2-40B4-BE49-F238E27FC236}">
                  <a16:creationId xmlns:a16="http://schemas.microsoft.com/office/drawing/2014/main" id="{B51F889C-0829-88D3-D26E-858A7BF8BAA4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266">
              <a:extLst>
                <a:ext uri="{FF2B5EF4-FFF2-40B4-BE49-F238E27FC236}">
                  <a16:creationId xmlns:a16="http://schemas.microsoft.com/office/drawing/2014/main" id="{B867CF5B-D180-BB1E-2721-00DEF22F4724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267">
              <a:extLst>
                <a:ext uri="{FF2B5EF4-FFF2-40B4-BE49-F238E27FC236}">
                  <a16:creationId xmlns:a16="http://schemas.microsoft.com/office/drawing/2014/main" id="{A479A5C0-EF28-BE5A-E5F2-11101AEB0E23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268">
              <a:extLst>
                <a:ext uri="{FF2B5EF4-FFF2-40B4-BE49-F238E27FC236}">
                  <a16:creationId xmlns:a16="http://schemas.microsoft.com/office/drawing/2014/main" id="{6EBB425B-15CA-1296-4364-F1581A630039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269">
              <a:extLst>
                <a:ext uri="{FF2B5EF4-FFF2-40B4-BE49-F238E27FC236}">
                  <a16:creationId xmlns:a16="http://schemas.microsoft.com/office/drawing/2014/main" id="{B232A0B6-B3A2-0DC6-2ABF-14AEF4C53389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270">
              <a:extLst>
                <a:ext uri="{FF2B5EF4-FFF2-40B4-BE49-F238E27FC236}">
                  <a16:creationId xmlns:a16="http://schemas.microsoft.com/office/drawing/2014/main" id="{01BAC2B1-9677-32E6-3248-ECC4703485E5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271">
              <a:extLst>
                <a:ext uri="{FF2B5EF4-FFF2-40B4-BE49-F238E27FC236}">
                  <a16:creationId xmlns:a16="http://schemas.microsoft.com/office/drawing/2014/main" id="{51051FDC-0407-8DB3-15CD-01D0DB1438E0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272">
              <a:extLst>
                <a:ext uri="{FF2B5EF4-FFF2-40B4-BE49-F238E27FC236}">
                  <a16:creationId xmlns:a16="http://schemas.microsoft.com/office/drawing/2014/main" id="{00739E86-AD78-EA26-A169-9D881A3F2629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273">
              <a:extLst>
                <a:ext uri="{FF2B5EF4-FFF2-40B4-BE49-F238E27FC236}">
                  <a16:creationId xmlns:a16="http://schemas.microsoft.com/office/drawing/2014/main" id="{50A8653E-5CC5-FCCE-A679-F4846997E5C7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274">
              <a:extLst>
                <a:ext uri="{FF2B5EF4-FFF2-40B4-BE49-F238E27FC236}">
                  <a16:creationId xmlns:a16="http://schemas.microsoft.com/office/drawing/2014/main" id="{73997AA7-EE9F-5B3F-D8F8-E7A8A990E19C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275">
              <a:extLst>
                <a:ext uri="{FF2B5EF4-FFF2-40B4-BE49-F238E27FC236}">
                  <a16:creationId xmlns:a16="http://schemas.microsoft.com/office/drawing/2014/main" id="{8B169811-D124-5D16-9FAF-BAEE351E5216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276">
              <a:extLst>
                <a:ext uri="{FF2B5EF4-FFF2-40B4-BE49-F238E27FC236}">
                  <a16:creationId xmlns:a16="http://schemas.microsoft.com/office/drawing/2014/main" id="{C980DCF3-8470-4BCF-D6F7-157478B19479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277">
              <a:extLst>
                <a:ext uri="{FF2B5EF4-FFF2-40B4-BE49-F238E27FC236}">
                  <a16:creationId xmlns:a16="http://schemas.microsoft.com/office/drawing/2014/main" id="{1BAD6F86-1931-590D-D4CE-AB32E45B111D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278">
              <a:extLst>
                <a:ext uri="{FF2B5EF4-FFF2-40B4-BE49-F238E27FC236}">
                  <a16:creationId xmlns:a16="http://schemas.microsoft.com/office/drawing/2014/main" id="{0FBEDB4F-3944-7965-CEE0-FE6F83F77551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 279">
              <a:extLst>
                <a:ext uri="{FF2B5EF4-FFF2-40B4-BE49-F238E27FC236}">
                  <a16:creationId xmlns:a16="http://schemas.microsoft.com/office/drawing/2014/main" id="{486F35B9-3931-6F5D-2EAE-2CC48D69520A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 280">
              <a:extLst>
                <a:ext uri="{FF2B5EF4-FFF2-40B4-BE49-F238E27FC236}">
                  <a16:creationId xmlns:a16="http://schemas.microsoft.com/office/drawing/2014/main" id="{DC534CE7-BF41-C0AD-47CC-6CC06E171746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 281">
              <a:extLst>
                <a:ext uri="{FF2B5EF4-FFF2-40B4-BE49-F238E27FC236}">
                  <a16:creationId xmlns:a16="http://schemas.microsoft.com/office/drawing/2014/main" id="{812D22BD-8254-8D44-5DAE-FBFFABDC217C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 282">
              <a:extLst>
                <a:ext uri="{FF2B5EF4-FFF2-40B4-BE49-F238E27FC236}">
                  <a16:creationId xmlns:a16="http://schemas.microsoft.com/office/drawing/2014/main" id="{89E37EE5-9475-2EEE-7456-0D1004617CC5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 283">
              <a:extLst>
                <a:ext uri="{FF2B5EF4-FFF2-40B4-BE49-F238E27FC236}">
                  <a16:creationId xmlns:a16="http://schemas.microsoft.com/office/drawing/2014/main" id="{8F1F71D6-66E4-96DA-3779-5DED0A40427C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 284">
              <a:extLst>
                <a:ext uri="{FF2B5EF4-FFF2-40B4-BE49-F238E27FC236}">
                  <a16:creationId xmlns:a16="http://schemas.microsoft.com/office/drawing/2014/main" id="{C5086533-33A9-9DA5-0B6A-2EE41172788C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285">
              <a:extLst>
                <a:ext uri="{FF2B5EF4-FFF2-40B4-BE49-F238E27FC236}">
                  <a16:creationId xmlns:a16="http://schemas.microsoft.com/office/drawing/2014/main" id="{D77F98EF-4DA9-083C-5A8A-0DF76BCA4608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 286">
              <a:extLst>
                <a:ext uri="{FF2B5EF4-FFF2-40B4-BE49-F238E27FC236}">
                  <a16:creationId xmlns:a16="http://schemas.microsoft.com/office/drawing/2014/main" id="{67C8C206-71A4-EC40-D18B-8B1E325A4F5A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 287">
              <a:extLst>
                <a:ext uri="{FF2B5EF4-FFF2-40B4-BE49-F238E27FC236}">
                  <a16:creationId xmlns:a16="http://schemas.microsoft.com/office/drawing/2014/main" id="{DE27B4DC-ED29-092C-0A28-8154373B0454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 288">
              <a:extLst>
                <a:ext uri="{FF2B5EF4-FFF2-40B4-BE49-F238E27FC236}">
                  <a16:creationId xmlns:a16="http://schemas.microsoft.com/office/drawing/2014/main" id="{B46CAACA-FF1E-DA5B-5E40-78167ECD7874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 289">
              <a:extLst>
                <a:ext uri="{FF2B5EF4-FFF2-40B4-BE49-F238E27FC236}">
                  <a16:creationId xmlns:a16="http://schemas.microsoft.com/office/drawing/2014/main" id="{C4088C79-73FC-A8C1-DCCF-D20BDE773A01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290">
              <a:extLst>
                <a:ext uri="{FF2B5EF4-FFF2-40B4-BE49-F238E27FC236}">
                  <a16:creationId xmlns:a16="http://schemas.microsoft.com/office/drawing/2014/main" id="{7E49339A-228E-28C2-3B9A-981B7A4A3148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291">
              <a:extLst>
                <a:ext uri="{FF2B5EF4-FFF2-40B4-BE49-F238E27FC236}">
                  <a16:creationId xmlns:a16="http://schemas.microsoft.com/office/drawing/2014/main" id="{B85A52EB-0886-9AE3-D16B-767CF41A7D12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292">
              <a:extLst>
                <a:ext uri="{FF2B5EF4-FFF2-40B4-BE49-F238E27FC236}">
                  <a16:creationId xmlns:a16="http://schemas.microsoft.com/office/drawing/2014/main" id="{8C2C5003-C6C4-FD88-65C7-E0C6F0740610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293">
              <a:extLst>
                <a:ext uri="{FF2B5EF4-FFF2-40B4-BE49-F238E27FC236}">
                  <a16:creationId xmlns:a16="http://schemas.microsoft.com/office/drawing/2014/main" id="{1B6D80CE-AABF-1890-3ABB-429F67A8BBAF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294">
              <a:extLst>
                <a:ext uri="{FF2B5EF4-FFF2-40B4-BE49-F238E27FC236}">
                  <a16:creationId xmlns:a16="http://schemas.microsoft.com/office/drawing/2014/main" id="{692944F4-C585-D4F6-E3DB-29726F00CC31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295">
              <a:extLst>
                <a:ext uri="{FF2B5EF4-FFF2-40B4-BE49-F238E27FC236}">
                  <a16:creationId xmlns:a16="http://schemas.microsoft.com/office/drawing/2014/main" id="{6FFEC368-3391-9D7C-4C8D-70A1B0CB3D5C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296">
              <a:extLst>
                <a:ext uri="{FF2B5EF4-FFF2-40B4-BE49-F238E27FC236}">
                  <a16:creationId xmlns:a16="http://schemas.microsoft.com/office/drawing/2014/main" id="{B00609C9-2620-3E99-0499-AC9C251C4A34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297">
              <a:extLst>
                <a:ext uri="{FF2B5EF4-FFF2-40B4-BE49-F238E27FC236}">
                  <a16:creationId xmlns:a16="http://schemas.microsoft.com/office/drawing/2014/main" id="{BB1FA3C0-2A83-E140-A1AA-AF00AB65043D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298">
              <a:extLst>
                <a:ext uri="{FF2B5EF4-FFF2-40B4-BE49-F238E27FC236}">
                  <a16:creationId xmlns:a16="http://schemas.microsoft.com/office/drawing/2014/main" id="{77D7E50C-9CA2-C830-6C18-9AB76E2832CC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 299">
              <a:extLst>
                <a:ext uri="{FF2B5EF4-FFF2-40B4-BE49-F238E27FC236}">
                  <a16:creationId xmlns:a16="http://schemas.microsoft.com/office/drawing/2014/main" id="{1B3EA9F1-DAF3-8211-E054-AA16188ADBF5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 300">
              <a:extLst>
                <a:ext uri="{FF2B5EF4-FFF2-40B4-BE49-F238E27FC236}">
                  <a16:creationId xmlns:a16="http://schemas.microsoft.com/office/drawing/2014/main" id="{281AB9CF-D165-8C72-9B5A-77FE0B62207C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 301">
              <a:extLst>
                <a:ext uri="{FF2B5EF4-FFF2-40B4-BE49-F238E27FC236}">
                  <a16:creationId xmlns:a16="http://schemas.microsoft.com/office/drawing/2014/main" id="{D979E397-CEDC-EFDF-B5F9-DCFAF43C28E8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 302">
              <a:extLst>
                <a:ext uri="{FF2B5EF4-FFF2-40B4-BE49-F238E27FC236}">
                  <a16:creationId xmlns:a16="http://schemas.microsoft.com/office/drawing/2014/main" id="{32FAC87A-F468-7EB6-E8BC-662256FFA574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 303">
              <a:extLst>
                <a:ext uri="{FF2B5EF4-FFF2-40B4-BE49-F238E27FC236}">
                  <a16:creationId xmlns:a16="http://schemas.microsoft.com/office/drawing/2014/main" id="{1CC2F617-243E-218A-E8FF-469B1F3AC114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 304">
              <a:extLst>
                <a:ext uri="{FF2B5EF4-FFF2-40B4-BE49-F238E27FC236}">
                  <a16:creationId xmlns:a16="http://schemas.microsoft.com/office/drawing/2014/main" id="{C9731B48-2F99-1291-AD3C-F9329A3649F0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 305">
              <a:extLst>
                <a:ext uri="{FF2B5EF4-FFF2-40B4-BE49-F238E27FC236}">
                  <a16:creationId xmlns:a16="http://schemas.microsoft.com/office/drawing/2014/main" id="{4F0CCBF8-FE88-0C00-3366-BD769172A7A1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 306">
              <a:extLst>
                <a:ext uri="{FF2B5EF4-FFF2-40B4-BE49-F238E27FC236}">
                  <a16:creationId xmlns:a16="http://schemas.microsoft.com/office/drawing/2014/main" id="{043296B0-6661-A0A9-5214-CCFC4C29196A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 307">
              <a:extLst>
                <a:ext uri="{FF2B5EF4-FFF2-40B4-BE49-F238E27FC236}">
                  <a16:creationId xmlns:a16="http://schemas.microsoft.com/office/drawing/2014/main" id="{5D2C107B-1802-760B-420E-D0E5825C8653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 308">
              <a:extLst>
                <a:ext uri="{FF2B5EF4-FFF2-40B4-BE49-F238E27FC236}">
                  <a16:creationId xmlns:a16="http://schemas.microsoft.com/office/drawing/2014/main" id="{454AC3C9-0545-7CAA-4C1E-82CEB68D3CDB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 309">
              <a:extLst>
                <a:ext uri="{FF2B5EF4-FFF2-40B4-BE49-F238E27FC236}">
                  <a16:creationId xmlns:a16="http://schemas.microsoft.com/office/drawing/2014/main" id="{5C9398DF-24BD-DC97-8780-369643E53BDC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310">
              <a:extLst>
                <a:ext uri="{FF2B5EF4-FFF2-40B4-BE49-F238E27FC236}">
                  <a16:creationId xmlns:a16="http://schemas.microsoft.com/office/drawing/2014/main" id="{24962064-3935-C28E-63DE-AE66C18B54B7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311">
              <a:extLst>
                <a:ext uri="{FF2B5EF4-FFF2-40B4-BE49-F238E27FC236}">
                  <a16:creationId xmlns:a16="http://schemas.microsoft.com/office/drawing/2014/main" id="{E5169111-5D9F-4329-D151-270EDE809CCA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 312">
              <a:extLst>
                <a:ext uri="{FF2B5EF4-FFF2-40B4-BE49-F238E27FC236}">
                  <a16:creationId xmlns:a16="http://schemas.microsoft.com/office/drawing/2014/main" id="{54910F62-AFB4-6274-4EC3-656169A1DD52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 313">
              <a:extLst>
                <a:ext uri="{FF2B5EF4-FFF2-40B4-BE49-F238E27FC236}">
                  <a16:creationId xmlns:a16="http://schemas.microsoft.com/office/drawing/2014/main" id="{45BC60E6-674C-A892-8D48-44437F2291E5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 314">
              <a:extLst>
                <a:ext uri="{FF2B5EF4-FFF2-40B4-BE49-F238E27FC236}">
                  <a16:creationId xmlns:a16="http://schemas.microsoft.com/office/drawing/2014/main" id="{8965DB46-2B71-FC39-C7EE-75B3D4B1D8C7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 315">
              <a:extLst>
                <a:ext uri="{FF2B5EF4-FFF2-40B4-BE49-F238E27FC236}">
                  <a16:creationId xmlns:a16="http://schemas.microsoft.com/office/drawing/2014/main" id="{89C69253-A574-1EE2-18DC-3FC2344170A8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 316">
              <a:extLst>
                <a:ext uri="{FF2B5EF4-FFF2-40B4-BE49-F238E27FC236}">
                  <a16:creationId xmlns:a16="http://schemas.microsoft.com/office/drawing/2014/main" id="{B5A22B4E-B3B1-C80D-2EA5-32ABA7D8A98F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 317">
              <a:extLst>
                <a:ext uri="{FF2B5EF4-FFF2-40B4-BE49-F238E27FC236}">
                  <a16:creationId xmlns:a16="http://schemas.microsoft.com/office/drawing/2014/main" id="{653E4112-CECF-93EE-67F4-1F03020BC0F4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 318">
              <a:extLst>
                <a:ext uri="{FF2B5EF4-FFF2-40B4-BE49-F238E27FC236}">
                  <a16:creationId xmlns:a16="http://schemas.microsoft.com/office/drawing/2014/main" id="{213380E4-F1EB-001F-E6C1-E5052D87AE6C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 319">
              <a:extLst>
                <a:ext uri="{FF2B5EF4-FFF2-40B4-BE49-F238E27FC236}">
                  <a16:creationId xmlns:a16="http://schemas.microsoft.com/office/drawing/2014/main" id="{9F97FA07-ECBD-F040-9173-482C6FB24DF4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 320">
              <a:extLst>
                <a:ext uri="{FF2B5EF4-FFF2-40B4-BE49-F238E27FC236}">
                  <a16:creationId xmlns:a16="http://schemas.microsoft.com/office/drawing/2014/main" id="{4C39E1F4-BA63-A1BE-5369-D1AC79C87ADB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 321">
              <a:extLst>
                <a:ext uri="{FF2B5EF4-FFF2-40B4-BE49-F238E27FC236}">
                  <a16:creationId xmlns:a16="http://schemas.microsoft.com/office/drawing/2014/main" id="{A36633FD-2843-86AB-CF89-5E6110A9307B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 322">
              <a:extLst>
                <a:ext uri="{FF2B5EF4-FFF2-40B4-BE49-F238E27FC236}">
                  <a16:creationId xmlns:a16="http://schemas.microsoft.com/office/drawing/2014/main" id="{96978E0E-F779-E18D-0284-C3D62ACE3D48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 323">
              <a:extLst>
                <a:ext uri="{FF2B5EF4-FFF2-40B4-BE49-F238E27FC236}">
                  <a16:creationId xmlns:a16="http://schemas.microsoft.com/office/drawing/2014/main" id="{32CCC847-62FC-E3B9-FF2A-EE6F605ACA7B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 324">
              <a:extLst>
                <a:ext uri="{FF2B5EF4-FFF2-40B4-BE49-F238E27FC236}">
                  <a16:creationId xmlns:a16="http://schemas.microsoft.com/office/drawing/2014/main" id="{3CEED46D-AB04-415B-D9F4-22019E40EFB0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 325">
              <a:extLst>
                <a:ext uri="{FF2B5EF4-FFF2-40B4-BE49-F238E27FC236}">
                  <a16:creationId xmlns:a16="http://schemas.microsoft.com/office/drawing/2014/main" id="{3D92F8DE-5C93-AC47-FCBF-7934D54998DB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 326">
              <a:extLst>
                <a:ext uri="{FF2B5EF4-FFF2-40B4-BE49-F238E27FC236}">
                  <a16:creationId xmlns:a16="http://schemas.microsoft.com/office/drawing/2014/main" id="{1A673D24-572A-4492-1F3F-B42D7221C9C0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 327">
              <a:extLst>
                <a:ext uri="{FF2B5EF4-FFF2-40B4-BE49-F238E27FC236}">
                  <a16:creationId xmlns:a16="http://schemas.microsoft.com/office/drawing/2014/main" id="{F7C4BB86-15FE-8990-8685-C9F4CA0676B1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 328">
              <a:extLst>
                <a:ext uri="{FF2B5EF4-FFF2-40B4-BE49-F238E27FC236}">
                  <a16:creationId xmlns:a16="http://schemas.microsoft.com/office/drawing/2014/main" id="{F910BC4F-3DAD-459B-88A0-2928712E5B5B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329">
              <a:extLst>
                <a:ext uri="{FF2B5EF4-FFF2-40B4-BE49-F238E27FC236}">
                  <a16:creationId xmlns:a16="http://schemas.microsoft.com/office/drawing/2014/main" id="{175F94E1-D1BB-412F-F9C4-6787C88B677C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330">
              <a:extLst>
                <a:ext uri="{FF2B5EF4-FFF2-40B4-BE49-F238E27FC236}">
                  <a16:creationId xmlns:a16="http://schemas.microsoft.com/office/drawing/2014/main" id="{96F35AD2-70C8-2CE7-B643-4A4683C571A7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331">
              <a:extLst>
                <a:ext uri="{FF2B5EF4-FFF2-40B4-BE49-F238E27FC236}">
                  <a16:creationId xmlns:a16="http://schemas.microsoft.com/office/drawing/2014/main" id="{161424E6-E0A3-BA2F-CBE7-A17888F6E546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332">
              <a:extLst>
                <a:ext uri="{FF2B5EF4-FFF2-40B4-BE49-F238E27FC236}">
                  <a16:creationId xmlns:a16="http://schemas.microsoft.com/office/drawing/2014/main" id="{12D17A63-8243-FFF4-E3FC-2E25528C7772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333">
              <a:extLst>
                <a:ext uri="{FF2B5EF4-FFF2-40B4-BE49-F238E27FC236}">
                  <a16:creationId xmlns:a16="http://schemas.microsoft.com/office/drawing/2014/main" id="{C7DE0845-DFD3-7CAA-0F21-392DD23143E2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334">
              <a:extLst>
                <a:ext uri="{FF2B5EF4-FFF2-40B4-BE49-F238E27FC236}">
                  <a16:creationId xmlns:a16="http://schemas.microsoft.com/office/drawing/2014/main" id="{BB7F2CEF-33D0-346A-6679-7CDB39087E2D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335">
              <a:extLst>
                <a:ext uri="{FF2B5EF4-FFF2-40B4-BE49-F238E27FC236}">
                  <a16:creationId xmlns:a16="http://schemas.microsoft.com/office/drawing/2014/main" id="{48A0D3D2-1EB6-2219-8AAB-EB10ECFB2654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336">
              <a:extLst>
                <a:ext uri="{FF2B5EF4-FFF2-40B4-BE49-F238E27FC236}">
                  <a16:creationId xmlns:a16="http://schemas.microsoft.com/office/drawing/2014/main" id="{8AE6E31D-683E-C92E-B927-9D0D869D5440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 337">
              <a:extLst>
                <a:ext uri="{FF2B5EF4-FFF2-40B4-BE49-F238E27FC236}">
                  <a16:creationId xmlns:a16="http://schemas.microsoft.com/office/drawing/2014/main" id="{4B120362-077A-E30E-73B8-D5850AACBEF9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338">
              <a:extLst>
                <a:ext uri="{FF2B5EF4-FFF2-40B4-BE49-F238E27FC236}">
                  <a16:creationId xmlns:a16="http://schemas.microsoft.com/office/drawing/2014/main" id="{4BAF4198-7B3E-51A8-2E9B-A782BBAA8B4D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 339">
              <a:extLst>
                <a:ext uri="{FF2B5EF4-FFF2-40B4-BE49-F238E27FC236}">
                  <a16:creationId xmlns:a16="http://schemas.microsoft.com/office/drawing/2014/main" id="{97997E40-47AE-77E8-265E-FC62E7B4C30A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 340">
              <a:extLst>
                <a:ext uri="{FF2B5EF4-FFF2-40B4-BE49-F238E27FC236}">
                  <a16:creationId xmlns:a16="http://schemas.microsoft.com/office/drawing/2014/main" id="{88DCADC1-BA3B-A703-32EC-FB4DA1536A98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 341">
              <a:extLst>
                <a:ext uri="{FF2B5EF4-FFF2-40B4-BE49-F238E27FC236}">
                  <a16:creationId xmlns:a16="http://schemas.microsoft.com/office/drawing/2014/main" id="{DD5DD70B-F6A3-4956-8A9A-07A1AD619529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7" name="Freeform 342">
              <a:extLst>
                <a:ext uri="{FF2B5EF4-FFF2-40B4-BE49-F238E27FC236}">
                  <a16:creationId xmlns:a16="http://schemas.microsoft.com/office/drawing/2014/main" id="{CB17E61D-0494-1231-BDEE-68F93409A67F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8" name="Freeform 343">
              <a:extLst>
                <a:ext uri="{FF2B5EF4-FFF2-40B4-BE49-F238E27FC236}">
                  <a16:creationId xmlns:a16="http://schemas.microsoft.com/office/drawing/2014/main" id="{2802CECC-1568-CEA5-B7A1-AAD25D8FBD75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9" name="Freeform 344">
              <a:extLst>
                <a:ext uri="{FF2B5EF4-FFF2-40B4-BE49-F238E27FC236}">
                  <a16:creationId xmlns:a16="http://schemas.microsoft.com/office/drawing/2014/main" id="{39A21A27-A926-30B0-DF4A-664518A19B93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Freeform 345">
              <a:extLst>
                <a:ext uri="{FF2B5EF4-FFF2-40B4-BE49-F238E27FC236}">
                  <a16:creationId xmlns:a16="http://schemas.microsoft.com/office/drawing/2014/main" id="{9B301209-A032-2413-3255-3B59A57ED54B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1" name="Freeform 346">
              <a:extLst>
                <a:ext uri="{FF2B5EF4-FFF2-40B4-BE49-F238E27FC236}">
                  <a16:creationId xmlns:a16="http://schemas.microsoft.com/office/drawing/2014/main" id="{A97A2DD1-E595-5298-3F2F-360767ED02B6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2" name="Freeform 347">
              <a:extLst>
                <a:ext uri="{FF2B5EF4-FFF2-40B4-BE49-F238E27FC236}">
                  <a16:creationId xmlns:a16="http://schemas.microsoft.com/office/drawing/2014/main" id="{BD4A41F6-C546-DCAC-434A-8D3C58670371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3" name="Freeform 348">
              <a:extLst>
                <a:ext uri="{FF2B5EF4-FFF2-40B4-BE49-F238E27FC236}">
                  <a16:creationId xmlns:a16="http://schemas.microsoft.com/office/drawing/2014/main" id="{41594035-570C-5DDC-7E45-80ABEF2BC3FF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4" name="Freeform 349">
              <a:extLst>
                <a:ext uri="{FF2B5EF4-FFF2-40B4-BE49-F238E27FC236}">
                  <a16:creationId xmlns:a16="http://schemas.microsoft.com/office/drawing/2014/main" id="{385C2C3F-8660-C7C7-16B9-492DB72D0187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5" name="Freeform 350">
              <a:extLst>
                <a:ext uri="{FF2B5EF4-FFF2-40B4-BE49-F238E27FC236}">
                  <a16:creationId xmlns:a16="http://schemas.microsoft.com/office/drawing/2014/main" id="{6AB8863E-9B19-4116-F4AB-FCA678F41DA5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6" name="Freeform 351">
              <a:extLst>
                <a:ext uri="{FF2B5EF4-FFF2-40B4-BE49-F238E27FC236}">
                  <a16:creationId xmlns:a16="http://schemas.microsoft.com/office/drawing/2014/main" id="{C63B1803-06D7-1331-22BD-E2BE1DD77697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7" name="Freeform 352">
              <a:extLst>
                <a:ext uri="{FF2B5EF4-FFF2-40B4-BE49-F238E27FC236}">
                  <a16:creationId xmlns:a16="http://schemas.microsoft.com/office/drawing/2014/main" id="{2B28572F-56F3-216A-02CB-517709136C2C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8" name="Freeform 353">
              <a:extLst>
                <a:ext uri="{FF2B5EF4-FFF2-40B4-BE49-F238E27FC236}">
                  <a16:creationId xmlns:a16="http://schemas.microsoft.com/office/drawing/2014/main" id="{1828AC81-B208-DDD9-BB15-42C576725767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9" name="Freeform 354">
              <a:extLst>
                <a:ext uri="{FF2B5EF4-FFF2-40B4-BE49-F238E27FC236}">
                  <a16:creationId xmlns:a16="http://schemas.microsoft.com/office/drawing/2014/main" id="{C0E1ED1F-0EFF-E9E1-420E-8DE6D4C07DE0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0" name="Freeform 355">
              <a:extLst>
                <a:ext uri="{FF2B5EF4-FFF2-40B4-BE49-F238E27FC236}">
                  <a16:creationId xmlns:a16="http://schemas.microsoft.com/office/drawing/2014/main" id="{776327ED-4DA1-51AA-04EC-F8F90274C0AE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71" name="Rectangle 370">
            <a:extLst>
              <a:ext uri="{FF2B5EF4-FFF2-40B4-BE49-F238E27FC236}">
                <a16:creationId xmlns:a16="http://schemas.microsoft.com/office/drawing/2014/main" id="{51CA4B34-DA5F-8429-C24E-E7D102CD8274}"/>
              </a:ext>
            </a:extLst>
          </p:cNvPr>
          <p:cNvSpPr/>
          <p:nvPr/>
        </p:nvSpPr>
        <p:spPr>
          <a:xfrm>
            <a:off x="1082078" y="662619"/>
            <a:ext cx="8622747" cy="7590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0" rIns="0" bIns="0" rtlCol="0" anchor="t" anchorCtr="0"/>
          <a:lstStyle/>
          <a:p>
            <a:r>
              <a:rPr lang="en-US" sz="4400" b="1" kern="100" dirty="0">
                <a:solidFill>
                  <a:srgbClr val="FF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Datasets</a:t>
            </a:r>
            <a:endParaRPr lang="en-US" sz="4400" b="1" kern="100" dirty="0">
              <a:solidFill>
                <a:srgbClr val="FF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0C692AB-B445-26AA-41E4-34D8D7A9BD1A}"/>
              </a:ext>
            </a:extLst>
          </p:cNvPr>
          <p:cNvSpPr txBox="1"/>
          <p:nvPr/>
        </p:nvSpPr>
        <p:spPr>
          <a:xfrm>
            <a:off x="1219653" y="1431017"/>
            <a:ext cx="10214011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Primary Dataset:</a:t>
            </a:r>
            <a:r>
              <a:rPr lang="en-IN" sz="2200" dirty="0"/>
              <a:t> IIIT-INDIC-HW-WORDS (Telugu Split)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200" dirty="0"/>
              <a:t>A publicly available, standard benchmark dataset containing handwritten Telugu words.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200" dirty="0"/>
              <a:t>Ensures our results are comparable to published literature.</a:t>
            </a:r>
          </a:p>
          <a:p>
            <a:pPr lvl="1"/>
            <a:endParaRPr lang="en-IN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Data Structure:</a:t>
            </a:r>
            <a:r>
              <a:rPr lang="en-IN" sz="2200" dirty="0"/>
              <a:t> Grayscale images of cropped words paired with their ground-truth Unicode text labels.</a:t>
            </a:r>
          </a:p>
          <a:p>
            <a:endParaRPr lang="en-IN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Preprocessing:</a:t>
            </a:r>
            <a:r>
              <a:rPr lang="en-IN" sz="2200" dirty="0"/>
              <a:t> Labels undergo NFC Unicode normalization to prevent encoding mismatches. Images are resized to a fixed height of 64px while maintaining aspect ratio (up to a max width of 512px).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Augmentation:</a:t>
            </a:r>
            <a:r>
              <a:rPr lang="en-IN" sz="2200" dirty="0"/>
              <a:t> Elastic distortion and random affine transformations are applied during training to improve robustness against varying handwriting styles.</a:t>
            </a:r>
          </a:p>
        </p:txBody>
      </p:sp>
    </p:spTree>
    <p:extLst>
      <p:ext uri="{BB962C8B-B14F-4D97-AF65-F5344CB8AC3E}">
        <p14:creationId xmlns:p14="http://schemas.microsoft.com/office/powerpoint/2010/main" val="181313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01FF1-013D-0CE6-3B63-5D5CDA396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9E5E0C21-0643-FDDB-56CB-511305BC1E74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rgbClr val="E7E9DE"/>
          </a:solidFill>
        </p:grpSpPr>
        <p:sp>
          <p:nvSpPr>
            <p:cNvPr id="7" name="Freeform 236">
              <a:extLst>
                <a:ext uri="{FF2B5EF4-FFF2-40B4-BE49-F238E27FC236}">
                  <a16:creationId xmlns:a16="http://schemas.microsoft.com/office/drawing/2014/main" id="{04E405EB-097A-65AA-72D8-CBCEE8D85A91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 237">
              <a:extLst>
                <a:ext uri="{FF2B5EF4-FFF2-40B4-BE49-F238E27FC236}">
                  <a16:creationId xmlns:a16="http://schemas.microsoft.com/office/drawing/2014/main" id="{5C203B8C-5B5F-B48E-FD6E-8CA1B419ADDD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 238">
              <a:extLst>
                <a:ext uri="{FF2B5EF4-FFF2-40B4-BE49-F238E27FC236}">
                  <a16:creationId xmlns:a16="http://schemas.microsoft.com/office/drawing/2014/main" id="{FBF3654A-07F2-1B8E-2BAD-34161D0767ED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239">
              <a:extLst>
                <a:ext uri="{FF2B5EF4-FFF2-40B4-BE49-F238E27FC236}">
                  <a16:creationId xmlns:a16="http://schemas.microsoft.com/office/drawing/2014/main" id="{3EF58F75-0472-F06D-1FEB-63CAFB5149F3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240">
              <a:extLst>
                <a:ext uri="{FF2B5EF4-FFF2-40B4-BE49-F238E27FC236}">
                  <a16:creationId xmlns:a16="http://schemas.microsoft.com/office/drawing/2014/main" id="{899DD8C8-C942-46EF-0D8A-8C9368F1F153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241">
              <a:extLst>
                <a:ext uri="{FF2B5EF4-FFF2-40B4-BE49-F238E27FC236}">
                  <a16:creationId xmlns:a16="http://schemas.microsoft.com/office/drawing/2014/main" id="{29283AD2-88C1-D215-4780-89359AB83B39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242">
              <a:extLst>
                <a:ext uri="{FF2B5EF4-FFF2-40B4-BE49-F238E27FC236}">
                  <a16:creationId xmlns:a16="http://schemas.microsoft.com/office/drawing/2014/main" id="{7919DBE6-7DD4-A52F-40F5-E00133A6C4E6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243">
              <a:extLst>
                <a:ext uri="{FF2B5EF4-FFF2-40B4-BE49-F238E27FC236}">
                  <a16:creationId xmlns:a16="http://schemas.microsoft.com/office/drawing/2014/main" id="{A5A55DDB-490D-7D3E-7C2F-9D20A71B4602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244">
              <a:extLst>
                <a:ext uri="{FF2B5EF4-FFF2-40B4-BE49-F238E27FC236}">
                  <a16:creationId xmlns:a16="http://schemas.microsoft.com/office/drawing/2014/main" id="{90407D6F-4DB9-7746-983E-8345D25339AA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245">
              <a:extLst>
                <a:ext uri="{FF2B5EF4-FFF2-40B4-BE49-F238E27FC236}">
                  <a16:creationId xmlns:a16="http://schemas.microsoft.com/office/drawing/2014/main" id="{98F53A40-81A0-1E6E-99C5-D2D7C2930E32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246">
              <a:extLst>
                <a:ext uri="{FF2B5EF4-FFF2-40B4-BE49-F238E27FC236}">
                  <a16:creationId xmlns:a16="http://schemas.microsoft.com/office/drawing/2014/main" id="{DF50AD92-C4A4-1668-508F-15F2C4961E69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247">
              <a:extLst>
                <a:ext uri="{FF2B5EF4-FFF2-40B4-BE49-F238E27FC236}">
                  <a16:creationId xmlns:a16="http://schemas.microsoft.com/office/drawing/2014/main" id="{410F1937-91D3-CB9F-0216-1270EF3C46CF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248">
              <a:extLst>
                <a:ext uri="{FF2B5EF4-FFF2-40B4-BE49-F238E27FC236}">
                  <a16:creationId xmlns:a16="http://schemas.microsoft.com/office/drawing/2014/main" id="{2BD0A260-613A-AB21-A4F9-ECB733FFF6D3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249">
              <a:extLst>
                <a:ext uri="{FF2B5EF4-FFF2-40B4-BE49-F238E27FC236}">
                  <a16:creationId xmlns:a16="http://schemas.microsoft.com/office/drawing/2014/main" id="{B3A61E87-81FD-0CC5-A836-20CC3255972F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 250">
              <a:extLst>
                <a:ext uri="{FF2B5EF4-FFF2-40B4-BE49-F238E27FC236}">
                  <a16:creationId xmlns:a16="http://schemas.microsoft.com/office/drawing/2014/main" id="{D5A71EB9-B698-6962-65F5-B9AA5488C674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51">
              <a:extLst>
                <a:ext uri="{FF2B5EF4-FFF2-40B4-BE49-F238E27FC236}">
                  <a16:creationId xmlns:a16="http://schemas.microsoft.com/office/drawing/2014/main" id="{0AF78E3D-2D04-4DB9-10B4-99C5ECF33B1D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52">
              <a:extLst>
                <a:ext uri="{FF2B5EF4-FFF2-40B4-BE49-F238E27FC236}">
                  <a16:creationId xmlns:a16="http://schemas.microsoft.com/office/drawing/2014/main" id="{07728F08-DB56-44B5-AE05-042D9DE5A17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53">
              <a:extLst>
                <a:ext uri="{FF2B5EF4-FFF2-40B4-BE49-F238E27FC236}">
                  <a16:creationId xmlns:a16="http://schemas.microsoft.com/office/drawing/2014/main" id="{1C83DCEB-3A38-A0C6-A4CA-BB1D0225A235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54">
              <a:extLst>
                <a:ext uri="{FF2B5EF4-FFF2-40B4-BE49-F238E27FC236}">
                  <a16:creationId xmlns:a16="http://schemas.microsoft.com/office/drawing/2014/main" id="{BF3175F1-2AFE-6049-78D9-4F8B8BFCDF10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5">
              <a:extLst>
                <a:ext uri="{FF2B5EF4-FFF2-40B4-BE49-F238E27FC236}">
                  <a16:creationId xmlns:a16="http://schemas.microsoft.com/office/drawing/2014/main" id="{F706CCDC-AC83-88E9-0A9D-7CD497D1AC88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56">
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57">
              <a:extLst>
                <a:ext uri="{FF2B5EF4-FFF2-40B4-BE49-F238E27FC236}">
                  <a16:creationId xmlns:a16="http://schemas.microsoft.com/office/drawing/2014/main" id="{684EEE25-EB82-2BAF-3DBA-1B3F1CDF6422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58">
              <a:extLst>
                <a:ext uri="{FF2B5EF4-FFF2-40B4-BE49-F238E27FC236}">
                  <a16:creationId xmlns:a16="http://schemas.microsoft.com/office/drawing/2014/main" id="{E9EE58BF-E3AE-1600-F4CB-0FCD5F6571FD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59">
              <a:extLst>
                <a:ext uri="{FF2B5EF4-FFF2-40B4-BE49-F238E27FC236}">
                  <a16:creationId xmlns:a16="http://schemas.microsoft.com/office/drawing/2014/main" id="{A8C472A5-1548-E115-4A81-1D7B3F25970D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260">
              <a:extLst>
                <a:ext uri="{FF2B5EF4-FFF2-40B4-BE49-F238E27FC236}">
                  <a16:creationId xmlns:a16="http://schemas.microsoft.com/office/drawing/2014/main" id="{6D8F19FE-7B4A-D487-38DE-C876447F8823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261">
              <a:extLst>
                <a:ext uri="{FF2B5EF4-FFF2-40B4-BE49-F238E27FC236}">
                  <a16:creationId xmlns:a16="http://schemas.microsoft.com/office/drawing/2014/main" id="{85880796-3995-7DD0-9FCE-52BC0FE8011B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262">
              <a:extLst>
                <a:ext uri="{FF2B5EF4-FFF2-40B4-BE49-F238E27FC236}">
                  <a16:creationId xmlns:a16="http://schemas.microsoft.com/office/drawing/2014/main" id="{7A3BB1E4-B52A-4331-26C0-D07C5908FF09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263">
              <a:extLst>
                <a:ext uri="{FF2B5EF4-FFF2-40B4-BE49-F238E27FC236}">
                  <a16:creationId xmlns:a16="http://schemas.microsoft.com/office/drawing/2014/main" id="{A7EB8896-2BDC-8643-A652-49D4F48198DE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264">
              <a:extLst>
                <a:ext uri="{FF2B5EF4-FFF2-40B4-BE49-F238E27FC236}">
                  <a16:creationId xmlns:a16="http://schemas.microsoft.com/office/drawing/2014/main" id="{7000CBE9-10B3-9F6D-4CA6-90CFC127D1D6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265">
              <a:extLst>
                <a:ext uri="{FF2B5EF4-FFF2-40B4-BE49-F238E27FC236}">
                  <a16:creationId xmlns:a16="http://schemas.microsoft.com/office/drawing/2014/main" id="{AD691C2B-12EB-E4B9-4C43-26304860416D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266">
              <a:extLst>
                <a:ext uri="{FF2B5EF4-FFF2-40B4-BE49-F238E27FC236}">
                  <a16:creationId xmlns:a16="http://schemas.microsoft.com/office/drawing/2014/main" id="{4AC99D68-7A02-241C-4F22-D59FFA1A553D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267">
              <a:extLst>
                <a:ext uri="{FF2B5EF4-FFF2-40B4-BE49-F238E27FC236}">
                  <a16:creationId xmlns:a16="http://schemas.microsoft.com/office/drawing/2014/main" id="{54BE72A4-3976-3AFF-7F84-2A3C1A6AEBDD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268">
              <a:extLst>
                <a:ext uri="{FF2B5EF4-FFF2-40B4-BE49-F238E27FC236}">
                  <a16:creationId xmlns:a16="http://schemas.microsoft.com/office/drawing/2014/main" id="{04627866-1D24-82CF-D9E2-BA086765C502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269">
              <a:extLst>
                <a:ext uri="{FF2B5EF4-FFF2-40B4-BE49-F238E27FC236}">
                  <a16:creationId xmlns:a16="http://schemas.microsoft.com/office/drawing/2014/main" id="{7EDF6134-F027-3BAB-CF5A-FD1E4E847FB0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270">
              <a:extLst>
                <a:ext uri="{FF2B5EF4-FFF2-40B4-BE49-F238E27FC236}">
                  <a16:creationId xmlns:a16="http://schemas.microsoft.com/office/drawing/2014/main" id="{A402285A-743E-879A-1CB3-427A9EFAF8F6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271">
              <a:extLst>
                <a:ext uri="{FF2B5EF4-FFF2-40B4-BE49-F238E27FC236}">
                  <a16:creationId xmlns:a16="http://schemas.microsoft.com/office/drawing/2014/main" id="{CDF38AEF-3852-6FA3-D47A-EE40384D613B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272">
              <a:extLst>
                <a:ext uri="{FF2B5EF4-FFF2-40B4-BE49-F238E27FC236}">
                  <a16:creationId xmlns:a16="http://schemas.microsoft.com/office/drawing/2014/main" id="{7F7D9B86-FDCD-7B7A-142C-68DBE3AFB860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273">
              <a:extLst>
                <a:ext uri="{FF2B5EF4-FFF2-40B4-BE49-F238E27FC236}">
                  <a16:creationId xmlns:a16="http://schemas.microsoft.com/office/drawing/2014/main" id="{0545F8F0-EDE5-E33A-A116-CB7D7DA2BE8D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274">
              <a:extLst>
                <a:ext uri="{FF2B5EF4-FFF2-40B4-BE49-F238E27FC236}">
                  <a16:creationId xmlns:a16="http://schemas.microsoft.com/office/drawing/2014/main" id="{9B4BCC71-8A66-5C1F-86D3-A1FE8EA9BD2F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275">
              <a:extLst>
                <a:ext uri="{FF2B5EF4-FFF2-40B4-BE49-F238E27FC236}">
                  <a16:creationId xmlns:a16="http://schemas.microsoft.com/office/drawing/2014/main" id="{2400AEE8-06B9-2572-AFF9-F8AC8ED02D91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276">
              <a:extLst>
                <a:ext uri="{FF2B5EF4-FFF2-40B4-BE49-F238E27FC236}">
                  <a16:creationId xmlns:a16="http://schemas.microsoft.com/office/drawing/2014/main" id="{04EFCF03-939C-E11F-0604-99515E053381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277">
              <a:extLst>
                <a:ext uri="{FF2B5EF4-FFF2-40B4-BE49-F238E27FC236}">
                  <a16:creationId xmlns:a16="http://schemas.microsoft.com/office/drawing/2014/main" id="{DC79C245-CC5F-E551-EF50-1C83285E5E68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278">
              <a:extLst>
                <a:ext uri="{FF2B5EF4-FFF2-40B4-BE49-F238E27FC236}">
                  <a16:creationId xmlns:a16="http://schemas.microsoft.com/office/drawing/2014/main" id="{0ACD7536-8DA4-112B-18BD-97C34F4D4C86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 279">
              <a:extLst>
                <a:ext uri="{FF2B5EF4-FFF2-40B4-BE49-F238E27FC236}">
                  <a16:creationId xmlns:a16="http://schemas.microsoft.com/office/drawing/2014/main" id="{93A0F17A-E427-AFE7-D4DC-91FBAEEB04C3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 280">
              <a:extLst>
                <a:ext uri="{FF2B5EF4-FFF2-40B4-BE49-F238E27FC236}">
                  <a16:creationId xmlns:a16="http://schemas.microsoft.com/office/drawing/2014/main" id="{9CF52E47-CD06-31C8-D100-F8D42B50824C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 281">
              <a:extLst>
                <a:ext uri="{FF2B5EF4-FFF2-40B4-BE49-F238E27FC236}">
                  <a16:creationId xmlns:a16="http://schemas.microsoft.com/office/drawing/2014/main" id="{02F766D1-D6E7-2A70-6476-9C0BE030E937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 282">
              <a:extLst>
                <a:ext uri="{FF2B5EF4-FFF2-40B4-BE49-F238E27FC236}">
                  <a16:creationId xmlns:a16="http://schemas.microsoft.com/office/drawing/2014/main" id="{62E165E7-4399-7064-1C2C-4DB098825B15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 283">
              <a:extLst>
                <a:ext uri="{FF2B5EF4-FFF2-40B4-BE49-F238E27FC236}">
                  <a16:creationId xmlns:a16="http://schemas.microsoft.com/office/drawing/2014/main" id="{0AFAE7C2-CB9F-3279-4D55-44986183B4F6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 284">
              <a:extLst>
                <a:ext uri="{FF2B5EF4-FFF2-40B4-BE49-F238E27FC236}">
                  <a16:creationId xmlns:a16="http://schemas.microsoft.com/office/drawing/2014/main" id="{4763F589-9179-D1B2-AD9C-317A86210B70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285">
              <a:extLst>
                <a:ext uri="{FF2B5EF4-FFF2-40B4-BE49-F238E27FC236}">
                  <a16:creationId xmlns:a16="http://schemas.microsoft.com/office/drawing/2014/main" id="{7EC2BB8E-6F92-2172-603E-D03739873629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 286">
              <a:extLst>
                <a:ext uri="{FF2B5EF4-FFF2-40B4-BE49-F238E27FC236}">
                  <a16:creationId xmlns:a16="http://schemas.microsoft.com/office/drawing/2014/main" id="{8C6977FC-772A-620A-C44C-54C6B7BF5431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 287">
              <a:extLst>
                <a:ext uri="{FF2B5EF4-FFF2-40B4-BE49-F238E27FC236}">
                  <a16:creationId xmlns:a16="http://schemas.microsoft.com/office/drawing/2014/main" id="{079F7575-6CFE-1AB6-EB35-66C7169659DC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 288">
              <a:extLst>
                <a:ext uri="{FF2B5EF4-FFF2-40B4-BE49-F238E27FC236}">
                  <a16:creationId xmlns:a16="http://schemas.microsoft.com/office/drawing/2014/main" id="{B09991AC-8C98-27A0-49B2-7C0CD12EC9AA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 289">
              <a:extLst>
                <a:ext uri="{FF2B5EF4-FFF2-40B4-BE49-F238E27FC236}">
                  <a16:creationId xmlns:a16="http://schemas.microsoft.com/office/drawing/2014/main" id="{61948943-241A-C146-7974-AC56547657EC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290">
              <a:extLst>
                <a:ext uri="{FF2B5EF4-FFF2-40B4-BE49-F238E27FC236}">
                  <a16:creationId xmlns:a16="http://schemas.microsoft.com/office/drawing/2014/main" id="{E9E86403-2F53-B9CD-5D94-0236184FB642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291">
              <a:extLst>
                <a:ext uri="{FF2B5EF4-FFF2-40B4-BE49-F238E27FC236}">
                  <a16:creationId xmlns:a16="http://schemas.microsoft.com/office/drawing/2014/main" id="{0105863D-130F-6923-B068-3B9AA6F2FEB8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292">
              <a:extLst>
                <a:ext uri="{FF2B5EF4-FFF2-40B4-BE49-F238E27FC236}">
                  <a16:creationId xmlns:a16="http://schemas.microsoft.com/office/drawing/2014/main" id="{04729A33-6AAB-DECD-D250-0F06BE04C853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293">
              <a:extLst>
                <a:ext uri="{FF2B5EF4-FFF2-40B4-BE49-F238E27FC236}">
                  <a16:creationId xmlns:a16="http://schemas.microsoft.com/office/drawing/2014/main" id="{55BAC74C-3404-9432-3BBD-3B06F989EB76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294">
              <a:extLst>
                <a:ext uri="{FF2B5EF4-FFF2-40B4-BE49-F238E27FC236}">
                  <a16:creationId xmlns:a16="http://schemas.microsoft.com/office/drawing/2014/main" id="{5DA98854-2244-A866-9220-9730EA0A9136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295">
              <a:extLst>
                <a:ext uri="{FF2B5EF4-FFF2-40B4-BE49-F238E27FC236}">
                  <a16:creationId xmlns:a16="http://schemas.microsoft.com/office/drawing/2014/main" id="{E51E2FC1-C3BB-275E-774C-521F556090E0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296">
              <a:extLst>
                <a:ext uri="{FF2B5EF4-FFF2-40B4-BE49-F238E27FC236}">
                  <a16:creationId xmlns:a16="http://schemas.microsoft.com/office/drawing/2014/main" id="{7EBA5597-2DE4-F70D-C2BA-9A5C25A97474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297">
              <a:extLst>
                <a:ext uri="{FF2B5EF4-FFF2-40B4-BE49-F238E27FC236}">
                  <a16:creationId xmlns:a16="http://schemas.microsoft.com/office/drawing/2014/main" id="{A173B691-739C-28B4-72A6-A37F8AA197BD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298">
              <a:extLst>
                <a:ext uri="{FF2B5EF4-FFF2-40B4-BE49-F238E27FC236}">
                  <a16:creationId xmlns:a16="http://schemas.microsoft.com/office/drawing/2014/main" id="{4F404103-5627-0AD5-F247-9B736861304F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 299">
              <a:extLst>
                <a:ext uri="{FF2B5EF4-FFF2-40B4-BE49-F238E27FC236}">
                  <a16:creationId xmlns:a16="http://schemas.microsoft.com/office/drawing/2014/main" id="{D307DD59-9CB6-017C-F7FC-4DBD1F066E3C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 300">
              <a:extLst>
                <a:ext uri="{FF2B5EF4-FFF2-40B4-BE49-F238E27FC236}">
                  <a16:creationId xmlns:a16="http://schemas.microsoft.com/office/drawing/2014/main" id="{35645119-8E30-EE06-F06F-72608B287F70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 301">
              <a:extLst>
                <a:ext uri="{FF2B5EF4-FFF2-40B4-BE49-F238E27FC236}">
                  <a16:creationId xmlns:a16="http://schemas.microsoft.com/office/drawing/2014/main" id="{520ADB30-61E1-C1D4-8060-4640309DCB79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 302">
              <a:extLst>
                <a:ext uri="{FF2B5EF4-FFF2-40B4-BE49-F238E27FC236}">
                  <a16:creationId xmlns:a16="http://schemas.microsoft.com/office/drawing/2014/main" id="{2F44DB4A-F757-FEA3-57A5-5E02BCC828E8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 303">
              <a:extLst>
                <a:ext uri="{FF2B5EF4-FFF2-40B4-BE49-F238E27FC236}">
                  <a16:creationId xmlns:a16="http://schemas.microsoft.com/office/drawing/2014/main" id="{53A35279-71A2-7400-8A4D-7037653B59F8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 304">
              <a:extLst>
                <a:ext uri="{FF2B5EF4-FFF2-40B4-BE49-F238E27FC236}">
                  <a16:creationId xmlns:a16="http://schemas.microsoft.com/office/drawing/2014/main" id="{9C3819D9-CB2F-B48E-880D-B78863EED1EA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 305">
              <a:extLst>
                <a:ext uri="{FF2B5EF4-FFF2-40B4-BE49-F238E27FC236}">
                  <a16:creationId xmlns:a16="http://schemas.microsoft.com/office/drawing/2014/main" id="{3FFC4F42-A7F0-427C-59B2-CAEF1A919C27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 306">
              <a:extLst>
                <a:ext uri="{FF2B5EF4-FFF2-40B4-BE49-F238E27FC236}">
                  <a16:creationId xmlns:a16="http://schemas.microsoft.com/office/drawing/2014/main" id="{594D297A-6004-FE23-5476-4EF161E4E6EA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 307">
              <a:extLst>
                <a:ext uri="{FF2B5EF4-FFF2-40B4-BE49-F238E27FC236}">
                  <a16:creationId xmlns:a16="http://schemas.microsoft.com/office/drawing/2014/main" id="{22F898E2-FDF3-D8C1-BEF0-5E5BCD511F52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 308">
              <a:extLst>
                <a:ext uri="{FF2B5EF4-FFF2-40B4-BE49-F238E27FC236}">
                  <a16:creationId xmlns:a16="http://schemas.microsoft.com/office/drawing/2014/main" id="{EEA40823-C830-F8FF-B89E-49FA0F5EE2C2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 309">
              <a:extLst>
                <a:ext uri="{FF2B5EF4-FFF2-40B4-BE49-F238E27FC236}">
                  <a16:creationId xmlns:a16="http://schemas.microsoft.com/office/drawing/2014/main" id="{769B68F7-11DE-957E-805B-CE96C692DFE7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310">
              <a:extLst>
                <a:ext uri="{FF2B5EF4-FFF2-40B4-BE49-F238E27FC236}">
                  <a16:creationId xmlns:a16="http://schemas.microsoft.com/office/drawing/2014/main" id="{BE071A37-6A7D-BC74-7A47-07CAEE6715AA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311">
              <a:extLst>
                <a:ext uri="{FF2B5EF4-FFF2-40B4-BE49-F238E27FC236}">
                  <a16:creationId xmlns:a16="http://schemas.microsoft.com/office/drawing/2014/main" id="{9C727870-0781-5B77-DED8-5B2650FF21D7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 312">
              <a:extLst>
                <a:ext uri="{FF2B5EF4-FFF2-40B4-BE49-F238E27FC236}">
                  <a16:creationId xmlns:a16="http://schemas.microsoft.com/office/drawing/2014/main" id="{E234E33C-F184-7D59-4447-3FB2D158FB07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 313">
              <a:extLst>
                <a:ext uri="{FF2B5EF4-FFF2-40B4-BE49-F238E27FC236}">
                  <a16:creationId xmlns:a16="http://schemas.microsoft.com/office/drawing/2014/main" id="{53C25EE3-50BA-6A81-86A0-EBDEC5FACC00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 314">
              <a:extLst>
                <a:ext uri="{FF2B5EF4-FFF2-40B4-BE49-F238E27FC236}">
                  <a16:creationId xmlns:a16="http://schemas.microsoft.com/office/drawing/2014/main" id="{B526AAF5-BFF2-686C-368E-0D4900ACE513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 315">
              <a:extLst>
                <a:ext uri="{FF2B5EF4-FFF2-40B4-BE49-F238E27FC236}">
                  <a16:creationId xmlns:a16="http://schemas.microsoft.com/office/drawing/2014/main" id="{89EC059F-DEDE-3657-0069-6708A6F58348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 316">
              <a:extLst>
                <a:ext uri="{FF2B5EF4-FFF2-40B4-BE49-F238E27FC236}">
                  <a16:creationId xmlns:a16="http://schemas.microsoft.com/office/drawing/2014/main" id="{061314DC-6257-31AD-0837-E6F07AB24F44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 317">
              <a:extLst>
                <a:ext uri="{FF2B5EF4-FFF2-40B4-BE49-F238E27FC236}">
                  <a16:creationId xmlns:a16="http://schemas.microsoft.com/office/drawing/2014/main" id="{02C1C396-CF37-EB0C-4469-25A364B0112A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 318">
              <a:extLst>
                <a:ext uri="{FF2B5EF4-FFF2-40B4-BE49-F238E27FC236}">
                  <a16:creationId xmlns:a16="http://schemas.microsoft.com/office/drawing/2014/main" id="{B7B1C815-38DC-EA2D-7666-4A1B07AB455B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 319">
              <a:extLst>
                <a:ext uri="{FF2B5EF4-FFF2-40B4-BE49-F238E27FC236}">
                  <a16:creationId xmlns:a16="http://schemas.microsoft.com/office/drawing/2014/main" id="{7958C820-B0DD-A058-14E6-14D70FFF2099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 320">
              <a:extLst>
                <a:ext uri="{FF2B5EF4-FFF2-40B4-BE49-F238E27FC236}">
                  <a16:creationId xmlns:a16="http://schemas.microsoft.com/office/drawing/2014/main" id="{8F678B17-B779-E279-ED8F-2CF404C04ECA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 321">
              <a:extLst>
                <a:ext uri="{FF2B5EF4-FFF2-40B4-BE49-F238E27FC236}">
                  <a16:creationId xmlns:a16="http://schemas.microsoft.com/office/drawing/2014/main" id="{E1B3CF33-3BAE-1911-C3FD-D26E2B24FA3F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 322">
              <a:extLst>
                <a:ext uri="{FF2B5EF4-FFF2-40B4-BE49-F238E27FC236}">
                  <a16:creationId xmlns:a16="http://schemas.microsoft.com/office/drawing/2014/main" id="{FEB874B0-2D55-7A9C-BB5F-A1A12EBA8267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 323">
              <a:extLst>
                <a:ext uri="{FF2B5EF4-FFF2-40B4-BE49-F238E27FC236}">
                  <a16:creationId xmlns:a16="http://schemas.microsoft.com/office/drawing/2014/main" id="{3B0F4EF5-6A22-2B2D-53B9-1864A8B66298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 324">
              <a:extLst>
                <a:ext uri="{FF2B5EF4-FFF2-40B4-BE49-F238E27FC236}">
                  <a16:creationId xmlns:a16="http://schemas.microsoft.com/office/drawing/2014/main" id="{7A31CD1D-00E2-6409-6DA0-F02DAE2ABB3C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 325">
              <a:extLst>
                <a:ext uri="{FF2B5EF4-FFF2-40B4-BE49-F238E27FC236}">
                  <a16:creationId xmlns:a16="http://schemas.microsoft.com/office/drawing/2014/main" id="{4BB2A949-36D3-992C-E682-714DA942F851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 326">
              <a:extLst>
                <a:ext uri="{FF2B5EF4-FFF2-40B4-BE49-F238E27FC236}">
                  <a16:creationId xmlns:a16="http://schemas.microsoft.com/office/drawing/2014/main" id="{C0997F44-C739-EF34-DB70-9050B94EA2AA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 327">
              <a:extLst>
                <a:ext uri="{FF2B5EF4-FFF2-40B4-BE49-F238E27FC236}">
                  <a16:creationId xmlns:a16="http://schemas.microsoft.com/office/drawing/2014/main" id="{C48E8F71-C636-6F49-B32B-22E6DD84D11A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 328">
              <a:extLst>
                <a:ext uri="{FF2B5EF4-FFF2-40B4-BE49-F238E27FC236}">
                  <a16:creationId xmlns:a16="http://schemas.microsoft.com/office/drawing/2014/main" id="{9956FBA4-9A5D-8DCA-B730-FE763401A2DD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329">
              <a:extLst>
                <a:ext uri="{FF2B5EF4-FFF2-40B4-BE49-F238E27FC236}">
                  <a16:creationId xmlns:a16="http://schemas.microsoft.com/office/drawing/2014/main" id="{6E0683F0-C2C6-E2C4-E2C8-A77730F882EA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330">
              <a:extLst>
                <a:ext uri="{FF2B5EF4-FFF2-40B4-BE49-F238E27FC236}">
                  <a16:creationId xmlns:a16="http://schemas.microsoft.com/office/drawing/2014/main" id="{4B2341E6-3531-1C62-346D-FA3D694EAF27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331">
              <a:extLst>
                <a:ext uri="{FF2B5EF4-FFF2-40B4-BE49-F238E27FC236}">
                  <a16:creationId xmlns:a16="http://schemas.microsoft.com/office/drawing/2014/main" id="{5A15176E-8D46-67CA-ACB3-B297B44844DF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332">
              <a:extLst>
                <a:ext uri="{FF2B5EF4-FFF2-40B4-BE49-F238E27FC236}">
                  <a16:creationId xmlns:a16="http://schemas.microsoft.com/office/drawing/2014/main" id="{FEF7B784-CDD9-9C5C-7549-1A4F39DA34C0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333">
              <a:extLst>
                <a:ext uri="{FF2B5EF4-FFF2-40B4-BE49-F238E27FC236}">
                  <a16:creationId xmlns:a16="http://schemas.microsoft.com/office/drawing/2014/main" id="{E1812F63-E9F5-A391-5B13-D1E87C610617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334">
              <a:extLst>
                <a:ext uri="{FF2B5EF4-FFF2-40B4-BE49-F238E27FC236}">
                  <a16:creationId xmlns:a16="http://schemas.microsoft.com/office/drawing/2014/main" id="{B4FD1381-76B4-B956-4870-7981801931D7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335">
              <a:extLst>
                <a:ext uri="{FF2B5EF4-FFF2-40B4-BE49-F238E27FC236}">
                  <a16:creationId xmlns:a16="http://schemas.microsoft.com/office/drawing/2014/main" id="{72A2F4D3-D535-F2F7-4AE9-CACFA884D7F6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336">
              <a:extLst>
                <a:ext uri="{FF2B5EF4-FFF2-40B4-BE49-F238E27FC236}">
                  <a16:creationId xmlns:a16="http://schemas.microsoft.com/office/drawing/2014/main" id="{513F34C4-5561-4A66-6EC3-C7031AEE256C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1" name="Freeform 337">
              <a:extLst>
                <a:ext uri="{FF2B5EF4-FFF2-40B4-BE49-F238E27FC236}">
                  <a16:creationId xmlns:a16="http://schemas.microsoft.com/office/drawing/2014/main" id="{BBDF5EE4-42E4-30D8-EF06-56AF2A61FA0D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338">
              <a:extLst>
                <a:ext uri="{FF2B5EF4-FFF2-40B4-BE49-F238E27FC236}">
                  <a16:creationId xmlns:a16="http://schemas.microsoft.com/office/drawing/2014/main" id="{E88281BB-78BD-F586-3050-F5BB9E968BF6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 339">
              <a:extLst>
                <a:ext uri="{FF2B5EF4-FFF2-40B4-BE49-F238E27FC236}">
                  <a16:creationId xmlns:a16="http://schemas.microsoft.com/office/drawing/2014/main" id="{5B744C60-B932-874C-BC1C-9ED54B74D352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 340">
              <a:extLst>
                <a:ext uri="{FF2B5EF4-FFF2-40B4-BE49-F238E27FC236}">
                  <a16:creationId xmlns:a16="http://schemas.microsoft.com/office/drawing/2014/main" id="{DD8E143E-A1A6-24A1-B19A-BAD29312ECB9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 341">
              <a:extLst>
                <a:ext uri="{FF2B5EF4-FFF2-40B4-BE49-F238E27FC236}">
                  <a16:creationId xmlns:a16="http://schemas.microsoft.com/office/drawing/2014/main" id="{B5BC82C6-F513-7460-3624-B4094AD72E7D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7" name="Freeform 342">
              <a:extLst>
                <a:ext uri="{FF2B5EF4-FFF2-40B4-BE49-F238E27FC236}">
                  <a16:creationId xmlns:a16="http://schemas.microsoft.com/office/drawing/2014/main" id="{29EE806A-DB93-97CC-6EB9-A5D9A274010C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8" name="Freeform 343">
              <a:extLst>
                <a:ext uri="{FF2B5EF4-FFF2-40B4-BE49-F238E27FC236}">
                  <a16:creationId xmlns:a16="http://schemas.microsoft.com/office/drawing/2014/main" id="{D8862B54-8EFB-0F70-6140-896F999A113A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9" name="Freeform 344">
              <a:extLst>
                <a:ext uri="{FF2B5EF4-FFF2-40B4-BE49-F238E27FC236}">
                  <a16:creationId xmlns:a16="http://schemas.microsoft.com/office/drawing/2014/main" id="{E521F95E-9EF5-BE5B-5788-C6EB9A580CC2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Freeform 345">
              <a:extLst>
                <a:ext uri="{FF2B5EF4-FFF2-40B4-BE49-F238E27FC236}">
                  <a16:creationId xmlns:a16="http://schemas.microsoft.com/office/drawing/2014/main" id="{C195EFE0-A67A-C3DE-E11A-39AFAD17682F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1" name="Freeform 346">
              <a:extLst>
                <a:ext uri="{FF2B5EF4-FFF2-40B4-BE49-F238E27FC236}">
                  <a16:creationId xmlns:a16="http://schemas.microsoft.com/office/drawing/2014/main" id="{803CF0B1-7433-D03F-2AA8-A74601A1C376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2" name="Freeform 347">
              <a:extLst>
                <a:ext uri="{FF2B5EF4-FFF2-40B4-BE49-F238E27FC236}">
                  <a16:creationId xmlns:a16="http://schemas.microsoft.com/office/drawing/2014/main" id="{0DC147C0-CAAA-EF85-3A14-2BD29C467923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3" name="Freeform 348">
              <a:extLst>
                <a:ext uri="{FF2B5EF4-FFF2-40B4-BE49-F238E27FC236}">
                  <a16:creationId xmlns:a16="http://schemas.microsoft.com/office/drawing/2014/main" id="{77084748-7BF7-26EA-DDCD-83F2324941C0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4" name="Freeform 349">
              <a:extLst>
                <a:ext uri="{FF2B5EF4-FFF2-40B4-BE49-F238E27FC236}">
                  <a16:creationId xmlns:a16="http://schemas.microsoft.com/office/drawing/2014/main" id="{997F60F6-6479-0922-A2D6-8CDF7727F3F9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5" name="Freeform 350">
              <a:extLst>
                <a:ext uri="{FF2B5EF4-FFF2-40B4-BE49-F238E27FC236}">
                  <a16:creationId xmlns:a16="http://schemas.microsoft.com/office/drawing/2014/main" id="{86D09209-2BB7-603B-A486-A3E72563A18C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6" name="Freeform 351">
              <a:extLst>
                <a:ext uri="{FF2B5EF4-FFF2-40B4-BE49-F238E27FC236}">
                  <a16:creationId xmlns:a16="http://schemas.microsoft.com/office/drawing/2014/main" id="{E193E160-CC4C-ADCF-3602-E90B6152CA5B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7" name="Freeform 352">
              <a:extLst>
                <a:ext uri="{FF2B5EF4-FFF2-40B4-BE49-F238E27FC236}">
                  <a16:creationId xmlns:a16="http://schemas.microsoft.com/office/drawing/2014/main" id="{761E64BC-0D91-A2A4-A804-DCE00CA663B2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8" name="Freeform 353">
              <a:extLst>
                <a:ext uri="{FF2B5EF4-FFF2-40B4-BE49-F238E27FC236}">
                  <a16:creationId xmlns:a16="http://schemas.microsoft.com/office/drawing/2014/main" id="{66A2CD2B-7D90-2997-751C-596FD9888937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9" name="Freeform 354">
              <a:extLst>
                <a:ext uri="{FF2B5EF4-FFF2-40B4-BE49-F238E27FC236}">
                  <a16:creationId xmlns:a16="http://schemas.microsoft.com/office/drawing/2014/main" id="{7872A2EE-BD4B-DB9B-78EA-B058DADEC58B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0" name="Freeform 355">
              <a:extLst>
                <a:ext uri="{FF2B5EF4-FFF2-40B4-BE49-F238E27FC236}">
                  <a16:creationId xmlns:a16="http://schemas.microsoft.com/office/drawing/2014/main" id="{5E76BC4E-A828-F260-6567-D58F24BE3952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71" name="Rectangle 370">
            <a:extLst>
              <a:ext uri="{FF2B5EF4-FFF2-40B4-BE49-F238E27FC236}">
                <a16:creationId xmlns:a16="http://schemas.microsoft.com/office/drawing/2014/main" id="{5B668AF4-C6C5-C967-F789-9FB79430E73B}"/>
              </a:ext>
            </a:extLst>
          </p:cNvPr>
          <p:cNvSpPr/>
          <p:nvPr/>
        </p:nvSpPr>
        <p:spPr>
          <a:xfrm>
            <a:off x="1082078" y="662619"/>
            <a:ext cx="8622747" cy="7590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0" rIns="0" bIns="0" rtlCol="0" anchor="t" anchorCtr="0"/>
          <a:lstStyle/>
          <a:p>
            <a:r>
              <a:rPr lang="en-IN" sz="4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</a:t>
            </a:r>
            <a:endParaRPr lang="en-US" sz="4400" b="1" kern="100" dirty="0">
              <a:solidFill>
                <a:srgbClr val="FF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4715F17F-A6CC-F2CD-96D3-C5E7A30361F8}"/>
              </a:ext>
            </a:extLst>
          </p:cNvPr>
          <p:cNvSpPr txBox="1"/>
          <p:nvPr/>
        </p:nvSpPr>
        <p:spPr>
          <a:xfrm>
            <a:off x="1219653" y="1431017"/>
            <a:ext cx="10214011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000" b="1" dirty="0"/>
              <a:t>Language:</a:t>
            </a:r>
            <a:r>
              <a:rPr lang="en-IN" sz="3000" dirty="0"/>
              <a:t> Python 3.10+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000" b="1" dirty="0"/>
              <a:t>Deep Learning Framework:</a:t>
            </a:r>
            <a:r>
              <a:rPr lang="en-IN" sz="3000" dirty="0"/>
              <a:t> </a:t>
            </a:r>
            <a:r>
              <a:rPr lang="en-IN" sz="3000" dirty="0" err="1"/>
              <a:t>PyTorch</a:t>
            </a:r>
            <a:r>
              <a:rPr lang="en-IN" sz="3000" dirty="0"/>
              <a:t> 2.x (with </a:t>
            </a:r>
            <a:r>
              <a:rPr lang="en-IN" sz="3000" dirty="0" err="1"/>
              <a:t>Torchvision</a:t>
            </a:r>
            <a:r>
              <a:rPr lang="en-IN" sz="3000" dirty="0"/>
              <a:t>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000" b="1" dirty="0"/>
              <a:t>Environment Management:</a:t>
            </a:r>
            <a:r>
              <a:rPr lang="en-IN" sz="3000" dirty="0"/>
              <a:t> </a:t>
            </a:r>
            <a:r>
              <a:rPr lang="en-IN" sz="3000" dirty="0" err="1"/>
              <a:t>uv</a:t>
            </a:r>
            <a:r>
              <a:rPr lang="en-IN" sz="3000" dirty="0"/>
              <a:t> (Fast, isolated Python package manager)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000" b="1" dirty="0"/>
              <a:t>Hardware / Infrastructure:</a:t>
            </a:r>
            <a:r>
              <a:rPr lang="en-IN" sz="3000" dirty="0"/>
              <a:t> Remote SSH Server with NVIDIA GPU (CUDA accelerated)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000" b="1" dirty="0"/>
              <a:t>Metrics &amp; Logging:</a:t>
            </a:r>
            <a:r>
              <a:rPr lang="en-IN" sz="3000" dirty="0"/>
              <a:t> </a:t>
            </a:r>
            <a:r>
              <a:rPr lang="en-IN" sz="3000" dirty="0" err="1"/>
              <a:t>TensorBoard</a:t>
            </a:r>
            <a:r>
              <a:rPr lang="en-IN" sz="3000" dirty="0"/>
              <a:t> (for real-time tracking), </a:t>
            </a:r>
            <a:r>
              <a:rPr lang="en-IN" sz="3000" dirty="0" err="1"/>
              <a:t>editdistance</a:t>
            </a:r>
            <a:r>
              <a:rPr lang="en-IN" sz="3000" dirty="0"/>
              <a:t> (for CER calculation)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IN" sz="3000" b="1" dirty="0"/>
              <a:t>Data Processing:</a:t>
            </a:r>
            <a:r>
              <a:rPr lang="en-IN" sz="3000" dirty="0"/>
              <a:t> NumPy, Pandas, Pillow (PIL), OpenCV, SciPy</a:t>
            </a:r>
          </a:p>
        </p:txBody>
      </p:sp>
    </p:spTree>
    <p:extLst>
      <p:ext uri="{BB962C8B-B14F-4D97-AF65-F5344CB8AC3E}">
        <p14:creationId xmlns:p14="http://schemas.microsoft.com/office/powerpoint/2010/main" val="8231667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1C3AD-955E-D9D5-EF0D-CF14E7508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DEDA8D12-4438-B4F5-9267-ED7EA71CB0AA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chemeClr val="bg1"/>
          </a:solidFill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DF715486-0AA9-BB5F-DEE5-7542AF1B31B1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C1943C8-DF4E-457C-4CD5-B3A0C15FA4D0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B73FE52-DF53-C042-6EEE-0CA06981AC04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65A6EBA4-ED59-8236-749D-59A714061D89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89B604B-DBCA-FC49-8730-0B5829388AFD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96697789-3CEC-3221-22E5-023FEA315B64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6F946BF5-1445-34B1-BBB4-5FC78B0D476A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9127489-5163-F492-BDF7-230180351C42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56F573D0-1CC5-321C-4521-36743C139265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7E597CE4-ACA2-A6B9-00BB-1D9B8EC24125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D27BD912-407D-B5DB-30FA-8AFD54673C42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EDD4CC4-53B9-40BA-3F77-6D929B3477EB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60541151-DD60-7611-722C-58F63D92F32F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4F9A38CD-6063-60D7-F21C-3E181C0E0ECE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DA140649-CF58-0B9D-4DC6-84C6EEB4250F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3526DC87-F497-CFBC-8362-15506CDCC074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995EFE5-CCB7-DD1C-131A-31AB436EECB3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B20BAD8-F99D-F568-7EC5-C1044D667978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solidFill>
              <a:schemeClr val="bg1"/>
            </a:solidFill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9BE23C7D-BD91-B200-0D75-F08A2D52FD77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B594D4D-B7CB-A1D8-51B5-9341F93A0800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6A02162B-29C6-298A-EA57-BA5E17D3A01D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50259DE9-5426-1773-9B5A-ABB8278E4304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0578A579-74C4-9E9E-DC14-97B150A525E4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F36AC21E-748C-6F54-B6BB-7BFB43B1BBCA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9FF3533D-B543-2AED-2806-BFBF980D1F74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217E0D21-0AFE-4FA1-EDAC-BE2CEC215025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7E3706E2-89D2-B647-F7BC-83FC0042A24F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35F372C1-E2CF-D3D4-78A7-CD61B22625F6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B8069F52-E8AE-BB5D-30CA-BBB685B69EFE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6A13635-BB72-127D-0A61-FCA0E4782D3E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3DA7D246-DA7A-E4EB-E952-C517481B34C3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7DCB092-AC8E-22BB-59DB-C030A3EB1A7D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82C5EE46-BE9E-E77E-3036-B8120A1C3D92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7C199248-2246-AEDE-2D92-08DABF0481D7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63008FBA-7DFA-3839-F783-501811864A63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1E2EF10A-4794-051A-2572-3E777C2A11B5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4D13C6ED-FF1E-5B19-04AE-DAC8986C7301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14FD3D3D-A52C-52B6-8646-367DCE6ECE80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4B8773C1-1E63-4787-6B5E-21094D6267B4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82B8B81E-00A6-5161-D3BB-6E01E494E070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ED4BF83C-7E4C-1243-873C-F81526B01564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6FA4CDCD-C391-AE55-359B-C444F71D6A00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2EB760D7-879E-186B-97F1-F23FDD839DAA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CCB42B33-A0F8-1357-1482-FA098AB4464A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3A86AD7E-C19A-A96A-D8DA-5DA142556ACD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2F32A729-BDD3-9DC6-7BAB-AC7509080764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2A3AD259-A618-C467-142B-4CD8FE70CD79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9508B7E4-CA66-F065-F061-56B150FDE99E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66338066-EE75-5123-41AF-425AFF719F53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4908E9DB-115E-F921-86E6-2F2008014DC4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63289A46-694B-8426-C4AF-B54FFB8ABDB5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8C0C9F4A-6519-7941-F86A-A038BFE54AA5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73F31516-32BD-933B-EDB8-94D739C58F0F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B5A9FD31-E0F9-3E3A-5BF2-6E621DAB674B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08FB11A2-32EA-6877-6262-B8C0F6165940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BAF395EF-FB98-0D38-EDCE-3DD1BC625438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F056C0EC-05C4-AE1D-92C3-75F63EF5BCB5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11E0BBE0-C9AF-20A2-3D2F-A50FD687E437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9862D304-5899-AE4D-D09D-D95F6B2EC567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1B172B5C-DE22-AA36-D80F-2D01501EC6B7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9085F63C-FF39-D5F6-8F79-15BA73488E88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7DC6E81C-BCEC-BDC3-F25E-068FFFAA5E33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A0178983-46E5-F3B8-D834-417443F76565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C887C362-B90D-21B1-E771-AF1F039EABC2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269C97EE-DE32-4709-E3D5-B1A14294229A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D81A4C3A-EDE6-8486-532D-37A0D0D17A50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E9E37873-EF58-65DA-A0AF-71930D35D578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4BD0F7DB-B32D-ABC2-41F1-18788F791345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04BD3422-1B9E-C0D3-9CCC-A4A3874CC21C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28DE45C9-B447-EDFA-03BE-BC9EA2AC334A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6AE8F1F6-C868-24A7-CA65-C798A57AEB20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366EB3CB-E0BC-1524-159C-AB395EE27718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32B6CA77-6248-3225-A77A-B9DC1DB7FD6C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B5F31590-13D6-EB3C-F815-57BDE6F0CFC8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A243F8B-EAA5-F8E5-D246-7E135D57FCCE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64C4D8FD-6CD8-34F1-BB66-3816BBBB3517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1F755220-F7AA-F2CF-F99C-99197F8158E5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CEA5D5A8-8975-FAD6-E64B-B8FF41D9418F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8ACA991D-2D9B-14E6-232B-D8C91422038F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09534260-8484-E5A8-1208-C1A805221C09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18064EEC-C70F-A21B-563D-78ACA0406687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81124FC7-D64B-76EB-FF5E-2E24B27B1A0A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7EF5E7D9-A088-E5B5-1941-34C2B7E7D21B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C793A78B-E1F1-5822-21F8-0B339929F849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1C633B32-9E68-9FBB-A4AB-FBCF318649B4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F723CDB6-D570-FE93-3B6D-64F94D8AF592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4AFC0A83-0E27-8696-76FF-6AA0E13B477F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ACAE9A13-6651-8C99-5A61-0869FB2F9CC3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56AAC5E2-C880-4914-CA76-96DB2637D9AA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16F76CA5-B074-DFB5-FA71-E1C46518AB07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AA05F154-1F2F-22ED-BA46-5C932D1A8BC7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68E99969-F5C7-9A00-0828-911A1FBBC09A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6B359E09-BABF-FBE9-BF20-52AAAAB5AF8A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DCFF3A15-918D-A4DE-C7A5-D96697685C40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7BC52C78-2770-397D-3321-7877BC41E55B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12FE0C99-581A-5870-4A4A-8BEFB6007F63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DF15864B-CB02-9E6C-441B-BFD70A04307B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7A93B092-5DC0-D718-A85B-7A3152E2CFDC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F26955A5-7E4D-028B-C3AF-879A35583D71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934F62CF-B036-079A-D5BB-C9CF8F51ACC5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E7F22E5A-2F99-4AA3-BA46-3D28FD32EB00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62926118-40DE-4777-37BB-4931A95D7B5F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44F1973E-7AAC-C5AE-4D37-18AE87ADEDF5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22180988-4BFB-8C0A-45C8-949D42DEB22F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447B43E6-AB2C-E889-3DEA-5F9A6AFF5840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95CF1BC9-E9B4-FC86-D0C5-AA530B0DC448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E125D5D1-3ADD-553C-C136-44AAA0E32462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A9FF69F6-C374-1FA8-309A-32AE33003FCC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E2E1AFB-9827-2234-6CEE-C45F568EC1FA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75D91E2D-A03F-A0DF-070C-9D14E45CE900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4D6094DE-C4A3-06A5-1DCD-EEB37742BF77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BE25D6FB-F22D-162E-0A59-693A6206536F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AB158D78-3ACB-C1AB-4087-CF1B5FE01619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14CD565B-A9C4-3CBF-250E-789F504B73DF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B04F4FEE-A862-1A40-0784-DF2A3BEFD75D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8AEF44F1-9E2D-17A4-461D-130171D4CC56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85CA2F5D-83A5-4071-17E4-7EB6EA662316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F8511987-504F-AD55-27B2-026FE37D4A74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F5E132FD-BC1B-28C6-8820-459FAE5CECE0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A66ACD38-7D0D-3AF9-D782-A7E6015CDB92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EDD281B-AF3A-BE01-815F-BC92BF466E65}"/>
              </a:ext>
            </a:extLst>
          </p:cNvPr>
          <p:cNvSpPr/>
          <p:nvPr/>
        </p:nvSpPr>
        <p:spPr>
          <a:xfrm>
            <a:off x="814494" y="4624465"/>
            <a:ext cx="5658214" cy="5649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en-US" sz="2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4217BA8F-7283-0C85-9437-6B28BC05037B}"/>
              </a:ext>
            </a:extLst>
          </p:cNvPr>
          <p:cNvSpPr/>
          <p:nvPr/>
        </p:nvSpPr>
        <p:spPr>
          <a:xfrm>
            <a:off x="1040005" y="671003"/>
            <a:ext cx="4103236" cy="4105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r>
              <a:rPr lang="en-US" sz="3600" b="1" dirty="0">
                <a:solidFill>
                  <a:srgbClr val="FF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Outcomes of Project</a:t>
            </a:r>
            <a:endParaRPr lang="en-US" sz="36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67256E-5645-5283-5EA6-EDA3F23EA10E}"/>
              </a:ext>
            </a:extLst>
          </p:cNvPr>
          <p:cNvSpPr txBox="1"/>
          <p:nvPr/>
        </p:nvSpPr>
        <p:spPr>
          <a:xfrm>
            <a:off x="1040005" y="1341763"/>
            <a:ext cx="1039366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200" dirty="0"/>
              <a:t>By generating an Ablation Table, we will prove the following outcomes: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Baseline:</a:t>
            </a:r>
            <a:r>
              <a:rPr lang="en-IN" sz="2200" dirty="0"/>
              <a:t> CTC-</a:t>
            </a:r>
            <a:r>
              <a:rPr lang="en-IN" sz="2200" dirty="0" err="1"/>
              <a:t>BiLSTM</a:t>
            </a:r>
            <a:r>
              <a:rPr lang="en-IN" sz="2200" dirty="0"/>
              <a:t> model achieves a baseline Character Error Rate (CER) (e.g., ~15%).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Architecture Improvement:</a:t>
            </a:r>
            <a:r>
              <a:rPr lang="en-IN" sz="2200" dirty="0"/>
              <a:t> The AR Transformer alone (without constraints or CTC aux) outperforms the CTC baseline due to its autoregressive nature.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Auxiliary Loss Impact:</a:t>
            </a:r>
            <a:r>
              <a:rPr lang="en-IN" sz="2200" dirty="0"/>
              <a:t> Adding the Joint CTC loss (weight 0.3) to the AR model improves convergence speed and overall CER.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Constraint Impact (Core Outcome):</a:t>
            </a:r>
            <a:r>
              <a:rPr lang="en-IN" sz="2200" dirty="0"/>
              <a:t> Applying the Telugu Linguistic Constraints drastically reduces errors on compound characters (Virama breakdown), achieving the lowest overall CER and WER (Word Error Rate).</a:t>
            </a:r>
          </a:p>
        </p:txBody>
      </p:sp>
    </p:spTree>
    <p:extLst>
      <p:ext uri="{BB962C8B-B14F-4D97-AF65-F5344CB8AC3E}">
        <p14:creationId xmlns:p14="http://schemas.microsoft.com/office/powerpoint/2010/main" val="1276465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7757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974A29-DA3F-ADF7-C4CA-BE27632B6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roup 235">
            <a:extLst>
              <a:ext uri="{FF2B5EF4-FFF2-40B4-BE49-F238E27FC236}">
                <a16:creationId xmlns:a16="http://schemas.microsoft.com/office/drawing/2014/main" id="{7C6199C0-7350-333A-C329-96D92E03778F}"/>
              </a:ext>
            </a:extLst>
          </p:cNvPr>
          <p:cNvGrpSpPr/>
          <p:nvPr/>
        </p:nvGrpSpPr>
        <p:grpSpPr>
          <a:xfrm>
            <a:off x="10319546" y="61137"/>
            <a:ext cx="1813078" cy="1709844"/>
            <a:chOff x="4301836" y="1542184"/>
            <a:chExt cx="4242954" cy="4001365"/>
          </a:xfrm>
          <a:solidFill>
            <a:srgbClr val="E7E9DE"/>
          </a:solidFill>
        </p:grpSpPr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6AE6B3D4-C009-49A4-6ADE-ADDD7A6E4E75}"/>
                </a:ext>
              </a:extLst>
            </p:cNvPr>
            <p:cNvSpPr/>
            <p:nvPr/>
          </p:nvSpPr>
          <p:spPr>
            <a:xfrm>
              <a:off x="4301836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95AB0906-8471-BA97-EF9C-DA0F17D5CFE0}"/>
                </a:ext>
              </a:extLst>
            </p:cNvPr>
            <p:cNvSpPr/>
            <p:nvPr/>
          </p:nvSpPr>
          <p:spPr>
            <a:xfrm>
              <a:off x="459104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B49306A8-4479-9AB5-6C75-1038C3585B8E}"/>
                </a:ext>
              </a:extLst>
            </p:cNvPr>
            <p:cNvSpPr/>
            <p:nvPr/>
          </p:nvSpPr>
          <p:spPr>
            <a:xfrm>
              <a:off x="488112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4B6BC0C4-FCFE-687D-3A5D-FB99EC41563E}"/>
                </a:ext>
              </a:extLst>
            </p:cNvPr>
            <p:cNvSpPr/>
            <p:nvPr/>
          </p:nvSpPr>
          <p:spPr>
            <a:xfrm>
              <a:off x="5171209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3E67BAC-8416-CF20-B1B5-8C639B064156}"/>
                </a:ext>
              </a:extLst>
            </p:cNvPr>
            <p:cNvSpPr/>
            <p:nvPr/>
          </p:nvSpPr>
          <p:spPr>
            <a:xfrm>
              <a:off x="546042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7BF4969-44F3-A5F2-52D5-266BFCFF0AC4}"/>
                </a:ext>
              </a:extLst>
            </p:cNvPr>
            <p:cNvSpPr/>
            <p:nvPr/>
          </p:nvSpPr>
          <p:spPr>
            <a:xfrm>
              <a:off x="5750502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16B4015C-0B9F-202F-5B3F-856A66DA4EBA}"/>
                </a:ext>
              </a:extLst>
            </p:cNvPr>
            <p:cNvSpPr/>
            <p:nvPr/>
          </p:nvSpPr>
          <p:spPr>
            <a:xfrm>
              <a:off x="603971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8EA1446B-8C29-AD81-B351-11CE934AF5C9}"/>
                </a:ext>
              </a:extLst>
            </p:cNvPr>
            <p:cNvSpPr/>
            <p:nvPr/>
          </p:nvSpPr>
          <p:spPr>
            <a:xfrm>
              <a:off x="632979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EDE11EA4-9690-34CC-8703-ACC73116E1C1}"/>
                </a:ext>
              </a:extLst>
            </p:cNvPr>
            <p:cNvSpPr/>
            <p:nvPr/>
          </p:nvSpPr>
          <p:spPr>
            <a:xfrm>
              <a:off x="6619875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1EF9F05A-30BD-AFFC-F26A-1745968E9711}"/>
                </a:ext>
              </a:extLst>
            </p:cNvPr>
            <p:cNvSpPr/>
            <p:nvPr/>
          </p:nvSpPr>
          <p:spPr>
            <a:xfrm>
              <a:off x="690908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60CD5D1A-84F9-148B-FE6F-5EE8C543D2F2}"/>
                </a:ext>
              </a:extLst>
            </p:cNvPr>
            <p:cNvSpPr/>
            <p:nvPr/>
          </p:nvSpPr>
          <p:spPr>
            <a:xfrm>
              <a:off x="7199168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E17AAAAF-211A-629C-75E3-4CB110A9F18E}"/>
                </a:ext>
              </a:extLst>
            </p:cNvPr>
            <p:cNvSpPr/>
            <p:nvPr/>
          </p:nvSpPr>
          <p:spPr>
            <a:xfrm>
              <a:off x="7489247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BF112B28-56C4-A92B-AA7A-6B583487AD09}"/>
                </a:ext>
              </a:extLst>
            </p:cNvPr>
            <p:cNvSpPr/>
            <p:nvPr/>
          </p:nvSpPr>
          <p:spPr>
            <a:xfrm>
              <a:off x="777846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CA4899DA-2492-349A-5C54-53C0F450F861}"/>
                </a:ext>
              </a:extLst>
            </p:cNvPr>
            <p:cNvSpPr/>
            <p:nvPr/>
          </p:nvSpPr>
          <p:spPr>
            <a:xfrm>
              <a:off x="8068541" y="1542184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94C37C1F-5C42-9254-9D8C-0FB8D5801238}"/>
                </a:ext>
              </a:extLst>
            </p:cNvPr>
            <p:cNvSpPr/>
            <p:nvPr/>
          </p:nvSpPr>
          <p:spPr>
            <a:xfrm>
              <a:off x="8357754" y="1542184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FD05550B-67F0-7684-5725-0E9CF14FAC8C}"/>
                </a:ext>
              </a:extLst>
            </p:cNvPr>
            <p:cNvSpPr/>
            <p:nvPr/>
          </p:nvSpPr>
          <p:spPr>
            <a:xfrm>
              <a:off x="459104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BC29A3F-1B7D-0869-0034-3F20D24D3064}"/>
                </a:ext>
              </a:extLst>
            </p:cNvPr>
            <p:cNvSpPr/>
            <p:nvPr/>
          </p:nvSpPr>
          <p:spPr>
            <a:xfrm>
              <a:off x="488112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9E8CDFD3-F631-0BCB-8C39-C1070B5868AC}"/>
                </a:ext>
              </a:extLst>
            </p:cNvPr>
            <p:cNvSpPr/>
            <p:nvPr/>
          </p:nvSpPr>
          <p:spPr>
            <a:xfrm>
              <a:off x="5171209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F7ADDCBA-80DA-4A90-F66B-FE4017CED351}"/>
                </a:ext>
              </a:extLst>
            </p:cNvPr>
            <p:cNvSpPr/>
            <p:nvPr/>
          </p:nvSpPr>
          <p:spPr>
            <a:xfrm>
              <a:off x="546042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69"/>
                    <a:pt x="41869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3C5766E8-A61B-3338-6805-C395EAB0BC1C}"/>
                </a:ext>
              </a:extLst>
            </p:cNvPr>
            <p:cNvSpPr/>
            <p:nvPr/>
          </p:nvSpPr>
          <p:spPr>
            <a:xfrm>
              <a:off x="5750502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0B6D0AC4-B277-2EB7-40DB-486DE792B626}"/>
                </a:ext>
              </a:extLst>
            </p:cNvPr>
            <p:cNvSpPr/>
            <p:nvPr/>
          </p:nvSpPr>
          <p:spPr>
            <a:xfrm>
              <a:off x="603971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60D88CF3-520E-A6F1-61ED-249EF8020408}"/>
                </a:ext>
              </a:extLst>
            </p:cNvPr>
            <p:cNvSpPr/>
            <p:nvPr/>
          </p:nvSpPr>
          <p:spPr>
            <a:xfrm>
              <a:off x="632979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4657AEAA-1118-BB92-CED6-3CA305E86D0F}"/>
                </a:ext>
              </a:extLst>
            </p:cNvPr>
            <p:cNvSpPr/>
            <p:nvPr/>
          </p:nvSpPr>
          <p:spPr>
            <a:xfrm>
              <a:off x="6619875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C82A9C3C-C5C2-2532-606F-8EE0DBA2788C}"/>
                </a:ext>
              </a:extLst>
            </p:cNvPr>
            <p:cNvSpPr/>
            <p:nvPr/>
          </p:nvSpPr>
          <p:spPr>
            <a:xfrm>
              <a:off x="690908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31060DBE-04B2-4FEC-0979-A377D9589C29}"/>
                </a:ext>
              </a:extLst>
            </p:cNvPr>
            <p:cNvSpPr/>
            <p:nvPr/>
          </p:nvSpPr>
          <p:spPr>
            <a:xfrm>
              <a:off x="7199168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DD4A6781-0EF9-7938-D753-BB8EE4F8A862}"/>
                </a:ext>
              </a:extLst>
            </p:cNvPr>
            <p:cNvSpPr/>
            <p:nvPr/>
          </p:nvSpPr>
          <p:spPr>
            <a:xfrm>
              <a:off x="7489247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13DA7BBE-2BFE-3BAD-04A1-FE2D0B644933}"/>
                </a:ext>
              </a:extLst>
            </p:cNvPr>
            <p:cNvSpPr/>
            <p:nvPr/>
          </p:nvSpPr>
          <p:spPr>
            <a:xfrm>
              <a:off x="777846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44786BD-BCEC-17AD-31EE-4AABB6325F29}"/>
                </a:ext>
              </a:extLst>
            </p:cNvPr>
            <p:cNvSpPr/>
            <p:nvPr/>
          </p:nvSpPr>
          <p:spPr>
            <a:xfrm>
              <a:off x="8068541" y="181494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9" y="0"/>
                  </a:cubicBezTo>
                  <a:cubicBezTo>
                    <a:pt x="145167" y="0"/>
                    <a:pt x="187037" y="41869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62B78DD8-E84D-20D5-E19C-061974FC1E45}"/>
                </a:ext>
              </a:extLst>
            </p:cNvPr>
            <p:cNvSpPr/>
            <p:nvPr/>
          </p:nvSpPr>
          <p:spPr>
            <a:xfrm>
              <a:off x="8357754" y="181494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69"/>
                    <a:pt x="41870" y="0"/>
                    <a:pt x="93518" y="0"/>
                  </a:cubicBezTo>
                  <a:cubicBezTo>
                    <a:pt x="145167" y="0"/>
                    <a:pt x="187036" y="41869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9BC96E19-0F40-F6B3-B394-D5F160719FAC}"/>
                </a:ext>
              </a:extLst>
            </p:cNvPr>
            <p:cNvSpPr/>
            <p:nvPr/>
          </p:nvSpPr>
          <p:spPr>
            <a:xfrm>
              <a:off x="488112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29BEECD7-44B3-7381-A0B6-A449529903A5}"/>
                </a:ext>
              </a:extLst>
            </p:cNvPr>
            <p:cNvSpPr/>
            <p:nvPr/>
          </p:nvSpPr>
          <p:spPr>
            <a:xfrm>
              <a:off x="5171209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08FD7F62-05E2-FD12-8644-6A6729944868}"/>
                </a:ext>
              </a:extLst>
            </p:cNvPr>
            <p:cNvSpPr/>
            <p:nvPr/>
          </p:nvSpPr>
          <p:spPr>
            <a:xfrm>
              <a:off x="546042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53E3710D-6205-54CC-07D6-B2C1FFF4734B}"/>
                </a:ext>
              </a:extLst>
            </p:cNvPr>
            <p:cNvSpPr/>
            <p:nvPr/>
          </p:nvSpPr>
          <p:spPr>
            <a:xfrm>
              <a:off x="5750502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1B80C728-89C9-0C46-B2B9-323D125B67B9}"/>
                </a:ext>
              </a:extLst>
            </p:cNvPr>
            <p:cNvSpPr/>
            <p:nvPr/>
          </p:nvSpPr>
          <p:spPr>
            <a:xfrm>
              <a:off x="603971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9EE07371-7D0E-E5D5-5778-C76372D5F74C}"/>
                </a:ext>
              </a:extLst>
            </p:cNvPr>
            <p:cNvSpPr/>
            <p:nvPr/>
          </p:nvSpPr>
          <p:spPr>
            <a:xfrm>
              <a:off x="632979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DBC68D5-AD9E-7E5E-CA95-629616B7B4CE}"/>
                </a:ext>
              </a:extLst>
            </p:cNvPr>
            <p:cNvSpPr/>
            <p:nvPr/>
          </p:nvSpPr>
          <p:spPr>
            <a:xfrm>
              <a:off x="6619875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79ADA5C0-6F33-3F19-400F-96CBB076BF12}"/>
                </a:ext>
              </a:extLst>
            </p:cNvPr>
            <p:cNvSpPr/>
            <p:nvPr/>
          </p:nvSpPr>
          <p:spPr>
            <a:xfrm>
              <a:off x="690908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77BA186C-A6A5-9471-1651-35AB949BE0DF}"/>
                </a:ext>
              </a:extLst>
            </p:cNvPr>
            <p:cNvSpPr/>
            <p:nvPr/>
          </p:nvSpPr>
          <p:spPr>
            <a:xfrm>
              <a:off x="7199168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D9E36621-8B6D-9E89-F7A9-A09DBFDDBF66}"/>
                </a:ext>
              </a:extLst>
            </p:cNvPr>
            <p:cNvSpPr/>
            <p:nvPr/>
          </p:nvSpPr>
          <p:spPr>
            <a:xfrm>
              <a:off x="7489247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4591CEC4-43B1-52F0-EDBE-A9EF06D08F2E}"/>
                </a:ext>
              </a:extLst>
            </p:cNvPr>
            <p:cNvSpPr/>
            <p:nvPr/>
          </p:nvSpPr>
          <p:spPr>
            <a:xfrm>
              <a:off x="777846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49056893-5507-9F1E-36FF-EDB5DF28CC65}"/>
                </a:ext>
              </a:extLst>
            </p:cNvPr>
            <p:cNvSpPr/>
            <p:nvPr/>
          </p:nvSpPr>
          <p:spPr>
            <a:xfrm>
              <a:off x="8068541" y="208684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3889EC38-886C-C7D3-0CC6-7E5FD2611EF3}"/>
                </a:ext>
              </a:extLst>
            </p:cNvPr>
            <p:cNvSpPr/>
            <p:nvPr/>
          </p:nvSpPr>
          <p:spPr>
            <a:xfrm>
              <a:off x="8357754" y="208684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97A53E23-78ED-8E56-3323-AEE813FF3539}"/>
                </a:ext>
              </a:extLst>
            </p:cNvPr>
            <p:cNvSpPr/>
            <p:nvPr/>
          </p:nvSpPr>
          <p:spPr>
            <a:xfrm>
              <a:off x="5171209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21C8D3A8-87CF-9E20-2F4D-7A318D724E74}"/>
                </a:ext>
              </a:extLst>
            </p:cNvPr>
            <p:cNvSpPr/>
            <p:nvPr/>
          </p:nvSpPr>
          <p:spPr>
            <a:xfrm>
              <a:off x="546042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9DA6824A-E0EE-820C-0CD5-A609F2C5633B}"/>
                </a:ext>
              </a:extLst>
            </p:cNvPr>
            <p:cNvSpPr/>
            <p:nvPr/>
          </p:nvSpPr>
          <p:spPr>
            <a:xfrm>
              <a:off x="5750502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EA7E7EA4-C06C-3D33-8212-46640F622152}"/>
                </a:ext>
              </a:extLst>
            </p:cNvPr>
            <p:cNvSpPr/>
            <p:nvPr/>
          </p:nvSpPr>
          <p:spPr>
            <a:xfrm>
              <a:off x="603971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76146377-2EF6-EB93-C2C5-124C83647BA4}"/>
                </a:ext>
              </a:extLst>
            </p:cNvPr>
            <p:cNvSpPr/>
            <p:nvPr/>
          </p:nvSpPr>
          <p:spPr>
            <a:xfrm>
              <a:off x="632979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54FAEB72-C74D-353E-0071-47121E68A79B}"/>
                </a:ext>
              </a:extLst>
            </p:cNvPr>
            <p:cNvSpPr/>
            <p:nvPr/>
          </p:nvSpPr>
          <p:spPr>
            <a:xfrm>
              <a:off x="6619875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B483B63E-13E7-22C8-99D5-452884AA5907}"/>
                </a:ext>
              </a:extLst>
            </p:cNvPr>
            <p:cNvSpPr/>
            <p:nvPr/>
          </p:nvSpPr>
          <p:spPr>
            <a:xfrm>
              <a:off x="690908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E606449C-50A1-2F88-BDAC-E9098CFD5D88}"/>
                </a:ext>
              </a:extLst>
            </p:cNvPr>
            <p:cNvSpPr/>
            <p:nvPr/>
          </p:nvSpPr>
          <p:spPr>
            <a:xfrm>
              <a:off x="7199168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0218FB12-7F3F-49C4-E789-B00E0D297524}"/>
                </a:ext>
              </a:extLst>
            </p:cNvPr>
            <p:cNvSpPr/>
            <p:nvPr/>
          </p:nvSpPr>
          <p:spPr>
            <a:xfrm>
              <a:off x="7489247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D22921BC-8D71-AC91-F7C4-CEAB4C422D10}"/>
                </a:ext>
              </a:extLst>
            </p:cNvPr>
            <p:cNvSpPr/>
            <p:nvPr/>
          </p:nvSpPr>
          <p:spPr>
            <a:xfrm>
              <a:off x="777846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B9D9EF7B-83DA-C177-C477-B64036BF05F1}"/>
                </a:ext>
              </a:extLst>
            </p:cNvPr>
            <p:cNvSpPr/>
            <p:nvPr/>
          </p:nvSpPr>
          <p:spPr>
            <a:xfrm>
              <a:off x="8068541" y="2359602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5C631F2F-3F0B-A175-1C87-1D75B94293ED}"/>
                </a:ext>
              </a:extLst>
            </p:cNvPr>
            <p:cNvSpPr/>
            <p:nvPr/>
          </p:nvSpPr>
          <p:spPr>
            <a:xfrm>
              <a:off x="8357754" y="2359602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28686EC7-70F1-2624-D40D-34119C11B7F0}"/>
                </a:ext>
              </a:extLst>
            </p:cNvPr>
            <p:cNvSpPr/>
            <p:nvPr/>
          </p:nvSpPr>
          <p:spPr>
            <a:xfrm>
              <a:off x="546042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69" y="187036"/>
                    <a:pt x="0" y="145167"/>
                    <a:pt x="0" y="93518"/>
                  </a:cubicBezTo>
                  <a:cubicBezTo>
                    <a:pt x="0" y="41870"/>
                    <a:pt x="41869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48DB1D36-94C7-A8CF-3481-F036BFB99DED}"/>
                </a:ext>
              </a:extLst>
            </p:cNvPr>
            <p:cNvSpPr/>
            <p:nvPr/>
          </p:nvSpPr>
          <p:spPr>
            <a:xfrm>
              <a:off x="5750502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97E016A8-5DEB-9A9C-3C4A-2D9BE7C72B0F}"/>
                </a:ext>
              </a:extLst>
            </p:cNvPr>
            <p:cNvSpPr/>
            <p:nvPr/>
          </p:nvSpPr>
          <p:spPr>
            <a:xfrm>
              <a:off x="603971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6A508B83-E98A-7854-9745-89A39F3370D6}"/>
                </a:ext>
              </a:extLst>
            </p:cNvPr>
            <p:cNvSpPr/>
            <p:nvPr/>
          </p:nvSpPr>
          <p:spPr>
            <a:xfrm>
              <a:off x="632979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6F44BB54-F677-6359-4739-E334EDF5381C}"/>
                </a:ext>
              </a:extLst>
            </p:cNvPr>
            <p:cNvSpPr/>
            <p:nvPr/>
          </p:nvSpPr>
          <p:spPr>
            <a:xfrm>
              <a:off x="6619875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78540717-337D-61BB-8466-0D4C333EB0C4}"/>
                </a:ext>
              </a:extLst>
            </p:cNvPr>
            <p:cNvSpPr/>
            <p:nvPr/>
          </p:nvSpPr>
          <p:spPr>
            <a:xfrm>
              <a:off x="690908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D67D2DFC-B9C9-5C49-7804-E009BFC2FA06}"/>
                </a:ext>
              </a:extLst>
            </p:cNvPr>
            <p:cNvSpPr/>
            <p:nvPr/>
          </p:nvSpPr>
          <p:spPr>
            <a:xfrm>
              <a:off x="7199168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769BDAAD-C259-9AED-C872-BDE537937A19}"/>
                </a:ext>
              </a:extLst>
            </p:cNvPr>
            <p:cNvSpPr/>
            <p:nvPr/>
          </p:nvSpPr>
          <p:spPr>
            <a:xfrm>
              <a:off x="7489247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92391B1C-4229-A044-CFE0-49B63286BFF2}"/>
                </a:ext>
              </a:extLst>
            </p:cNvPr>
            <p:cNvSpPr/>
            <p:nvPr/>
          </p:nvSpPr>
          <p:spPr>
            <a:xfrm>
              <a:off x="777846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8CD3E019-DF97-BC1D-86DE-2BC79EBE2A76}"/>
                </a:ext>
              </a:extLst>
            </p:cNvPr>
            <p:cNvSpPr/>
            <p:nvPr/>
          </p:nvSpPr>
          <p:spPr>
            <a:xfrm>
              <a:off x="8068541" y="2632363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1B782E61-D97C-FB64-1053-964AF3CE92E1}"/>
                </a:ext>
              </a:extLst>
            </p:cNvPr>
            <p:cNvSpPr/>
            <p:nvPr/>
          </p:nvSpPr>
          <p:spPr>
            <a:xfrm>
              <a:off x="8357754" y="263236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7052B387-D0A8-C89A-C8DE-567BB2F9FF59}"/>
                </a:ext>
              </a:extLst>
            </p:cNvPr>
            <p:cNvSpPr/>
            <p:nvPr/>
          </p:nvSpPr>
          <p:spPr>
            <a:xfrm>
              <a:off x="5750502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A4216C73-A289-1637-DD78-E61AD2DF2835}"/>
                </a:ext>
              </a:extLst>
            </p:cNvPr>
            <p:cNvSpPr/>
            <p:nvPr/>
          </p:nvSpPr>
          <p:spPr>
            <a:xfrm>
              <a:off x="603971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B25521A8-1A8F-8A9A-F131-7FD3D92FB4F3}"/>
                </a:ext>
              </a:extLst>
            </p:cNvPr>
            <p:cNvSpPr/>
            <p:nvPr/>
          </p:nvSpPr>
          <p:spPr>
            <a:xfrm>
              <a:off x="632979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EEE57A03-E4D4-AA82-87D1-70C242A3B55D}"/>
                </a:ext>
              </a:extLst>
            </p:cNvPr>
            <p:cNvSpPr/>
            <p:nvPr/>
          </p:nvSpPr>
          <p:spPr>
            <a:xfrm>
              <a:off x="6619875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B1818AD8-2376-D8A3-2EFA-85781BEA7E16}"/>
                </a:ext>
              </a:extLst>
            </p:cNvPr>
            <p:cNvSpPr/>
            <p:nvPr/>
          </p:nvSpPr>
          <p:spPr>
            <a:xfrm>
              <a:off x="690908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0CA9F585-005F-CACB-50C1-7DAC8757081C}"/>
                </a:ext>
              </a:extLst>
            </p:cNvPr>
            <p:cNvSpPr/>
            <p:nvPr/>
          </p:nvSpPr>
          <p:spPr>
            <a:xfrm>
              <a:off x="7199168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44B46989-79EA-97E5-4BAA-90DA36C3594B}"/>
                </a:ext>
              </a:extLst>
            </p:cNvPr>
            <p:cNvSpPr/>
            <p:nvPr/>
          </p:nvSpPr>
          <p:spPr>
            <a:xfrm>
              <a:off x="7489247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C630CF39-0DE6-9842-B871-FD54052E60CD}"/>
                </a:ext>
              </a:extLst>
            </p:cNvPr>
            <p:cNvSpPr/>
            <p:nvPr/>
          </p:nvSpPr>
          <p:spPr>
            <a:xfrm>
              <a:off x="777846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AFD62814-8841-E61A-AE24-65F36B84D4ED}"/>
                </a:ext>
              </a:extLst>
            </p:cNvPr>
            <p:cNvSpPr/>
            <p:nvPr/>
          </p:nvSpPr>
          <p:spPr>
            <a:xfrm>
              <a:off x="8068541" y="2904259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DD4CD568-D3C0-16F3-3842-CB05C468FAD0}"/>
                </a:ext>
              </a:extLst>
            </p:cNvPr>
            <p:cNvSpPr/>
            <p:nvPr/>
          </p:nvSpPr>
          <p:spPr>
            <a:xfrm>
              <a:off x="8357754" y="2904259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301B1F92-DEE8-1144-5090-F827AF882C14}"/>
                </a:ext>
              </a:extLst>
            </p:cNvPr>
            <p:cNvSpPr/>
            <p:nvPr/>
          </p:nvSpPr>
          <p:spPr>
            <a:xfrm>
              <a:off x="603971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CCBC098A-9926-29A9-0155-43F3A0C7B96A}"/>
                </a:ext>
              </a:extLst>
            </p:cNvPr>
            <p:cNvSpPr/>
            <p:nvPr/>
          </p:nvSpPr>
          <p:spPr>
            <a:xfrm>
              <a:off x="632979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6AD9669-6A5A-2B79-F68A-DF2A5D5F7DDD}"/>
                </a:ext>
              </a:extLst>
            </p:cNvPr>
            <p:cNvSpPr/>
            <p:nvPr/>
          </p:nvSpPr>
          <p:spPr>
            <a:xfrm>
              <a:off x="6619875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50DCD269-3CC2-0B33-D624-AA49E1B165CA}"/>
                </a:ext>
              </a:extLst>
            </p:cNvPr>
            <p:cNvSpPr/>
            <p:nvPr/>
          </p:nvSpPr>
          <p:spPr>
            <a:xfrm>
              <a:off x="690908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CF638A96-5C68-674A-1828-7EAE4EA5C0DE}"/>
                </a:ext>
              </a:extLst>
            </p:cNvPr>
            <p:cNvSpPr/>
            <p:nvPr/>
          </p:nvSpPr>
          <p:spPr>
            <a:xfrm>
              <a:off x="7199168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90CD1291-04E0-C091-8B8D-5E61351D9ED4}"/>
                </a:ext>
              </a:extLst>
            </p:cNvPr>
            <p:cNvSpPr/>
            <p:nvPr/>
          </p:nvSpPr>
          <p:spPr>
            <a:xfrm>
              <a:off x="7489247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25719CAE-FC69-D8A5-ABC3-62A84BFB0B48}"/>
                </a:ext>
              </a:extLst>
            </p:cNvPr>
            <p:cNvSpPr/>
            <p:nvPr/>
          </p:nvSpPr>
          <p:spPr>
            <a:xfrm>
              <a:off x="777846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4DE0BF54-1825-37BA-87E3-0101C2523978}"/>
                </a:ext>
              </a:extLst>
            </p:cNvPr>
            <p:cNvSpPr/>
            <p:nvPr/>
          </p:nvSpPr>
          <p:spPr>
            <a:xfrm>
              <a:off x="8068541" y="317702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88004EFA-28A9-1447-718B-151867994D35}"/>
                </a:ext>
              </a:extLst>
            </p:cNvPr>
            <p:cNvSpPr/>
            <p:nvPr/>
          </p:nvSpPr>
          <p:spPr>
            <a:xfrm>
              <a:off x="8357754" y="317702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CF0B76C2-20D6-31CF-93B2-53FCECF94DCA}"/>
                </a:ext>
              </a:extLst>
            </p:cNvPr>
            <p:cNvSpPr/>
            <p:nvPr/>
          </p:nvSpPr>
          <p:spPr>
            <a:xfrm>
              <a:off x="632979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6F23D02B-D4E3-FF1B-B9C0-258DB69E0F3C}"/>
                </a:ext>
              </a:extLst>
            </p:cNvPr>
            <p:cNvSpPr/>
            <p:nvPr/>
          </p:nvSpPr>
          <p:spPr>
            <a:xfrm>
              <a:off x="6619875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3C76304B-81DE-EA8C-9E88-D652755679C4}"/>
                </a:ext>
              </a:extLst>
            </p:cNvPr>
            <p:cNvSpPr/>
            <p:nvPr/>
          </p:nvSpPr>
          <p:spPr>
            <a:xfrm>
              <a:off x="690908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2C3ED704-1250-6D2D-660A-9EF150B41041}"/>
                </a:ext>
              </a:extLst>
            </p:cNvPr>
            <p:cNvSpPr/>
            <p:nvPr/>
          </p:nvSpPr>
          <p:spPr>
            <a:xfrm>
              <a:off x="7199168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7A6D5F7E-61A6-4E6E-666F-F4E8F7E40197}"/>
                </a:ext>
              </a:extLst>
            </p:cNvPr>
            <p:cNvSpPr/>
            <p:nvPr/>
          </p:nvSpPr>
          <p:spPr>
            <a:xfrm>
              <a:off x="7489247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1E5DC440-2299-6FDC-EBF9-1BE380620FD8}"/>
                </a:ext>
              </a:extLst>
            </p:cNvPr>
            <p:cNvSpPr/>
            <p:nvPr/>
          </p:nvSpPr>
          <p:spPr>
            <a:xfrm>
              <a:off x="777846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69DFF316-7443-F539-1D4D-E71D07E20DE2}"/>
                </a:ext>
              </a:extLst>
            </p:cNvPr>
            <p:cNvSpPr/>
            <p:nvPr/>
          </p:nvSpPr>
          <p:spPr>
            <a:xfrm>
              <a:off x="8068541" y="3449781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BCE55FAF-D37C-53C7-BE7B-5E9269D5DA92}"/>
                </a:ext>
              </a:extLst>
            </p:cNvPr>
            <p:cNvSpPr/>
            <p:nvPr/>
          </p:nvSpPr>
          <p:spPr>
            <a:xfrm>
              <a:off x="8357754" y="3449781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7E0F5554-9E14-4264-6F0E-E2423FF070FA}"/>
                </a:ext>
              </a:extLst>
            </p:cNvPr>
            <p:cNvSpPr/>
            <p:nvPr/>
          </p:nvSpPr>
          <p:spPr>
            <a:xfrm>
              <a:off x="6619875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53C57555-D22B-544E-D8C3-032A37BD78E4}"/>
                </a:ext>
              </a:extLst>
            </p:cNvPr>
            <p:cNvSpPr/>
            <p:nvPr/>
          </p:nvSpPr>
          <p:spPr>
            <a:xfrm>
              <a:off x="690908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8648EB53-8B17-F097-2E55-885D5B188CE8}"/>
                </a:ext>
              </a:extLst>
            </p:cNvPr>
            <p:cNvSpPr/>
            <p:nvPr/>
          </p:nvSpPr>
          <p:spPr>
            <a:xfrm>
              <a:off x="7199168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3151C22B-E0EF-ABF6-420A-77BF863B6A92}"/>
                </a:ext>
              </a:extLst>
            </p:cNvPr>
            <p:cNvSpPr/>
            <p:nvPr/>
          </p:nvSpPr>
          <p:spPr>
            <a:xfrm>
              <a:off x="7489247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85AE2CCF-4680-79B2-9151-CADFCC357A3C}"/>
                </a:ext>
              </a:extLst>
            </p:cNvPr>
            <p:cNvSpPr/>
            <p:nvPr/>
          </p:nvSpPr>
          <p:spPr>
            <a:xfrm>
              <a:off x="777846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EEC7E60B-CF7A-ADA4-E868-38D54B107152}"/>
                </a:ext>
              </a:extLst>
            </p:cNvPr>
            <p:cNvSpPr/>
            <p:nvPr/>
          </p:nvSpPr>
          <p:spPr>
            <a:xfrm>
              <a:off x="8068541" y="3721677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194A8EE-77CE-BD9C-4E65-F09C683F65BE}"/>
                </a:ext>
              </a:extLst>
            </p:cNvPr>
            <p:cNvSpPr/>
            <p:nvPr/>
          </p:nvSpPr>
          <p:spPr>
            <a:xfrm>
              <a:off x="8357754" y="3721677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43AAD094-BFBD-787D-9FC2-E48411799545}"/>
                </a:ext>
              </a:extLst>
            </p:cNvPr>
            <p:cNvSpPr/>
            <p:nvPr/>
          </p:nvSpPr>
          <p:spPr>
            <a:xfrm>
              <a:off x="690908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AA4BEBFD-7552-CA4A-9652-A5417B0F6BB6}"/>
                </a:ext>
              </a:extLst>
            </p:cNvPr>
            <p:cNvSpPr/>
            <p:nvPr/>
          </p:nvSpPr>
          <p:spPr>
            <a:xfrm>
              <a:off x="7199168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40778DA1-1F9C-E62A-4B37-206A8F3E33EB}"/>
                </a:ext>
              </a:extLst>
            </p:cNvPr>
            <p:cNvSpPr/>
            <p:nvPr/>
          </p:nvSpPr>
          <p:spPr>
            <a:xfrm>
              <a:off x="7489247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AED662F1-39E6-9457-4888-F28B45E57C17}"/>
                </a:ext>
              </a:extLst>
            </p:cNvPr>
            <p:cNvSpPr/>
            <p:nvPr/>
          </p:nvSpPr>
          <p:spPr>
            <a:xfrm>
              <a:off x="777846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2870CCF9-5BB8-44AB-DC41-6B1458F40E2E}"/>
                </a:ext>
              </a:extLst>
            </p:cNvPr>
            <p:cNvSpPr/>
            <p:nvPr/>
          </p:nvSpPr>
          <p:spPr>
            <a:xfrm>
              <a:off x="8068541" y="399443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B3B05434-0097-1448-9E33-DB819E8B5393}"/>
                </a:ext>
              </a:extLst>
            </p:cNvPr>
            <p:cNvSpPr/>
            <p:nvPr/>
          </p:nvSpPr>
          <p:spPr>
            <a:xfrm>
              <a:off x="8357754" y="399443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15139F59-BD9F-5001-7088-D1F497BE363F}"/>
                </a:ext>
              </a:extLst>
            </p:cNvPr>
            <p:cNvSpPr/>
            <p:nvPr/>
          </p:nvSpPr>
          <p:spPr>
            <a:xfrm>
              <a:off x="7199168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FA41D73C-C93A-A06F-66B2-AA1848AA931F}"/>
                </a:ext>
              </a:extLst>
            </p:cNvPr>
            <p:cNvSpPr/>
            <p:nvPr/>
          </p:nvSpPr>
          <p:spPr>
            <a:xfrm>
              <a:off x="7489247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2E4C336D-910A-FCCD-0588-0B71A3B14737}"/>
                </a:ext>
              </a:extLst>
            </p:cNvPr>
            <p:cNvSpPr/>
            <p:nvPr/>
          </p:nvSpPr>
          <p:spPr>
            <a:xfrm>
              <a:off x="777846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103AC243-E9BE-1386-E0B1-F7FD8F618DA2}"/>
                </a:ext>
              </a:extLst>
            </p:cNvPr>
            <p:cNvSpPr/>
            <p:nvPr/>
          </p:nvSpPr>
          <p:spPr>
            <a:xfrm>
              <a:off x="8068541" y="4267200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7 h 187036"/>
                <a:gd name="connsiteX2" fmla="*/ 0 w 187036"/>
                <a:gd name="connsiteY2" fmla="*/ 93519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7"/>
                    <a:pt x="93519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D218F222-61AB-A672-C304-50E406055180}"/>
                </a:ext>
              </a:extLst>
            </p:cNvPr>
            <p:cNvSpPr/>
            <p:nvPr/>
          </p:nvSpPr>
          <p:spPr>
            <a:xfrm>
              <a:off x="8357754" y="4267200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7 h 187036"/>
                <a:gd name="connsiteX2" fmla="*/ 0 w 187036"/>
                <a:gd name="connsiteY2" fmla="*/ 93519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7"/>
                    <a:pt x="93518" y="187037"/>
                  </a:cubicBezTo>
                  <a:cubicBezTo>
                    <a:pt x="41870" y="187037"/>
                    <a:pt x="0" y="145167"/>
                    <a:pt x="0" y="93519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CB7D46B1-E68B-7906-3EA5-C7052A5DEFDD}"/>
                </a:ext>
              </a:extLst>
            </p:cNvPr>
            <p:cNvSpPr/>
            <p:nvPr/>
          </p:nvSpPr>
          <p:spPr>
            <a:xfrm>
              <a:off x="7489247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9513D5A6-336E-9965-0482-02877A98F923}"/>
                </a:ext>
              </a:extLst>
            </p:cNvPr>
            <p:cNvSpPr/>
            <p:nvPr/>
          </p:nvSpPr>
          <p:spPr>
            <a:xfrm>
              <a:off x="777846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B6E671F9-9FDD-36B2-E5ED-896544B87065}"/>
                </a:ext>
              </a:extLst>
            </p:cNvPr>
            <p:cNvSpPr/>
            <p:nvPr/>
          </p:nvSpPr>
          <p:spPr>
            <a:xfrm>
              <a:off x="8068541" y="4539095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81AB5E22-45A9-F597-0CA7-F6550C1DC6D4}"/>
                </a:ext>
              </a:extLst>
            </p:cNvPr>
            <p:cNvSpPr/>
            <p:nvPr/>
          </p:nvSpPr>
          <p:spPr>
            <a:xfrm>
              <a:off x="8357754" y="4539095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D00B5876-597C-E80C-F8E0-36B5E77A3507}"/>
                </a:ext>
              </a:extLst>
            </p:cNvPr>
            <p:cNvSpPr/>
            <p:nvPr/>
          </p:nvSpPr>
          <p:spPr>
            <a:xfrm>
              <a:off x="777846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887E0B72-6B1B-249E-A1CB-99550A9D9D00}"/>
                </a:ext>
              </a:extLst>
            </p:cNvPr>
            <p:cNvSpPr/>
            <p:nvPr/>
          </p:nvSpPr>
          <p:spPr>
            <a:xfrm>
              <a:off x="8068541" y="4811856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91871F59-0E26-A018-81C1-786ED3BE5DF6}"/>
                </a:ext>
              </a:extLst>
            </p:cNvPr>
            <p:cNvSpPr/>
            <p:nvPr/>
          </p:nvSpPr>
          <p:spPr>
            <a:xfrm>
              <a:off x="8357754" y="4811856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1D920C36-F43E-BD69-BAFE-72A15243397E}"/>
                </a:ext>
              </a:extLst>
            </p:cNvPr>
            <p:cNvSpPr/>
            <p:nvPr/>
          </p:nvSpPr>
          <p:spPr>
            <a:xfrm>
              <a:off x="8068541" y="5084618"/>
              <a:ext cx="187036" cy="187036"/>
            </a:xfrm>
            <a:custGeom>
              <a:avLst/>
              <a:gdLst>
                <a:gd name="connsiteX0" fmla="*/ 187037 w 187036"/>
                <a:gd name="connsiteY0" fmla="*/ 93518 h 187036"/>
                <a:gd name="connsiteX1" fmla="*/ 93519 w 187036"/>
                <a:gd name="connsiteY1" fmla="*/ 187036 h 187036"/>
                <a:gd name="connsiteX2" fmla="*/ 0 w 187036"/>
                <a:gd name="connsiteY2" fmla="*/ 93518 h 187036"/>
                <a:gd name="connsiteX3" fmla="*/ 93519 w 187036"/>
                <a:gd name="connsiteY3" fmla="*/ 0 h 187036"/>
                <a:gd name="connsiteX4" fmla="*/ 187037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7" y="93518"/>
                  </a:moveTo>
                  <a:cubicBezTo>
                    <a:pt x="187037" y="145167"/>
                    <a:pt x="145167" y="187036"/>
                    <a:pt x="93519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9" y="0"/>
                  </a:cubicBezTo>
                  <a:cubicBezTo>
                    <a:pt x="145167" y="0"/>
                    <a:pt x="187037" y="41870"/>
                    <a:pt x="187037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E9953019-BE7F-9AB4-C255-858A405EFAC4}"/>
                </a:ext>
              </a:extLst>
            </p:cNvPr>
            <p:cNvSpPr/>
            <p:nvPr/>
          </p:nvSpPr>
          <p:spPr>
            <a:xfrm>
              <a:off x="8357754" y="5084618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CEB9DDDB-121F-3015-C840-3448EAF3BD41}"/>
                </a:ext>
              </a:extLst>
            </p:cNvPr>
            <p:cNvSpPr/>
            <p:nvPr/>
          </p:nvSpPr>
          <p:spPr>
            <a:xfrm>
              <a:off x="8357754" y="5356513"/>
              <a:ext cx="187036" cy="187036"/>
            </a:xfrm>
            <a:custGeom>
              <a:avLst/>
              <a:gdLst>
                <a:gd name="connsiteX0" fmla="*/ 187036 w 187036"/>
                <a:gd name="connsiteY0" fmla="*/ 93518 h 187036"/>
                <a:gd name="connsiteX1" fmla="*/ 93518 w 187036"/>
                <a:gd name="connsiteY1" fmla="*/ 187036 h 187036"/>
                <a:gd name="connsiteX2" fmla="*/ 0 w 187036"/>
                <a:gd name="connsiteY2" fmla="*/ 93518 h 187036"/>
                <a:gd name="connsiteX3" fmla="*/ 93518 w 187036"/>
                <a:gd name="connsiteY3" fmla="*/ 0 h 187036"/>
                <a:gd name="connsiteX4" fmla="*/ 187036 w 187036"/>
                <a:gd name="connsiteY4" fmla="*/ 93518 h 187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036" h="187036">
                  <a:moveTo>
                    <a:pt x="187036" y="93518"/>
                  </a:moveTo>
                  <a:cubicBezTo>
                    <a:pt x="187036" y="145167"/>
                    <a:pt x="145167" y="187036"/>
                    <a:pt x="93518" y="187036"/>
                  </a:cubicBezTo>
                  <a:cubicBezTo>
                    <a:pt x="41870" y="187036"/>
                    <a:pt x="0" y="145167"/>
                    <a:pt x="0" y="93518"/>
                  </a:cubicBezTo>
                  <a:cubicBezTo>
                    <a:pt x="0" y="41870"/>
                    <a:pt x="41870" y="0"/>
                    <a:pt x="93518" y="0"/>
                  </a:cubicBezTo>
                  <a:cubicBezTo>
                    <a:pt x="145167" y="0"/>
                    <a:pt x="187036" y="41870"/>
                    <a:pt x="187036" y="93518"/>
                  </a:cubicBezTo>
                  <a:close/>
                </a:path>
              </a:pathLst>
            </a:custGeom>
            <a:grpFill/>
            <a:ln w="86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4" name="Rectangle 53">
            <a:extLst>
              <a:ext uri="{FF2B5EF4-FFF2-40B4-BE49-F238E27FC236}">
                <a16:creationId xmlns:a16="http://schemas.microsoft.com/office/drawing/2014/main" id="{D4F3ED48-433C-07BE-F2F6-35F273EE2404}"/>
              </a:ext>
            </a:extLst>
          </p:cNvPr>
          <p:cNvSpPr/>
          <p:nvPr/>
        </p:nvSpPr>
        <p:spPr>
          <a:xfrm>
            <a:off x="1082078" y="662619"/>
            <a:ext cx="8622747" cy="7590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0" rIns="0" bIns="0" rtlCol="0" anchor="t" anchorCtr="0"/>
          <a:lstStyle/>
          <a:p>
            <a:r>
              <a:rPr lang="en-US" sz="4400" b="1" kern="100" dirty="0">
                <a:solidFill>
                  <a:srgbClr val="FF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Conclusion</a:t>
            </a:r>
            <a:endParaRPr lang="en-US" sz="4400" b="1" kern="100" dirty="0">
              <a:solidFill>
                <a:srgbClr val="FF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3E763-8BF8-938D-FC86-38733D436B2D}"/>
              </a:ext>
            </a:extLst>
          </p:cNvPr>
          <p:cNvSpPr txBox="1"/>
          <p:nvPr/>
        </p:nvSpPr>
        <p:spPr>
          <a:xfrm>
            <a:off x="854015" y="1341763"/>
            <a:ext cx="10703603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Successfully addresses the limitations of </a:t>
            </a:r>
            <a:r>
              <a:rPr lang="en-IN" sz="2400" b="1" dirty="0"/>
              <a:t>standard CTC-based HTR systems</a:t>
            </a:r>
            <a:r>
              <a:rPr lang="en-IN" sz="2400" dirty="0"/>
              <a:t> for complex Indic scripts.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Utilizes an </a:t>
            </a:r>
            <a:r>
              <a:rPr lang="en-IN" sz="2400" b="1" dirty="0"/>
              <a:t>autoregressive Transformer decoder</a:t>
            </a:r>
            <a:r>
              <a:rPr lang="en-IN" sz="2400" dirty="0"/>
              <a:t> for improved contextual character prediction.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Incorporates </a:t>
            </a:r>
            <a:r>
              <a:rPr lang="en-IN" sz="2400" b="1" dirty="0"/>
              <a:t>Telugu script grammatical rules</a:t>
            </a:r>
            <a:r>
              <a:rPr lang="en-IN" sz="2400" dirty="0"/>
              <a:t> through </a:t>
            </a:r>
            <a:r>
              <a:rPr lang="en-IN" sz="2400" b="1" dirty="0"/>
              <a:t>script-specific constrained decoding</a:t>
            </a:r>
            <a:r>
              <a:rPr lang="en-IN" sz="2400" dirty="0"/>
              <a:t>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Significantly </a:t>
            </a:r>
            <a:r>
              <a:rPr lang="en-IN" sz="2400" b="1" dirty="0"/>
              <a:t>reduces orthographic (spelling) errors</a:t>
            </a:r>
            <a:r>
              <a:rPr lang="en-IN" sz="2400" dirty="0"/>
              <a:t> in recognized text.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Employs </a:t>
            </a:r>
            <a:r>
              <a:rPr lang="en-IN" sz="2400" b="1" dirty="0"/>
              <a:t>Joint CTC-Attention Training</a:t>
            </a:r>
            <a:r>
              <a:rPr lang="en-IN" sz="2400" dirty="0"/>
              <a:t> for stable and efficient model learning.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Combines </a:t>
            </a:r>
            <a:r>
              <a:rPr lang="en-IN" sz="2400" b="1" dirty="0"/>
              <a:t>modern deep learning architectures</a:t>
            </a:r>
            <a:r>
              <a:rPr lang="en-IN" sz="2400" dirty="0"/>
              <a:t> with </a:t>
            </a:r>
            <a:r>
              <a:rPr lang="en-IN" sz="2400" b="1" dirty="0"/>
              <a:t>domain-specific linguistic knowledge</a:t>
            </a:r>
            <a:r>
              <a:rPr lang="en-IN" sz="2400" dirty="0"/>
              <a:t>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Achieves </a:t>
            </a:r>
            <a:r>
              <a:rPr lang="en-IN" sz="2400" b="1" dirty="0"/>
              <a:t>robust and highly accurate</a:t>
            </a:r>
            <a:r>
              <a:rPr lang="en-IN" sz="2400" dirty="0"/>
              <a:t> Telugu handwritten word recognition.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/>
              <a:t>Facilitates improved </a:t>
            </a:r>
            <a:r>
              <a:rPr lang="en-IN" sz="2400" b="1" dirty="0"/>
              <a:t>digitization of historical and modern Telugu handwritten documents</a:t>
            </a:r>
            <a:r>
              <a:rPr lang="en-IN" sz="24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64684883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9728</TotalTime>
  <Words>1453</Words>
  <Application>Microsoft Office PowerPoint</Application>
  <PresentationFormat>Widescreen</PresentationFormat>
  <Paragraphs>163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Calibri</vt:lpstr>
      <vt:lpstr>Century Gothic</vt:lpstr>
      <vt:lpstr>Courier</vt:lpstr>
      <vt:lpstr>pplxSans</vt:lpstr>
      <vt:lpstr>Times New Roman</vt:lpstr>
      <vt:lpstr>Tw Cen MT</vt:lpstr>
      <vt:lpstr>Droplet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Alexandra Ragazhinskaya</dc:creator>
  <cp:lastModifiedBy>Bhargav Sakilam</cp:lastModifiedBy>
  <cp:revision>144</cp:revision>
  <cp:lastPrinted>2020-08-31T22:23:58Z</cp:lastPrinted>
  <dcterms:created xsi:type="dcterms:W3CDTF">2021-07-07T23:54:57Z</dcterms:created>
  <dcterms:modified xsi:type="dcterms:W3CDTF">2026-07-10T04:34:00Z</dcterms:modified>
</cp:coreProperties>
</file>