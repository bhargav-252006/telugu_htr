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91" r:id="rId1"/>
  </p:sldMasterIdLst>
  <p:notesMasterIdLst>
    <p:notesMasterId r:id="rId24"/>
  </p:notesMasterIdLst>
  <p:sldIdLst>
    <p:sldId id="374" r:id="rId2"/>
    <p:sldId id="366" r:id="rId3"/>
    <p:sldId id="367" r:id="rId4"/>
    <p:sldId id="368" r:id="rId5"/>
    <p:sldId id="370" r:id="rId6"/>
    <p:sldId id="381" r:id="rId7"/>
    <p:sldId id="369" r:id="rId8"/>
    <p:sldId id="371" r:id="rId9"/>
    <p:sldId id="380" r:id="rId10"/>
    <p:sldId id="373" r:id="rId11"/>
    <p:sldId id="376" r:id="rId12"/>
    <p:sldId id="379" r:id="rId13"/>
    <p:sldId id="382" r:id="rId14"/>
    <p:sldId id="383" r:id="rId15"/>
    <p:sldId id="384" r:id="rId16"/>
    <p:sldId id="385" r:id="rId17"/>
    <p:sldId id="387" r:id="rId18"/>
    <p:sldId id="386" r:id="rId19"/>
    <p:sldId id="388" r:id="rId20"/>
    <p:sldId id="389" r:id="rId21"/>
    <p:sldId id="378" r:id="rId22"/>
    <p:sldId id="3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a Waite" initials="EW" lastIdx="2" clrIdx="0">
    <p:extLst>
      <p:ext uri="{19B8F6BF-5375-455C-9EA6-DF929625EA0E}">
        <p15:presenceInfo xmlns:p15="http://schemas.microsoft.com/office/powerpoint/2012/main" userId="c568693182780e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7F85"/>
    <a:srgbClr val="3C636A"/>
    <a:srgbClr val="19444A"/>
    <a:srgbClr val="A8C1C2"/>
    <a:srgbClr val="67A9B3"/>
    <a:srgbClr val="E4EFED"/>
    <a:srgbClr val="58A0A5"/>
    <a:srgbClr val="D5DFDD"/>
    <a:srgbClr val="A13427"/>
    <a:srgbClr val="E0E2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6058"/>
  </p:normalViewPr>
  <p:slideViewPr>
    <p:cSldViewPr snapToGrid="0" snapToObjects="1">
      <p:cViewPr varScale="1">
        <p:scale>
          <a:sx n="89" d="100"/>
          <a:sy n="89" d="100"/>
        </p:scale>
        <p:origin x="216"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AFEDE-F1BF-6A4A-80D9-CCB6DC4EFE3D}" type="datetimeFigureOut">
              <a:rPr lang="en-US" smtClean="0"/>
              <a:t>7/31/2026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11C10-233D-DA48-A5CB-9365BBABB6B4}" type="slidenum">
              <a:rPr lang="en-US" smtClean="0"/>
              <a:t>‹#›</a:t>
            </a:fld>
            <a:endParaRPr lang="en-US" dirty="0"/>
          </a:p>
        </p:txBody>
      </p:sp>
    </p:spTree>
    <p:extLst>
      <p:ext uri="{BB962C8B-B14F-4D97-AF65-F5344CB8AC3E}">
        <p14:creationId xmlns:p14="http://schemas.microsoft.com/office/powerpoint/2010/main" val="43307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711C10-233D-DA48-A5CB-9365BBABB6B4}" type="slidenum">
              <a:rPr lang="en-US" smtClean="0"/>
              <a:t>1</a:t>
            </a:fld>
            <a:endParaRPr lang="en-US" dirty="0"/>
          </a:p>
        </p:txBody>
      </p:sp>
    </p:spTree>
    <p:extLst>
      <p:ext uri="{BB962C8B-B14F-4D97-AF65-F5344CB8AC3E}">
        <p14:creationId xmlns:p14="http://schemas.microsoft.com/office/powerpoint/2010/main" val="3647009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5A78-3159-9AB9-14C5-9B12C2DA7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24433-BA0E-7899-3554-C22E639AB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2C519-2DF7-8038-6F83-700E6E9ED3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EC30F2-ACB0-41E5-1DF2-6348633D9F64}"/>
              </a:ext>
            </a:extLst>
          </p:cNvPr>
          <p:cNvSpPr>
            <a:spLocks noGrp="1"/>
          </p:cNvSpPr>
          <p:nvPr>
            <p:ph type="sldNum" sz="quarter" idx="5"/>
          </p:nvPr>
        </p:nvSpPr>
        <p:spPr/>
        <p:txBody>
          <a:bodyPr/>
          <a:lstStyle/>
          <a:p>
            <a:fld id="{C0711C10-233D-DA48-A5CB-9365BBABB6B4}" type="slidenum">
              <a:rPr lang="en-US" smtClean="0"/>
              <a:t>2</a:t>
            </a:fld>
            <a:endParaRPr lang="en-US" dirty="0"/>
          </a:p>
        </p:txBody>
      </p:sp>
    </p:spTree>
    <p:extLst>
      <p:ext uri="{BB962C8B-B14F-4D97-AF65-F5344CB8AC3E}">
        <p14:creationId xmlns:p14="http://schemas.microsoft.com/office/powerpoint/2010/main" val="1540779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711C10-233D-DA48-A5CB-9365BBABB6B4}" type="slidenum">
              <a:rPr lang="en-US" smtClean="0"/>
              <a:t>3</a:t>
            </a:fld>
            <a:endParaRPr lang="en-US" dirty="0"/>
          </a:p>
        </p:txBody>
      </p:sp>
    </p:spTree>
    <p:extLst>
      <p:ext uri="{BB962C8B-B14F-4D97-AF65-F5344CB8AC3E}">
        <p14:creationId xmlns:p14="http://schemas.microsoft.com/office/powerpoint/2010/main" val="1976467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711C10-233D-DA48-A5CB-9365BBABB6B4}" type="slidenum">
              <a:rPr lang="en-US" smtClean="0"/>
              <a:t>4</a:t>
            </a:fld>
            <a:endParaRPr lang="en-US" dirty="0"/>
          </a:p>
        </p:txBody>
      </p:sp>
    </p:spTree>
    <p:extLst>
      <p:ext uri="{BB962C8B-B14F-4D97-AF65-F5344CB8AC3E}">
        <p14:creationId xmlns:p14="http://schemas.microsoft.com/office/powerpoint/2010/main" val="131317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711C10-233D-DA48-A5CB-9365BBABB6B4}" type="slidenum">
              <a:rPr lang="en-US" smtClean="0"/>
              <a:t>5</a:t>
            </a:fld>
            <a:endParaRPr lang="en-US" dirty="0"/>
          </a:p>
        </p:txBody>
      </p:sp>
    </p:spTree>
    <p:extLst>
      <p:ext uri="{BB962C8B-B14F-4D97-AF65-F5344CB8AC3E}">
        <p14:creationId xmlns:p14="http://schemas.microsoft.com/office/powerpoint/2010/main" val="2173326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59C42-36E9-D386-DCA2-9F920A4D6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CD919-C61D-13A1-E367-5CDDC8E4A7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68CC7-82D9-7426-A4BA-11BF63590D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7A9AC6-BDFD-D872-0ADB-C8EA3EE378BF}"/>
              </a:ext>
            </a:extLst>
          </p:cNvPr>
          <p:cNvSpPr>
            <a:spLocks noGrp="1"/>
          </p:cNvSpPr>
          <p:nvPr>
            <p:ph type="sldNum" sz="quarter" idx="5"/>
          </p:nvPr>
        </p:nvSpPr>
        <p:spPr/>
        <p:txBody>
          <a:bodyPr/>
          <a:lstStyle/>
          <a:p>
            <a:fld id="{C0711C10-233D-DA48-A5CB-9365BBABB6B4}" type="slidenum">
              <a:rPr lang="en-US" smtClean="0"/>
              <a:t>6</a:t>
            </a:fld>
            <a:endParaRPr lang="en-US" dirty="0"/>
          </a:p>
        </p:txBody>
      </p:sp>
    </p:spTree>
    <p:extLst>
      <p:ext uri="{BB962C8B-B14F-4D97-AF65-F5344CB8AC3E}">
        <p14:creationId xmlns:p14="http://schemas.microsoft.com/office/powerpoint/2010/main" val="2689450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711C10-233D-DA48-A5CB-9365BBABB6B4}" type="slidenum">
              <a:rPr lang="en-US" smtClean="0"/>
              <a:t>7</a:t>
            </a:fld>
            <a:endParaRPr lang="en-US" dirty="0"/>
          </a:p>
        </p:txBody>
      </p:sp>
    </p:spTree>
    <p:extLst>
      <p:ext uri="{BB962C8B-B14F-4D97-AF65-F5344CB8AC3E}">
        <p14:creationId xmlns:p14="http://schemas.microsoft.com/office/powerpoint/2010/main" val="597997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711C10-233D-DA48-A5CB-9365BBABB6B4}" type="slidenum">
              <a:rPr lang="en-US" smtClean="0"/>
              <a:t>8</a:t>
            </a:fld>
            <a:endParaRPr lang="en-US" dirty="0"/>
          </a:p>
        </p:txBody>
      </p:sp>
    </p:spTree>
    <p:extLst>
      <p:ext uri="{BB962C8B-B14F-4D97-AF65-F5344CB8AC3E}">
        <p14:creationId xmlns:p14="http://schemas.microsoft.com/office/powerpoint/2010/main" val="1452101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5C863-C541-31FC-AB19-5480FE9C3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ADF61-79EC-0C40-19CB-3B966BA08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958DC-8B18-D678-F64F-8F491AC3A1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4C82F0-6AB1-41C7-9D28-74E0F66874D8}"/>
              </a:ext>
            </a:extLst>
          </p:cNvPr>
          <p:cNvSpPr>
            <a:spLocks noGrp="1"/>
          </p:cNvSpPr>
          <p:nvPr>
            <p:ph type="sldNum" sz="quarter" idx="5"/>
          </p:nvPr>
        </p:nvSpPr>
        <p:spPr/>
        <p:txBody>
          <a:bodyPr/>
          <a:lstStyle/>
          <a:p>
            <a:fld id="{C0711C10-233D-DA48-A5CB-9365BBABB6B4}" type="slidenum">
              <a:rPr lang="en-US" smtClean="0"/>
              <a:t>9</a:t>
            </a:fld>
            <a:endParaRPr lang="en-US" dirty="0"/>
          </a:p>
        </p:txBody>
      </p:sp>
    </p:spTree>
    <p:extLst>
      <p:ext uri="{BB962C8B-B14F-4D97-AF65-F5344CB8AC3E}">
        <p14:creationId xmlns:p14="http://schemas.microsoft.com/office/powerpoint/2010/main" val="1004939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711C10-233D-DA48-A5CB-9365BBABB6B4}" type="slidenum">
              <a:rPr lang="en-US" smtClean="0"/>
              <a:t>10</a:t>
            </a:fld>
            <a:endParaRPr lang="en-US" dirty="0"/>
          </a:p>
        </p:txBody>
      </p:sp>
    </p:spTree>
    <p:extLst>
      <p:ext uri="{BB962C8B-B14F-4D97-AF65-F5344CB8AC3E}">
        <p14:creationId xmlns:p14="http://schemas.microsoft.com/office/powerpoint/2010/main" val="4485575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923653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535786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6948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2253418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5183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4267145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409324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296271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3513929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3400551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3086815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51396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4161311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32063917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2962275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4202685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1E756-E947-FD4A-8A23-D2C983A1A8BD}" type="datetimeFigureOut">
              <a:rPr lang="en-US" smtClean="0"/>
              <a:t>7/31/2026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4056201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7381E756-E947-FD4A-8A23-D2C983A1A8BD}" type="datetimeFigureOut">
              <a:rPr lang="en-US" smtClean="0"/>
              <a:t>7/31/2026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2330669D-EC37-AA42-8CD3-B0788BD38FC6}" type="slidenum">
              <a:rPr lang="en-US" smtClean="0"/>
              <a:t>‹#›</a:t>
            </a:fld>
            <a:endParaRPr lang="en-US" dirty="0"/>
          </a:p>
        </p:txBody>
      </p:sp>
    </p:spTree>
    <p:extLst>
      <p:ext uri="{BB962C8B-B14F-4D97-AF65-F5344CB8AC3E}">
        <p14:creationId xmlns:p14="http://schemas.microsoft.com/office/powerpoint/2010/main" val="3204802004"/>
      </p:ext>
    </p:extLst>
  </p:cSld>
  <p:clrMap bg1="lt1" tx1="dk1" bg2="lt2" tx2="dk2" accent1="accent1" accent2="accent2" accent3="accent3" accent4="accent4" accent5="accent5" accent6="accent6" hlink="hlink" folHlink="folHlink"/>
  <p:sldLayoutIdLst>
    <p:sldLayoutId id="2147483992" r:id="rId1"/>
    <p:sldLayoutId id="2147483993" r:id="rId2"/>
    <p:sldLayoutId id="2147483994" r:id="rId3"/>
    <p:sldLayoutId id="2147483995" r:id="rId4"/>
    <p:sldLayoutId id="2147483996" r:id="rId5"/>
    <p:sldLayoutId id="2147483997" r:id="rId6"/>
    <p:sldLayoutId id="2147483998" r:id="rId7"/>
    <p:sldLayoutId id="2147483999" r:id="rId8"/>
    <p:sldLayoutId id="2147484000" r:id="rId9"/>
    <p:sldLayoutId id="2147484001" r:id="rId10"/>
    <p:sldLayoutId id="2147484002" r:id="rId11"/>
    <p:sldLayoutId id="2147484003" r:id="rId12"/>
    <p:sldLayoutId id="2147484004" r:id="rId13"/>
    <p:sldLayoutId id="2147484005" r:id="rId14"/>
    <p:sldLayoutId id="2147484006" r:id="rId15"/>
    <p:sldLayoutId id="2147484007" r:id="rId16"/>
    <p:sldLayoutId id="2147484008"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B272B836-303F-DF4A-69B1-B2C662E9F50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02BC24B3-E39A-CB46-4E1E-768CEC92BF4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2436BCE-063A-1B43-09E4-3AEA3552CC5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A6616B3F-11BD-D8FD-89CA-7D56D09FF5F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DB4174E-509B-CF12-3BBF-0028C4D1663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31A3526-0937-7AB7-D30D-8870E9E719FB}"/>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EB7D4F9D-7741-FDC2-3741-CDF62A89A0A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D2D0A7FB-AA0E-1C19-5625-0FB54171CCF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A69B4B22-6F5A-FCB4-73ED-B60A3F13C8F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D6C01E5-B9A7-3F15-A590-FAA17C94DB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F775AE82-2537-4B05-330D-3AF2C37B1F0E}"/>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FF5C9632-1C53-F6BA-A1DA-7B0EB01C6E7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494B565-E2DA-D992-2272-831FAB18CD28}"/>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AA822E09-3362-108B-8798-EC8292F549FE}"/>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2C831DFE-47FB-E3D4-D5D2-9F583B3FEFC6}"/>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F0B3D84-9378-FF28-B840-0B20A983CEE2}"/>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C73E7F8-D1D3-B301-76CF-13B8B2ABE81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9DBC961-5BE8-85E0-50B9-413EFE96AD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FB8399A-B674-9339-D63B-BFC9BBEABFC9}"/>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C3D9DE4-4371-9055-4B9D-A7D8990BC129}"/>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8B9270AF-ED1F-1411-1CAA-46F106488251}"/>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AD2E06C7-C283-457E-10FF-A0D9E71CDC9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CCFA092-BB4F-F4F2-A5CD-6BD4E37677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B654535-BBE5-AB0E-61BC-13E959EAC58B}"/>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2079DAE5-59E5-0967-317C-13A94DF5354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4A9868D-358C-979E-0D2F-84D51462320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429AA5E6-7ED1-8382-E428-68AB2F3BB39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A4AEDC2C-D56D-FD92-7B29-7FA38F85E67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617ED90-AE8D-BA61-0D56-6ABDD7C248D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C1E3486-760F-0831-2891-78277486CDED}"/>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9F9A68D-8B7F-0937-780B-25A30672527A}"/>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09B92A9-12EB-6D7E-30FC-8581666C702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FA401D31-0501-9FC4-A959-55B5EB9526D7}"/>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BBE587C8-D91B-0ABE-40E2-C1F88AD22C3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0736F4B9-5F6B-284D-A8C8-C4D6EB8364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DBCD5585-B771-28CF-5638-CA6ADF70CEAB}"/>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E6BA4B3-165F-23BD-5B2B-25CDF0C6C5B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DEEAEA1A-F391-64D7-033E-FDEBD5DEA025}"/>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832A59C-F643-EABB-6887-41B2D8D6495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960EE77C-1B6A-2D49-8C6C-11B191C3E03A}"/>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01DA9E69-ED6B-C85C-74BA-191FE05EC48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2F6215A-84D3-0DC8-4B16-AF901F73FC6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CFB554D9-6A3C-2352-7CB3-7954CCFAE00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4685958D-E39A-CAC7-67F4-DBF3A87D183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14493297-4BD7-5010-739F-C152F576EA6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B37008F-0FFE-EF29-1D88-2CDD3DB6B9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C4F2AF6-AFCC-9939-79D2-7A1690280168}"/>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490FED5B-B21A-98E2-5EE8-71512ACF172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F3F54A48-FBD1-6597-C96C-B9FED8D3AFB7}"/>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F210C79F-E766-B137-A052-F060B344F53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80C35B28-2ED2-2755-5AE1-A66F4DFAA8A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AB9A3344-4D04-B32F-FD89-AF6F51416BBF}"/>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A57EBA0F-BF87-1BB9-24D1-C10C4D75397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A033F54E-11DC-29C2-D514-8B65F590C94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AE2B9EC8-479D-D5D8-6BCA-057218002C3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BDCDC82B-0D9A-2EE4-9B3E-CF599F760347}"/>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A4AA3840-594E-06FE-0A71-30CE90557E3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42ED5282-FA59-F5AF-648F-2A453D9779B8}"/>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B79E65-E610-34FA-C420-BCF913D122B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9728ABB-945F-C69B-1928-27FEE400AE9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D8072CB1-B5CD-9356-A549-AA020ACA7B0B}"/>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E0FA01F9-C391-1654-A89D-D52449152939}"/>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FC130C3-1C07-1667-4EBC-6AD73E51EEB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88F9D8-EB9C-16EA-CFE3-135920BBC16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C6C7310-671C-B284-B7F8-A3E8FB1800B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5F953CD5-5686-8CBA-CBB8-1F26F9018E7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7BADDD77-D9A6-8181-B0AC-C6BEFA3E95A1}"/>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A0A3682-B0A9-29FA-1599-3080E9906AB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663EA5C-A76E-9895-678B-A2EDB2931ABA}"/>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DAE84B9E-077F-763A-85D3-145EB11C396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D66DAD28-8608-603E-039D-812413132E2F}"/>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37424B85-59D5-ED1B-1E16-A610508AD95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837843F9-878D-7589-15C8-D97EEBFC1D11}"/>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C0BDE6A0-10E0-3427-1C7B-EA5E6D644758}"/>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2C9D456-4204-3EF2-46D3-9860E49808CE}"/>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982399C-C36A-15B5-ACF1-82617BF7A95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CFF4D0C-089E-70F7-4235-BE74CF1C2815}"/>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8731147F-C7BE-5636-9A89-DC61C5FFDD0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A5D3295F-510F-F59C-7C46-1DD2D94E7D89}"/>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33ED0707-5D7F-A4AC-5758-7B87830037E5}"/>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6112A6F8-6F9B-B524-5A8C-115DCD59E1AB}"/>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71E06284-8328-8C24-1858-B235EA2AC4CD}"/>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134E17CD-D47F-B5BB-46C6-C9C8343DC58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6CD04A39-C69A-A9B9-12B3-D1ACCACAD3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B168A7EF-2378-97A6-EB9E-5138CF0DEDE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38F5637D-71F6-10CF-32C5-5EEB7547998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8455D73-747E-056B-7B38-8A001DF0975A}"/>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06C0A3B2-92B9-6A16-B5FF-A74D2F748F2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35AC269-03D3-675D-4C48-08D6CE86D4C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EBD5AA58-306D-EB99-32B5-9E4A1640A9D3}"/>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8716CA12-D736-2D47-505A-4E57016A89B2}"/>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24491B8-458E-01A7-4909-5893814B8D5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E039EE44-DAC7-5757-4BF2-EA2A26BEA92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09F3D42-1DD6-BD53-022E-9DFCD504830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7D85F3FA-EB83-8F16-0B69-E6B9D38B8AEE}"/>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669A6764-8AC2-FE4D-90C9-15CA00F37E5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821CA983-C5A8-757E-F0A7-A4D98780051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DB299C9-C10F-6BD1-9AFE-22EF237729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ECAEEB9-0496-CCEF-13F3-71167F70256E}"/>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222EF5CE-20AB-28AB-F26B-A88E085941B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0138DB83-A947-E98D-D6E2-0F369DC669D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11FF71F-EE8F-61C1-5CBA-D0066698004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C71722CA-EBE9-82B1-621E-306960CB6E02}"/>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C646E80-51C4-039E-FAEC-CAD0F7CA145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FB0F54E-128B-5239-A521-2EEBE2D1916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3A8941A6-7F83-281A-03C0-660FB6AC3D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18D1468-A732-D1A1-DCD9-B2AE4A776E8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72D15E5-F3D1-86AD-6923-E1C631250F7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D8B9901C-934D-534C-B018-95631FE5E49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A30F3CAB-4984-0AAD-0789-9C721786C1B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BACA79-42B5-5D7D-459A-B644504C708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5314BA32-099D-5AD2-041E-50CAE1A96419}"/>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6D58FBC-3DC3-EEF8-7A21-2CAE571371E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3BCD7C23-EFA9-DD7B-E708-94DD702C4C8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35CD32A3-6E53-4DF6-FFF6-ACA214FD714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FF920B72-20A0-E030-5EC6-20094CF0EF7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9E5EACAF-8340-0440-CFCE-CD483845D92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E324DBAA-B96D-2F3C-08AB-0F24C14D9324}"/>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BAC4BEB-5471-BFC1-84ED-C2287007D22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5142260-56EC-D969-3DF2-8FFB3A03683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E181CF7-9B33-6E89-A038-436D066A7CF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6" name="Right Triangle 5">
            <a:extLst>
              <a:ext uri="{FF2B5EF4-FFF2-40B4-BE49-F238E27FC236}">
                <a16:creationId xmlns:a16="http://schemas.microsoft.com/office/drawing/2014/main" id="{50F0BBFE-FFF5-DD82-C1F8-D8CABD2F8D27}"/>
              </a:ext>
            </a:extLst>
          </p:cNvPr>
          <p:cNvSpPr/>
          <p:nvPr/>
        </p:nvSpPr>
        <p:spPr>
          <a:xfrm>
            <a:off x="-4905" y="880559"/>
            <a:ext cx="5977441" cy="5977441"/>
          </a:xfrm>
          <a:prstGeom prst="rtTriangle">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A1945B4B-641E-9CDE-D686-9BAE5943AE4F}"/>
              </a:ext>
            </a:extLst>
          </p:cNvPr>
          <p:cNvSpPr/>
          <p:nvPr/>
        </p:nvSpPr>
        <p:spPr>
          <a:xfrm>
            <a:off x="814493" y="1531917"/>
            <a:ext cx="10542619" cy="17048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ctr"/>
            <a:r>
              <a:rPr lang="en-IN" sz="3600" b="1" dirty="0">
                <a:solidFill>
                  <a:srgbClr val="FF0000"/>
                </a:solidFill>
              </a:rPr>
              <a:t>Telugu Handwritten Word Recognition using Transformer Decoder Architecture with Script-Specific Decoding Constraints</a:t>
            </a:r>
            <a:endParaRPr lang="en-US" sz="36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6FDB59CB-2A88-326F-B50C-13DD5449741C}"/>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2800" dirty="0">
              <a:solidFill>
                <a:schemeClr val="tx1">
                  <a:lumMod val="65000"/>
                  <a:lumOff val="35000"/>
                </a:schemeClr>
              </a:solidFill>
            </a:endParaRPr>
          </a:p>
        </p:txBody>
      </p:sp>
      <p:sp>
        <p:nvSpPr>
          <p:cNvPr id="5" name="Rectangle 4">
            <a:extLst>
              <a:ext uri="{FF2B5EF4-FFF2-40B4-BE49-F238E27FC236}">
                <a16:creationId xmlns:a16="http://schemas.microsoft.com/office/drawing/2014/main" id="{3E3C2C58-2014-1BD3-9E5A-1F38662690B2}"/>
              </a:ext>
            </a:extLst>
          </p:cNvPr>
          <p:cNvSpPr/>
          <p:nvPr/>
        </p:nvSpPr>
        <p:spPr>
          <a:xfrm>
            <a:off x="814493" y="4215897"/>
            <a:ext cx="2377440" cy="3200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Guide Name</a:t>
            </a:r>
          </a:p>
        </p:txBody>
      </p:sp>
      <p:sp>
        <p:nvSpPr>
          <p:cNvPr id="7" name="Rectangle 6">
            <a:extLst>
              <a:ext uri="{FF2B5EF4-FFF2-40B4-BE49-F238E27FC236}">
                <a16:creationId xmlns:a16="http://schemas.microsoft.com/office/drawing/2014/main" id="{FD1C13CB-3A48-EC96-8A6B-A0B442263428}"/>
              </a:ext>
            </a:extLst>
          </p:cNvPr>
          <p:cNvSpPr/>
          <p:nvPr/>
        </p:nvSpPr>
        <p:spPr>
          <a:xfrm>
            <a:off x="6186262" y="6292792"/>
            <a:ext cx="5943600"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000" dirty="0">
                <a:solidFill>
                  <a:schemeClr val="tx1"/>
                </a:solidFill>
                <a:latin typeface="Century Gothic" panose="020B0502020202020204" pitchFamily="34" charset="0"/>
                <a:cs typeface="Times New Roman" panose="02020603050405020304" pitchFamily="18" charset="0"/>
              </a:rPr>
              <a:t>2026-major-B-4</a:t>
            </a:r>
            <a:endParaRPr lang="en-US" sz="2000" dirty="0">
              <a:solidFill>
                <a:schemeClr val="tx1"/>
              </a:solidFill>
            </a:endParaRPr>
          </a:p>
        </p:txBody>
      </p:sp>
      <p:sp>
        <p:nvSpPr>
          <p:cNvPr id="8" name="Rectangle 7">
            <a:extLst>
              <a:ext uri="{FF2B5EF4-FFF2-40B4-BE49-F238E27FC236}">
                <a16:creationId xmlns:a16="http://schemas.microsoft.com/office/drawing/2014/main" id="{49B6A895-E82F-23E8-8812-E73ACE4830D4}"/>
              </a:ext>
            </a:extLst>
          </p:cNvPr>
          <p:cNvSpPr/>
          <p:nvPr/>
        </p:nvSpPr>
        <p:spPr>
          <a:xfrm>
            <a:off x="7805696" y="3995417"/>
            <a:ext cx="4386304" cy="1708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Prepared By</a:t>
            </a:r>
          </a:p>
          <a:p>
            <a:r>
              <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S.Bhargav</a:t>
            </a:r>
            <a:r>
              <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23211A67A7</a:t>
            </a:r>
            <a:endPar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T.Nikitha</a:t>
            </a:r>
            <a:r>
              <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23211a67B6</a:t>
            </a:r>
          </a:p>
          <a:p>
            <a:r>
              <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S.Vinod</a:t>
            </a:r>
            <a:r>
              <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- 23211a67A6</a:t>
            </a:r>
          </a:p>
          <a:p>
            <a:r>
              <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5" name="Rectangle 14">
            <a:extLst>
              <a:ext uri="{FF2B5EF4-FFF2-40B4-BE49-F238E27FC236}">
                <a16:creationId xmlns:a16="http://schemas.microsoft.com/office/drawing/2014/main" id="{8AE02115-26DD-D618-831B-71ABB446BB7A}"/>
              </a:ext>
            </a:extLst>
          </p:cNvPr>
          <p:cNvSpPr/>
          <p:nvPr/>
        </p:nvSpPr>
        <p:spPr>
          <a:xfrm>
            <a:off x="835949" y="6292792"/>
            <a:ext cx="1005840"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0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0.0.3</a:t>
            </a:r>
          </a:p>
        </p:txBody>
      </p:sp>
      <p:sp>
        <p:nvSpPr>
          <p:cNvPr id="17" name="Rectangle 16">
            <a:extLst>
              <a:ext uri="{FF2B5EF4-FFF2-40B4-BE49-F238E27FC236}">
                <a16:creationId xmlns:a16="http://schemas.microsoft.com/office/drawing/2014/main" id="{34CE377E-0306-3D88-A1FA-A5C47F185AF9}"/>
              </a:ext>
            </a:extLst>
          </p:cNvPr>
          <p:cNvSpPr/>
          <p:nvPr/>
        </p:nvSpPr>
        <p:spPr>
          <a:xfrm>
            <a:off x="785150" y="5972750"/>
            <a:ext cx="1005840" cy="3200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version</a:t>
            </a:r>
            <a:endPar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Rectangle 29">
            <a:extLst>
              <a:ext uri="{FF2B5EF4-FFF2-40B4-BE49-F238E27FC236}">
                <a16:creationId xmlns:a16="http://schemas.microsoft.com/office/drawing/2014/main" id="{68326BEB-111A-260F-7B88-4EA31252CB52}"/>
              </a:ext>
            </a:extLst>
          </p:cNvPr>
          <p:cNvSpPr/>
          <p:nvPr/>
        </p:nvSpPr>
        <p:spPr>
          <a:xfrm>
            <a:off x="2749565" y="6292792"/>
            <a:ext cx="1554480"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sz="20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01</a:t>
            </a:r>
            <a:r>
              <a:rPr lang="en-US" sz="20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/08/2026</a:t>
            </a:r>
            <a:endParaRPr lang="en-US" sz="2000" dirty="0">
              <a:solidFill>
                <a:srgbClr val="284348"/>
              </a:solidFill>
            </a:endParaRPr>
          </a:p>
        </p:txBody>
      </p:sp>
      <p:sp>
        <p:nvSpPr>
          <p:cNvPr id="31" name="Rectangle 30">
            <a:extLst>
              <a:ext uri="{FF2B5EF4-FFF2-40B4-BE49-F238E27FC236}">
                <a16:creationId xmlns:a16="http://schemas.microsoft.com/office/drawing/2014/main" id="{F94B0459-1CB2-0E11-7B98-FBBBE2509DEA}"/>
              </a:ext>
            </a:extLst>
          </p:cNvPr>
          <p:cNvSpPr/>
          <p:nvPr/>
        </p:nvSpPr>
        <p:spPr>
          <a:xfrm>
            <a:off x="2698766" y="5972750"/>
            <a:ext cx="1554480" cy="32004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en-US"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valid until</a:t>
            </a:r>
            <a:endParaRPr lang="en-US"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4" name="Rectangle 33">
            <a:extLst>
              <a:ext uri="{FF2B5EF4-FFF2-40B4-BE49-F238E27FC236}">
                <a16:creationId xmlns:a16="http://schemas.microsoft.com/office/drawing/2014/main" id="{74F796AE-057B-C555-3B5C-0465ABCAB6D0}"/>
              </a:ext>
            </a:extLst>
          </p:cNvPr>
          <p:cNvSpPr/>
          <p:nvPr/>
        </p:nvSpPr>
        <p:spPr>
          <a:xfrm>
            <a:off x="-4905" y="5797530"/>
            <a:ext cx="12196905" cy="813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lumMod val="75000"/>
                </a:schemeClr>
              </a:solidFill>
            </a:endParaRPr>
          </a:p>
        </p:txBody>
      </p:sp>
      <p:sp>
        <p:nvSpPr>
          <p:cNvPr id="169" name="Rectangle 168">
            <a:extLst>
              <a:ext uri="{FF2B5EF4-FFF2-40B4-BE49-F238E27FC236}">
                <a16:creationId xmlns:a16="http://schemas.microsoft.com/office/drawing/2014/main" id="{6116A283-1233-49D7-A108-3BA5FD096B4A}"/>
              </a:ext>
            </a:extLst>
          </p:cNvPr>
          <p:cNvSpPr/>
          <p:nvPr/>
        </p:nvSpPr>
        <p:spPr>
          <a:xfrm>
            <a:off x="763912" y="5033809"/>
            <a:ext cx="6228524" cy="5135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r>
              <a:rPr lang="pl-PL" sz="2400" b="1" dirty="0">
                <a:solidFill>
                  <a:schemeClr val="tx1"/>
                </a:solidFill>
              </a:rPr>
              <a:t>Dr. R.Venkata Ramana Chary</a:t>
            </a:r>
            <a:r>
              <a:rPr lang="en-US" sz="2400" b="1" dirty="0">
                <a:solidFill>
                  <a:schemeClr val="tx1"/>
                </a:solidFill>
              </a:rPr>
              <a:t>,</a:t>
            </a:r>
            <a:r>
              <a:rPr lang="en-IN" sz="2400" b="1" dirty="0">
                <a:solidFill>
                  <a:schemeClr val="tx1"/>
                </a:solidFill>
              </a:rPr>
              <a:t>Professor</a:t>
            </a:r>
            <a:endParaRPr lang="pl-PL" sz="2400" b="1" dirty="0">
              <a:solidFill>
                <a:schemeClr val="tx1"/>
              </a:solidFill>
            </a:endParaRPr>
          </a:p>
        </p:txBody>
      </p:sp>
    </p:spTree>
    <p:extLst>
      <p:ext uri="{BB962C8B-B14F-4D97-AF65-F5344CB8AC3E}">
        <p14:creationId xmlns:p14="http://schemas.microsoft.com/office/powerpoint/2010/main" val="3170509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9E3AE-13DD-560D-A63D-6C8443743717}"/>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40C62516-6CEF-EB94-1E7F-566B7481580F}"/>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A26EBCD4-3431-2228-03D3-2869B7D2F3C5}"/>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B31E9323-6F72-6CCB-6227-869ED332D333}"/>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2B951FB4-FEB1-F3BA-94F6-55943017D7F6}"/>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F93D192E-770D-3CE8-BC37-B76310D5F66E}"/>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C5320E26-A6C0-A8D0-BD3F-344908BFC539}"/>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F542FF7A-E21C-52D9-C73F-CAB393950800}"/>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578CB7A7-F2BF-A93B-4D06-5E1BFBAA02E6}"/>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26845B68-5088-3C0A-CCD8-647D6DA43F88}"/>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8641EFC5-4B06-BAFC-8387-6E58DEC0838F}"/>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87423DD3-AC08-E075-EC70-E0942DC79BB5}"/>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D27EC230-49B2-1533-665E-92D86D6CF335}"/>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A61A1FE1-A1DA-36E8-E551-32EF841F4634}"/>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F04EFDC-6EE9-CF51-A8C4-832B8D2D2B2B}"/>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1376B6C8-53E1-495F-A604-895B2854F7FC}"/>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9484E8CF-A633-CC2B-51E7-5388815368A8}"/>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396DA28D-E678-88BB-AB28-BB877212FBFE}"/>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05C47940-C43A-F32E-ED23-7396E7C0079D}"/>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1D1BE574-851E-D53B-DA86-42F99C2BB5FA}"/>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85D6D787-53C7-B0AD-AD9F-653C06768643}"/>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F97E63E8-5EAD-ACC6-5D0E-6BE6362416D6}"/>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F080AE19-B473-2A50-1F03-BF5A4A19A93A}"/>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B2D97F3A-7644-E375-FF53-BDB296381825}"/>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8112509-F3D4-43A4-F766-2932EB7F8575}"/>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AB73E3BD-49F0-15E9-3624-F912B4DC782F}"/>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17BB1484-865D-6E75-55E3-D4453E9D826A}"/>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121303E6-23E8-3C9D-0E14-D0478A8C5056}"/>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6AF0F2E3-228B-8230-81DC-733BD51172D7}"/>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DADE4E3F-0E81-30A1-A5BB-3311D6ACB003}"/>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179371EC-63A0-EAD1-89E1-2FC134337034}"/>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9E9B1C8D-6550-7FB0-B62C-8F52AF383D6D}"/>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918A657F-CA13-7E30-9D2D-89090F67F28E}"/>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C200005E-FE5D-3373-CDB3-D65CF7D2D0A1}"/>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991DE68E-E3AB-A597-5C1B-4A2D28CD6A8D}"/>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A031115B-4ECC-F47D-7AE6-35ED64C4B555}"/>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B0DC3849-92E1-560C-B009-49BBDE355F23}"/>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DEF81ACB-4EEB-15F5-82DB-B53EC0C8B054}"/>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A9F2CC6B-0E19-83A5-420A-1472D0A14E6A}"/>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56B7FBE1-655E-59D4-EA06-6FBE5503F936}"/>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43B6BF5C-2EDE-F70D-8DEE-280BAE9BBED8}"/>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11953966-2A8A-E341-C6F8-8D22E513C1C6}"/>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CA999B24-0591-3186-9279-E6712C1174FA}"/>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73F90677-B8B2-1202-CAD9-C3E0EA794358}"/>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D2D769A0-EBF4-697C-75B4-5B2C48621D2F}"/>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08684EFE-F8F4-17AC-7DC2-FB59DF0CEBB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C17ADA70-BC09-F52B-AA57-D9DC924FED6C}"/>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5FC67962-4269-F707-4F57-F5D2DE0E7030}"/>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C4921048-61F4-37C2-5039-C4E137F57248}"/>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B114574F-0354-46B2-B68D-014E45A7D8A8}"/>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D20EF4F9-9B32-B94F-E02B-771BE4CAEE8D}"/>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4D4A312B-4503-6997-9773-C27865812759}"/>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42C6D97F-567D-B660-8F27-39E9BB2E060E}"/>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EEAE97F5-F54F-BA09-E3DE-93B1940D56A6}"/>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701DC1B1-C4B7-1A6E-083D-F1BEF5A78200}"/>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BB485BED-2AE8-988E-E58F-C74C09E78843}"/>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1AA3D735-9E69-3A7A-8D3D-17BBBF9454E6}"/>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DE148600-2BC1-6D58-D980-8B51A83440A2}"/>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8AB9928D-0460-075F-02B4-CF6497EEE5DA}"/>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757FC627-FE71-A98D-03DA-144B4C82B225}"/>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487E3F44-2DD8-4887-49E2-A0E337BE137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C9922B8C-E876-88AE-4FC1-82B2AD59B4F6}"/>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AAA9EB88-02B1-53D9-3DCF-41EB3FB72382}"/>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EF23B8E0-608E-8B26-411E-EED6193BE0D3}"/>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F2FECB-BA81-59C1-C176-EC89EFCF57EA}"/>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A7409FFF-A363-869A-9C7B-F5B534F42336}"/>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78DA66E1-8B0A-3964-FD9A-E414EB6DA86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490A88FD-E2E2-0B73-65A1-B89F39828227}"/>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FE33B111-F93C-9BBC-8572-5E77337537FD}"/>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72909C9-F7FA-C734-5345-EFFC25C6429C}"/>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8E3DF96B-D275-CD83-BC06-48E289F5DBC3}"/>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EDFEC26A-DC90-A44F-A8FF-912D430764D0}"/>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ECB6B390-CECF-F92E-EFD8-1162A10BC5F5}"/>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AFB0F408-0D01-6548-1420-44E012F2F1FF}"/>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026C3BB9-F99C-1A79-4D1F-018776E89229}"/>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96AAA162-5A8F-0E9D-EB61-90B4CB86C314}"/>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3137E4A9-1051-52BD-CE42-AB30AB7772DC}"/>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BE8DAE25-A032-E9ED-4A69-51DF85A08BFF}"/>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F7B8C2BF-1DEE-3163-1E3E-C2B91F15FA85}"/>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26E750B4-EE7D-5FBE-B887-B3E276493230}"/>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14A56043-72DD-B3C2-D096-2511890CD587}"/>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9D072568-B4D2-1C53-A5D7-D1A5DDED5FB8}"/>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0EB6B316-4AAE-0EAA-62D4-A76175822809}"/>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A61EC186-FFD3-CDEF-8EF9-44ACAB9DA2AE}"/>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8A0F11C9-8ACC-607E-30FE-DE00374871D9}"/>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2706753F-F4DF-8171-EC1D-98D8877448AD}"/>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EFEE8DBF-D8FC-4ED8-67DE-C8FC1ED19216}"/>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CD9B1BEA-C34B-5DD3-EF68-27DD67B53747}"/>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52082DD0-EFCA-3B7C-36BE-8BFB148EEAF1}"/>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34B3A2FC-E727-8C80-6DF5-91BF36E8BAC3}"/>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16AD6296-DC54-B091-2F42-E1DC9225272E}"/>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B84A9056-87EF-BFD7-35A3-1E07BBDB9517}"/>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88467C66-29B3-4037-ECC1-86EAF3E5A57E}"/>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1F5BDCD3-98E0-E201-3AA4-2CECF6505774}"/>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9F70C27C-A948-A757-D386-D612E464552B}"/>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93923BEF-3A3A-47A4-A50B-2DA3FF98920A}"/>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28E451E4-B757-FF4F-B979-FD76177B04D1}"/>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65315426-492F-42F1-5B55-3B1DC073E5C6}"/>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DF2CD808-C208-BBB6-A673-9FDA1C22EB27}"/>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96680EF-1BB0-B56F-1D7D-8D44AC932334}"/>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B2778265-5202-FA48-2C87-4635F1873275}"/>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AF8729A0-B701-0406-C766-798F0BE2F75C}"/>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5D6AEBA0-C6D8-807C-02E1-DBFA740EBFEA}"/>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E45F01FC-A6FD-F898-D13B-0A566F42149A}"/>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E248389B-C03B-117A-1618-2A8969CE7799}"/>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777C09F-8CD5-47B5-DA21-489E6E0175EC}"/>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E2DD246B-28BF-40BF-3545-F6BD12CA1842}"/>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C34BF7BD-D243-C857-783F-99940E76D8E5}"/>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763139EE-0215-FE35-6E79-211F3B55836B}"/>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BE40FEBF-4BC0-3EF7-194F-B81CC107F6B2}"/>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BFE53BA3-D288-08E2-9473-4DA50885E844}"/>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943E6C5C-E23B-DA5B-39F4-731D9D136163}"/>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730723D0-8B4E-C4D6-E046-4A828304A3FA}"/>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AE4EE879-E4CF-51E8-7FB9-5F819B4A9563}"/>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D0CF7611-392C-1165-6658-A7B3B85C3F84}"/>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A15CCA92-2607-286F-0510-916FB3CFA4F1}"/>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06D76A4D-D93C-1DFB-2AE4-1C0136E8DF28}"/>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26FA0BBA-9233-811F-5E0F-28AB277006E4}"/>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A36DAB22-70DE-D3FB-E04F-5712C5E4D57A}"/>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4D5E2C8-BC98-AFB7-29C7-59EE0137324C}"/>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A1C661C4-BCB9-3ECE-2DE6-9BFF7E7E8ED2}"/>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01CB608-909D-F016-660F-DCBCDCE36BEB}"/>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6" name="Right Triangle 5">
            <a:extLst>
              <a:ext uri="{FF2B5EF4-FFF2-40B4-BE49-F238E27FC236}">
                <a16:creationId xmlns:a16="http://schemas.microsoft.com/office/drawing/2014/main" id="{17B1BDE6-AF92-6CA9-8505-8CA4A898D779}"/>
              </a:ext>
            </a:extLst>
          </p:cNvPr>
          <p:cNvSpPr/>
          <p:nvPr/>
        </p:nvSpPr>
        <p:spPr>
          <a:xfrm>
            <a:off x="-179805" y="880559"/>
            <a:ext cx="5977441" cy="5977441"/>
          </a:xfrm>
          <a:prstGeom prst="rtTriangle">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7" name="Rectangle 176">
            <a:extLst>
              <a:ext uri="{FF2B5EF4-FFF2-40B4-BE49-F238E27FC236}">
                <a16:creationId xmlns:a16="http://schemas.microsoft.com/office/drawing/2014/main" id="{C76D1F76-E976-435F-0915-718359B0E705}"/>
              </a:ext>
            </a:extLst>
          </p:cNvPr>
          <p:cNvSpPr/>
          <p:nvPr/>
        </p:nvSpPr>
        <p:spPr>
          <a:xfrm>
            <a:off x="-4905" y="0"/>
            <a:ext cx="6785714"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r>
              <a:rPr lang="en-US" sz="4400" kern="100" dirty="0">
                <a:solidFill>
                  <a:schemeClr val="bg1"/>
                </a:solidFill>
                <a:latin typeface="Courier" pitchFamily="2" charset="0"/>
                <a:ea typeface="Calibri" panose="020F0502020204030204" pitchFamily="34" charset="0"/>
                <a:cs typeface="Times New Roman" panose="02020603050405020304" pitchFamily="18" charset="0"/>
              </a:rPr>
              <a:t>contents</a:t>
            </a:r>
            <a:endParaRPr lang="en-US" sz="4400" kern="100" dirty="0">
              <a:solidFill>
                <a:schemeClr val="bg1"/>
              </a:solidFill>
              <a:effectLst/>
              <a:latin typeface="Courier" pitchFamily="2" charset="0"/>
              <a:ea typeface="Calibri" panose="020F0502020204030204" pitchFamily="34" charset="0"/>
              <a:cs typeface="Times New Roman" panose="02020603050405020304" pitchFamily="18" charset="0"/>
            </a:endParaRPr>
          </a:p>
        </p:txBody>
      </p:sp>
      <p:sp>
        <p:nvSpPr>
          <p:cNvPr id="178" name="Rounded Rectangle 177">
            <a:extLst>
              <a:ext uri="{FF2B5EF4-FFF2-40B4-BE49-F238E27FC236}">
                <a16:creationId xmlns:a16="http://schemas.microsoft.com/office/drawing/2014/main" id="{CCC9A221-2A56-7D2E-FFEB-4753B473795B}"/>
              </a:ext>
            </a:extLst>
          </p:cNvPr>
          <p:cNvSpPr/>
          <p:nvPr/>
        </p:nvSpPr>
        <p:spPr>
          <a:xfrm>
            <a:off x="408324" y="1956693"/>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79" name="Rounded Rectangle 178">
            <a:extLst>
              <a:ext uri="{FF2B5EF4-FFF2-40B4-BE49-F238E27FC236}">
                <a16:creationId xmlns:a16="http://schemas.microsoft.com/office/drawing/2014/main" id="{27971E31-C07A-AE31-37DB-A441CD7D7919}"/>
              </a:ext>
            </a:extLst>
          </p:cNvPr>
          <p:cNvSpPr/>
          <p:nvPr/>
        </p:nvSpPr>
        <p:spPr>
          <a:xfrm>
            <a:off x="408324" y="2726339"/>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0" name="Rounded Rectangle 179">
            <a:extLst>
              <a:ext uri="{FF2B5EF4-FFF2-40B4-BE49-F238E27FC236}">
                <a16:creationId xmlns:a16="http://schemas.microsoft.com/office/drawing/2014/main" id="{CD3AF959-2A46-3137-5EC8-F9B48C246679}"/>
              </a:ext>
            </a:extLst>
          </p:cNvPr>
          <p:cNvSpPr/>
          <p:nvPr/>
        </p:nvSpPr>
        <p:spPr>
          <a:xfrm>
            <a:off x="408324" y="3495986"/>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1" name="Rounded Rectangle 180">
            <a:extLst>
              <a:ext uri="{FF2B5EF4-FFF2-40B4-BE49-F238E27FC236}">
                <a16:creationId xmlns:a16="http://schemas.microsoft.com/office/drawing/2014/main" id="{84236C8B-1290-FDCF-9942-9F91E3C77807}"/>
              </a:ext>
            </a:extLst>
          </p:cNvPr>
          <p:cNvSpPr/>
          <p:nvPr/>
        </p:nvSpPr>
        <p:spPr>
          <a:xfrm>
            <a:off x="408324" y="1187047"/>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2" name="Rectangle 181">
            <a:extLst>
              <a:ext uri="{FF2B5EF4-FFF2-40B4-BE49-F238E27FC236}">
                <a16:creationId xmlns:a16="http://schemas.microsoft.com/office/drawing/2014/main" id="{550AF555-259A-BAC7-6A83-B48C64E5F768}"/>
              </a:ext>
            </a:extLst>
          </p:cNvPr>
          <p:cNvSpPr/>
          <p:nvPr/>
        </p:nvSpPr>
        <p:spPr>
          <a:xfrm>
            <a:off x="408324" y="1283306"/>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1</a:t>
            </a:r>
          </a:p>
        </p:txBody>
      </p:sp>
      <p:sp>
        <p:nvSpPr>
          <p:cNvPr id="183" name="Rectangle 182">
            <a:extLst>
              <a:ext uri="{FF2B5EF4-FFF2-40B4-BE49-F238E27FC236}">
                <a16:creationId xmlns:a16="http://schemas.microsoft.com/office/drawing/2014/main" id="{6ABB8FA6-0F7B-5BFA-5402-46A263D13E2C}"/>
              </a:ext>
            </a:extLst>
          </p:cNvPr>
          <p:cNvSpPr/>
          <p:nvPr/>
        </p:nvSpPr>
        <p:spPr>
          <a:xfrm>
            <a:off x="408324" y="2044334"/>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2</a:t>
            </a:r>
          </a:p>
        </p:txBody>
      </p:sp>
      <p:sp>
        <p:nvSpPr>
          <p:cNvPr id="184" name="Rectangle 183">
            <a:extLst>
              <a:ext uri="{FF2B5EF4-FFF2-40B4-BE49-F238E27FC236}">
                <a16:creationId xmlns:a16="http://schemas.microsoft.com/office/drawing/2014/main" id="{B61D67B3-4C69-C2A2-11C6-ADA64D74983B}"/>
              </a:ext>
            </a:extLst>
          </p:cNvPr>
          <p:cNvSpPr/>
          <p:nvPr/>
        </p:nvSpPr>
        <p:spPr>
          <a:xfrm>
            <a:off x="408324" y="2808986"/>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3</a:t>
            </a:r>
          </a:p>
        </p:txBody>
      </p:sp>
      <p:sp>
        <p:nvSpPr>
          <p:cNvPr id="185" name="Rectangle 184">
            <a:extLst>
              <a:ext uri="{FF2B5EF4-FFF2-40B4-BE49-F238E27FC236}">
                <a16:creationId xmlns:a16="http://schemas.microsoft.com/office/drawing/2014/main" id="{D2E24AB5-4866-03BD-9143-C82C8BC6B246}"/>
              </a:ext>
            </a:extLst>
          </p:cNvPr>
          <p:cNvSpPr/>
          <p:nvPr/>
        </p:nvSpPr>
        <p:spPr>
          <a:xfrm>
            <a:off x="408324" y="3570014"/>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4</a:t>
            </a:r>
          </a:p>
        </p:txBody>
      </p:sp>
      <p:sp>
        <p:nvSpPr>
          <p:cNvPr id="186" name="Rectangle 185">
            <a:extLst>
              <a:ext uri="{FF2B5EF4-FFF2-40B4-BE49-F238E27FC236}">
                <a16:creationId xmlns:a16="http://schemas.microsoft.com/office/drawing/2014/main" id="{19ADA066-07EA-6239-A37C-96500A546C4A}"/>
              </a:ext>
            </a:extLst>
          </p:cNvPr>
          <p:cNvSpPr/>
          <p:nvPr/>
        </p:nvSpPr>
        <p:spPr>
          <a:xfrm>
            <a:off x="1213375" y="2000177"/>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cs typeface="Times New Roman" panose="02020603050405020304" pitchFamily="18" charset="0"/>
              </a:rPr>
              <a:t>Abstract</a:t>
            </a:r>
            <a:endParaRPr lang="en-US" sz="2400" dirty="0">
              <a:solidFill>
                <a:srgbClr val="284348"/>
              </a:solidFill>
            </a:endParaRPr>
          </a:p>
        </p:txBody>
      </p:sp>
      <p:sp>
        <p:nvSpPr>
          <p:cNvPr id="187" name="Rectangle 186">
            <a:extLst>
              <a:ext uri="{FF2B5EF4-FFF2-40B4-BE49-F238E27FC236}">
                <a16:creationId xmlns:a16="http://schemas.microsoft.com/office/drawing/2014/main" id="{22528E6E-A883-903B-984A-C03763ED8E99}"/>
              </a:ext>
            </a:extLst>
          </p:cNvPr>
          <p:cNvSpPr/>
          <p:nvPr/>
        </p:nvSpPr>
        <p:spPr>
          <a:xfrm>
            <a:off x="1258464" y="2763938"/>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Existing System</a:t>
            </a:r>
          </a:p>
        </p:txBody>
      </p:sp>
      <p:sp>
        <p:nvSpPr>
          <p:cNvPr id="188" name="Rectangle 187">
            <a:extLst>
              <a:ext uri="{FF2B5EF4-FFF2-40B4-BE49-F238E27FC236}">
                <a16:creationId xmlns:a16="http://schemas.microsoft.com/office/drawing/2014/main" id="{22EA9CBD-FBD2-7B28-3F7A-77B253EE763F}"/>
              </a:ext>
            </a:extLst>
          </p:cNvPr>
          <p:cNvSpPr/>
          <p:nvPr/>
        </p:nvSpPr>
        <p:spPr>
          <a:xfrm>
            <a:off x="1213375" y="5998918"/>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Datasets</a:t>
            </a:r>
            <a:endParaRPr lang="en-US" sz="2400" dirty="0">
              <a:solidFill>
                <a:srgbClr val="284348"/>
              </a:solidFill>
            </a:endParaRPr>
          </a:p>
        </p:txBody>
      </p:sp>
      <p:sp>
        <p:nvSpPr>
          <p:cNvPr id="189" name="Rectangle 188">
            <a:extLst>
              <a:ext uri="{FF2B5EF4-FFF2-40B4-BE49-F238E27FC236}">
                <a16:creationId xmlns:a16="http://schemas.microsoft.com/office/drawing/2014/main" id="{2B24C3BD-EC74-4C1F-BC5B-E02E455A4302}"/>
              </a:ext>
            </a:extLst>
          </p:cNvPr>
          <p:cNvSpPr/>
          <p:nvPr/>
        </p:nvSpPr>
        <p:spPr>
          <a:xfrm>
            <a:off x="1206963" y="3570014"/>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cs typeface="Times New Roman" panose="02020603050405020304" pitchFamily="18" charset="0"/>
              </a:rPr>
              <a:t>Proposed System</a:t>
            </a:r>
            <a:endParaRPr lang="en-US" sz="2400" dirty="0">
              <a:solidFill>
                <a:srgbClr val="284348"/>
              </a:solidFill>
            </a:endParaRPr>
          </a:p>
        </p:txBody>
      </p:sp>
      <p:sp>
        <p:nvSpPr>
          <p:cNvPr id="193" name="Rounded Rectangle 192">
            <a:extLst>
              <a:ext uri="{FF2B5EF4-FFF2-40B4-BE49-F238E27FC236}">
                <a16:creationId xmlns:a16="http://schemas.microsoft.com/office/drawing/2014/main" id="{9B9794C0-7435-F770-47B7-063ED458ABCA}"/>
              </a:ext>
            </a:extLst>
          </p:cNvPr>
          <p:cNvSpPr/>
          <p:nvPr/>
        </p:nvSpPr>
        <p:spPr>
          <a:xfrm>
            <a:off x="427618" y="5904279"/>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94" name="Rectangle 193">
            <a:extLst>
              <a:ext uri="{FF2B5EF4-FFF2-40B4-BE49-F238E27FC236}">
                <a16:creationId xmlns:a16="http://schemas.microsoft.com/office/drawing/2014/main" id="{E9517791-9655-2290-E7A5-D97FCA7545F7}"/>
              </a:ext>
            </a:extLst>
          </p:cNvPr>
          <p:cNvSpPr/>
          <p:nvPr/>
        </p:nvSpPr>
        <p:spPr>
          <a:xfrm>
            <a:off x="427618" y="5987072"/>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7</a:t>
            </a:r>
          </a:p>
        </p:txBody>
      </p:sp>
      <p:sp>
        <p:nvSpPr>
          <p:cNvPr id="198" name="Rectangle 197">
            <a:extLst>
              <a:ext uri="{FF2B5EF4-FFF2-40B4-BE49-F238E27FC236}">
                <a16:creationId xmlns:a16="http://schemas.microsoft.com/office/drawing/2014/main" id="{7E255D06-CB08-658F-FDE2-D360057BD06C}"/>
              </a:ext>
            </a:extLst>
          </p:cNvPr>
          <p:cNvSpPr/>
          <p:nvPr/>
        </p:nvSpPr>
        <p:spPr>
          <a:xfrm>
            <a:off x="1184872" y="1254506"/>
            <a:ext cx="4114800"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Justification of Title</a:t>
            </a:r>
          </a:p>
        </p:txBody>
      </p:sp>
      <p:sp>
        <p:nvSpPr>
          <p:cNvPr id="202" name="Rounded Rectangle 201">
            <a:extLst>
              <a:ext uri="{FF2B5EF4-FFF2-40B4-BE49-F238E27FC236}">
                <a16:creationId xmlns:a16="http://schemas.microsoft.com/office/drawing/2014/main" id="{2EF34A6E-AFB3-39B1-896A-04425CB1AEF6}"/>
              </a:ext>
            </a:extLst>
          </p:cNvPr>
          <p:cNvSpPr/>
          <p:nvPr/>
        </p:nvSpPr>
        <p:spPr>
          <a:xfrm>
            <a:off x="408324" y="4316478"/>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3" name="Rounded Rectangle 202">
            <a:extLst>
              <a:ext uri="{FF2B5EF4-FFF2-40B4-BE49-F238E27FC236}">
                <a16:creationId xmlns:a16="http://schemas.microsoft.com/office/drawing/2014/main" id="{D99671FC-C7CB-CC93-7A1E-ED31AAD41AA2}"/>
              </a:ext>
            </a:extLst>
          </p:cNvPr>
          <p:cNvSpPr/>
          <p:nvPr/>
        </p:nvSpPr>
        <p:spPr>
          <a:xfrm>
            <a:off x="408324" y="5086125"/>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4" name="Rectangle 203">
            <a:extLst>
              <a:ext uri="{FF2B5EF4-FFF2-40B4-BE49-F238E27FC236}">
                <a16:creationId xmlns:a16="http://schemas.microsoft.com/office/drawing/2014/main" id="{7181CDA8-BE26-7EA2-D8C6-6872B6EFC43D}"/>
              </a:ext>
            </a:extLst>
          </p:cNvPr>
          <p:cNvSpPr/>
          <p:nvPr/>
        </p:nvSpPr>
        <p:spPr>
          <a:xfrm>
            <a:off x="408324" y="4399125"/>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5</a:t>
            </a:r>
          </a:p>
        </p:txBody>
      </p:sp>
      <p:sp>
        <p:nvSpPr>
          <p:cNvPr id="205" name="Rectangle 204">
            <a:extLst>
              <a:ext uri="{FF2B5EF4-FFF2-40B4-BE49-F238E27FC236}">
                <a16:creationId xmlns:a16="http://schemas.microsoft.com/office/drawing/2014/main" id="{E05C212A-A216-C219-9572-B93EB0A01C9B}"/>
              </a:ext>
            </a:extLst>
          </p:cNvPr>
          <p:cNvSpPr/>
          <p:nvPr/>
        </p:nvSpPr>
        <p:spPr>
          <a:xfrm>
            <a:off x="408324" y="5160153"/>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6</a:t>
            </a:r>
          </a:p>
        </p:txBody>
      </p:sp>
      <p:sp>
        <p:nvSpPr>
          <p:cNvPr id="206" name="Rectangle 205">
            <a:extLst>
              <a:ext uri="{FF2B5EF4-FFF2-40B4-BE49-F238E27FC236}">
                <a16:creationId xmlns:a16="http://schemas.microsoft.com/office/drawing/2014/main" id="{C2D7FE12-E0C8-FF0B-F50A-679180881E6F}"/>
              </a:ext>
            </a:extLst>
          </p:cNvPr>
          <p:cNvSpPr/>
          <p:nvPr/>
        </p:nvSpPr>
        <p:spPr>
          <a:xfrm>
            <a:off x="1213168" y="5212510"/>
            <a:ext cx="4920981"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cs typeface="Times New Roman" panose="02020603050405020304" pitchFamily="18" charset="0"/>
              </a:rPr>
              <a:t>Methodology / Algorithm </a:t>
            </a:r>
            <a:endParaRPr lang="en-US" sz="2400" dirty="0">
              <a:solidFill>
                <a:srgbClr val="284348"/>
              </a:solidFill>
            </a:endParaRPr>
          </a:p>
        </p:txBody>
      </p:sp>
      <p:sp>
        <p:nvSpPr>
          <p:cNvPr id="191" name="Rectangle 190">
            <a:extLst>
              <a:ext uri="{FF2B5EF4-FFF2-40B4-BE49-F238E27FC236}">
                <a16:creationId xmlns:a16="http://schemas.microsoft.com/office/drawing/2014/main" id="{CCC68BB7-2350-4795-BBB1-D1FA12192FBF}"/>
              </a:ext>
            </a:extLst>
          </p:cNvPr>
          <p:cNvSpPr/>
          <p:nvPr/>
        </p:nvSpPr>
        <p:spPr>
          <a:xfrm>
            <a:off x="5299672" y="1207985"/>
            <a:ext cx="599837" cy="4430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3200" kern="100" dirty="0">
                <a:solidFill>
                  <a:schemeClr val="bg1"/>
                </a:solidFill>
                <a:effectLst/>
                <a:latin typeface="Courier" pitchFamily="2" charset="0"/>
                <a:ea typeface="Calibri" panose="020F0502020204030204" pitchFamily="34" charset="0"/>
                <a:cs typeface="Times New Roman" panose="02020603050405020304" pitchFamily="18" charset="0"/>
              </a:rPr>
              <a:t>7</a:t>
            </a:r>
          </a:p>
        </p:txBody>
      </p:sp>
      <p:sp>
        <p:nvSpPr>
          <p:cNvPr id="192" name="Rectangle 191">
            <a:extLst>
              <a:ext uri="{FF2B5EF4-FFF2-40B4-BE49-F238E27FC236}">
                <a16:creationId xmlns:a16="http://schemas.microsoft.com/office/drawing/2014/main" id="{795CD46F-EBFC-424F-9BD5-FED61520C7FE}"/>
              </a:ext>
            </a:extLst>
          </p:cNvPr>
          <p:cNvSpPr/>
          <p:nvPr/>
        </p:nvSpPr>
        <p:spPr>
          <a:xfrm>
            <a:off x="6067724" y="1163372"/>
            <a:ext cx="4920982"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C</a:t>
            </a:r>
            <a:r>
              <a:rPr lang="en-US" sz="2400" dirty="0">
                <a:solidFill>
                  <a:srgbClr val="284348"/>
                </a:solidFill>
                <a:effectLst/>
                <a:latin typeface="Century Gothic" panose="020B0502020202020204" pitchFamily="34" charset="0"/>
                <a:ea typeface="Times New Roman" panose="02020603050405020304" pitchFamily="18" charset="0"/>
                <a:cs typeface="Times New Roman" panose="02020603050405020304" pitchFamily="18" charset="0"/>
              </a:rPr>
              <a:t>onclusion</a:t>
            </a:r>
          </a:p>
        </p:txBody>
      </p:sp>
      <p:sp>
        <p:nvSpPr>
          <p:cNvPr id="196" name="Rounded Rectangle 192">
            <a:extLst>
              <a:ext uri="{FF2B5EF4-FFF2-40B4-BE49-F238E27FC236}">
                <a16:creationId xmlns:a16="http://schemas.microsoft.com/office/drawing/2014/main" id="{F09F1CE6-AEC7-498F-B5FB-417DE2D395F8}"/>
              </a:ext>
            </a:extLst>
          </p:cNvPr>
          <p:cNvSpPr/>
          <p:nvPr/>
        </p:nvSpPr>
        <p:spPr>
          <a:xfrm>
            <a:off x="5250683" y="1109022"/>
            <a:ext cx="599837" cy="599837"/>
          </a:xfrm>
          <a:prstGeom prst="roundRect">
            <a:avLst/>
          </a:prstGeom>
          <a:solidFill>
            <a:srgbClr val="67A9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8</a:t>
            </a:r>
          </a:p>
        </p:txBody>
      </p:sp>
      <p:sp>
        <p:nvSpPr>
          <p:cNvPr id="197" name="Rectangle 196">
            <a:extLst>
              <a:ext uri="{FF2B5EF4-FFF2-40B4-BE49-F238E27FC236}">
                <a16:creationId xmlns:a16="http://schemas.microsoft.com/office/drawing/2014/main" id="{D55521EB-9DC5-4B52-8534-F3A6164B83DE}"/>
              </a:ext>
            </a:extLst>
          </p:cNvPr>
          <p:cNvSpPr/>
          <p:nvPr/>
        </p:nvSpPr>
        <p:spPr>
          <a:xfrm>
            <a:off x="1213169" y="4464503"/>
            <a:ext cx="3657955"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2400" dirty="0">
                <a:solidFill>
                  <a:srgbClr val="284348"/>
                </a:solidFill>
                <a:latin typeface="Century Gothic" panose="020B0502020202020204" pitchFamily="34" charset="0"/>
                <a:ea typeface="Times New Roman" panose="02020603050405020304" pitchFamily="18" charset="0"/>
                <a:cs typeface="Times New Roman" panose="02020603050405020304" pitchFamily="18" charset="0"/>
              </a:rPr>
              <a:t>Outcomes of Project</a:t>
            </a:r>
            <a:endParaRPr lang="en-US" sz="2400" dirty="0">
              <a:solidFill>
                <a:srgbClr val="284348"/>
              </a:solidFill>
            </a:endParaRPr>
          </a:p>
        </p:txBody>
      </p:sp>
    </p:spTree>
    <p:extLst>
      <p:ext uri="{BB962C8B-B14F-4D97-AF65-F5344CB8AC3E}">
        <p14:creationId xmlns:p14="http://schemas.microsoft.com/office/powerpoint/2010/main" val="2906110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B272B836-303F-DF4A-69B1-B2C662E9F50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02BC24B3-E39A-CB46-4E1E-768CEC92BF4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2436BCE-063A-1B43-09E4-3AEA3552CC5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A6616B3F-11BD-D8FD-89CA-7D56D09FF5F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DB4174E-509B-CF12-3BBF-0028C4D1663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31A3526-0937-7AB7-D30D-8870E9E719FB}"/>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EB7D4F9D-7741-FDC2-3741-CDF62A89A0A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D2D0A7FB-AA0E-1C19-5625-0FB54171CCF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A69B4B22-6F5A-FCB4-73ED-B60A3F13C8F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D6C01E5-B9A7-3F15-A590-FAA17C94DB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F775AE82-2537-4B05-330D-3AF2C37B1F0E}"/>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FF5C9632-1C53-F6BA-A1DA-7B0EB01C6E7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494B565-E2DA-D992-2272-831FAB18CD28}"/>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AA822E09-3362-108B-8798-EC8292F549FE}"/>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2C831DFE-47FB-E3D4-D5D2-9F583B3FEFC6}"/>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F0B3D84-9378-FF28-B840-0B20A983CEE2}"/>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C73E7F8-D1D3-B301-76CF-13B8B2ABE81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9DBC961-5BE8-85E0-50B9-413EFE96AD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FB8399A-B674-9339-D63B-BFC9BBEABFC9}"/>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C3D9DE4-4371-9055-4B9D-A7D8990BC129}"/>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8B9270AF-ED1F-1411-1CAA-46F106488251}"/>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AD2E06C7-C283-457E-10FF-A0D9E71CDC9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CCFA092-BB4F-F4F2-A5CD-6BD4E37677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B654535-BBE5-AB0E-61BC-13E959EAC58B}"/>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2079DAE5-59E5-0967-317C-13A94DF5354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4A9868D-358C-979E-0D2F-84D51462320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429AA5E6-7ED1-8382-E428-68AB2F3BB39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A4AEDC2C-D56D-FD92-7B29-7FA38F85E67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617ED90-AE8D-BA61-0D56-6ABDD7C248D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C1E3486-760F-0831-2891-78277486CDED}"/>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9F9A68D-8B7F-0937-780B-25A30672527A}"/>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09B92A9-12EB-6D7E-30FC-8581666C702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FA401D31-0501-9FC4-A959-55B5EB9526D7}"/>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BBE587C8-D91B-0ABE-40E2-C1F88AD22C3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0736F4B9-5F6B-284D-A8C8-C4D6EB8364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DBCD5585-B771-28CF-5638-CA6ADF70CEAB}"/>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E6BA4B3-165F-23BD-5B2B-25CDF0C6C5B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DEEAEA1A-F391-64D7-033E-FDEBD5DEA025}"/>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832A59C-F643-EABB-6887-41B2D8D6495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960EE77C-1B6A-2D49-8C6C-11B191C3E03A}"/>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01DA9E69-ED6B-C85C-74BA-191FE05EC48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2F6215A-84D3-0DC8-4B16-AF901F73FC6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CFB554D9-6A3C-2352-7CB3-7954CCFAE00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4685958D-E39A-CAC7-67F4-DBF3A87D183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14493297-4BD7-5010-739F-C152F576EA6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B37008F-0FFE-EF29-1D88-2CDD3DB6B9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C4F2AF6-AFCC-9939-79D2-7A1690280168}"/>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490FED5B-B21A-98E2-5EE8-71512ACF172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F3F54A48-FBD1-6597-C96C-B9FED8D3AFB7}"/>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F210C79F-E766-B137-A052-F060B344F53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80C35B28-2ED2-2755-5AE1-A66F4DFAA8A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AB9A3344-4D04-B32F-FD89-AF6F51416BBF}"/>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A57EBA0F-BF87-1BB9-24D1-C10C4D75397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A033F54E-11DC-29C2-D514-8B65F590C94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AE2B9EC8-479D-D5D8-6BCA-057218002C3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BDCDC82B-0D9A-2EE4-9B3E-CF599F760347}"/>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A4AA3840-594E-06FE-0A71-30CE90557E3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42ED5282-FA59-F5AF-648F-2A453D9779B8}"/>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B79E65-E610-34FA-C420-BCF913D122B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9728ABB-945F-C69B-1928-27FEE400AE9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D8072CB1-B5CD-9356-A549-AA020ACA7B0B}"/>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E0FA01F9-C391-1654-A89D-D52449152939}"/>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FC130C3-1C07-1667-4EBC-6AD73E51EEB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88F9D8-EB9C-16EA-CFE3-135920BBC16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C6C7310-671C-B284-B7F8-A3E8FB1800B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5F953CD5-5686-8CBA-CBB8-1F26F9018E7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7BADDD77-D9A6-8181-B0AC-C6BEFA3E95A1}"/>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A0A3682-B0A9-29FA-1599-3080E9906AB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663EA5C-A76E-9895-678B-A2EDB2931ABA}"/>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DAE84B9E-077F-763A-85D3-145EB11C396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D66DAD28-8608-603E-039D-812413132E2F}"/>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37424B85-59D5-ED1B-1E16-A610508AD95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837843F9-878D-7589-15C8-D97EEBFC1D11}"/>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C0BDE6A0-10E0-3427-1C7B-EA5E6D644758}"/>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2C9D456-4204-3EF2-46D3-9860E49808CE}"/>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982399C-C36A-15B5-ACF1-82617BF7A95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CFF4D0C-089E-70F7-4235-BE74CF1C2815}"/>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8731147F-C7BE-5636-9A89-DC61C5FFDD0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A5D3295F-510F-F59C-7C46-1DD2D94E7D89}"/>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33ED0707-5D7F-A4AC-5758-7B87830037E5}"/>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6112A6F8-6F9B-B524-5A8C-115DCD59E1AB}"/>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71E06284-8328-8C24-1858-B235EA2AC4CD}"/>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134E17CD-D47F-B5BB-46C6-C9C8343DC58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6CD04A39-C69A-A9B9-12B3-D1ACCACAD3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B168A7EF-2378-97A6-EB9E-5138CF0DEDE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38F5637D-71F6-10CF-32C5-5EEB7547998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8455D73-747E-056B-7B38-8A001DF0975A}"/>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06C0A3B2-92B9-6A16-B5FF-A74D2F748F2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35AC269-03D3-675D-4C48-08D6CE86D4C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EBD5AA58-306D-EB99-32B5-9E4A1640A9D3}"/>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8716CA12-D736-2D47-505A-4E57016A89B2}"/>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24491B8-458E-01A7-4909-5893814B8D5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E039EE44-DAC7-5757-4BF2-EA2A26BEA92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09F3D42-1DD6-BD53-022E-9DFCD504830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7D85F3FA-EB83-8F16-0B69-E6B9D38B8AEE}"/>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669A6764-8AC2-FE4D-90C9-15CA00F37E5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821CA983-C5A8-757E-F0A7-A4D98780051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DB299C9-C10F-6BD1-9AFE-22EF237729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ECAEEB9-0496-CCEF-13F3-71167F70256E}"/>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222EF5CE-20AB-28AB-F26B-A88E085941B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0138DB83-A947-E98D-D6E2-0F369DC669D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11FF71F-EE8F-61C1-5CBA-D0066698004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C71722CA-EBE9-82B1-621E-306960CB6E02}"/>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C646E80-51C4-039E-FAEC-CAD0F7CA145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FB0F54E-128B-5239-A521-2EEBE2D1916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3A8941A6-7F83-281A-03C0-660FB6AC3D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18D1468-A732-D1A1-DCD9-B2AE4A776E8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72D15E5-F3D1-86AD-6923-E1C631250F7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D8B9901C-934D-534C-B018-95631FE5E49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A30F3CAB-4984-0AAD-0789-9C721786C1B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BACA79-42B5-5D7D-459A-B644504C708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5314BA32-099D-5AD2-041E-50CAE1A96419}"/>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6D58FBC-3DC3-EEF8-7A21-2CAE571371E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3BCD7C23-EFA9-DD7B-E708-94DD702C4C8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35CD32A3-6E53-4DF6-FFF6-ACA214FD714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FF920B72-20A0-E030-5EC6-20094CF0EF7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9E5EACAF-8340-0440-CFCE-CD483845D92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E324DBAA-B96D-2F3C-08AB-0F24C14D9324}"/>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BAC4BEB-5471-BFC1-84ED-C2287007D22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5142260-56EC-D969-3DF2-8FFB3A03683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E181CF7-9B33-6E89-A038-436D066A7CF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6FDB59CB-2A88-326F-B50C-13DD5449741C}"/>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2800" dirty="0">
              <a:solidFill>
                <a:schemeClr val="tx1">
                  <a:lumMod val="65000"/>
                  <a:lumOff val="35000"/>
                </a:schemeClr>
              </a:solidFill>
            </a:endParaRPr>
          </a:p>
        </p:txBody>
      </p:sp>
      <p:sp>
        <p:nvSpPr>
          <p:cNvPr id="170" name="Rectangle 169">
            <a:extLst>
              <a:ext uri="{FF2B5EF4-FFF2-40B4-BE49-F238E27FC236}">
                <a16:creationId xmlns:a16="http://schemas.microsoft.com/office/drawing/2014/main" id="{FE515F57-09B5-448B-92E7-FC5DA071875D}"/>
              </a:ext>
            </a:extLst>
          </p:cNvPr>
          <p:cNvSpPr/>
          <p:nvPr/>
        </p:nvSpPr>
        <p:spPr>
          <a:xfrm>
            <a:off x="1297450" y="773844"/>
            <a:ext cx="4114800"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Justification of Title</a:t>
            </a:r>
          </a:p>
        </p:txBody>
      </p:sp>
      <p:sp>
        <p:nvSpPr>
          <p:cNvPr id="4" name="TextBox 3">
            <a:extLst>
              <a:ext uri="{FF2B5EF4-FFF2-40B4-BE49-F238E27FC236}">
                <a16:creationId xmlns:a16="http://schemas.microsoft.com/office/drawing/2014/main" id="{75414731-81FB-ED3A-0A63-5A6D4E9307CE}"/>
              </a:ext>
            </a:extLst>
          </p:cNvPr>
          <p:cNvSpPr txBox="1"/>
          <p:nvPr/>
        </p:nvSpPr>
        <p:spPr>
          <a:xfrm>
            <a:off x="1184988" y="1421686"/>
            <a:ext cx="10248676" cy="5170646"/>
          </a:xfrm>
          <a:prstGeom prst="rect">
            <a:avLst/>
          </a:prstGeom>
          <a:noFill/>
        </p:spPr>
        <p:txBody>
          <a:bodyPr wrap="square">
            <a:spAutoFit/>
          </a:bodyPr>
          <a:lstStyle/>
          <a:p>
            <a:r>
              <a:rPr lang="en-IN" sz="2200" b="1" dirty="0"/>
              <a:t>"Telugu Handwritten Word Recognition"</a:t>
            </a:r>
            <a:r>
              <a:rPr lang="en-IN" sz="2200" dirty="0"/>
              <a:t>: Defines the exact problem domain.</a:t>
            </a:r>
          </a:p>
          <a:p>
            <a:endParaRPr lang="en-IN" sz="2200" dirty="0"/>
          </a:p>
          <a:p>
            <a:r>
              <a:rPr lang="en-IN" sz="2200" b="1" dirty="0"/>
              <a:t>"Transformer Decoder Architecture"</a:t>
            </a:r>
            <a:r>
              <a:rPr lang="en-IN" sz="2200" dirty="0"/>
              <a:t>: Specifies the core autoregressive model used, contrasting with older RNN/LSTM approaches.</a:t>
            </a:r>
          </a:p>
          <a:p>
            <a:endParaRPr lang="en-IN" sz="2200" dirty="0"/>
          </a:p>
          <a:p>
            <a:r>
              <a:rPr lang="en-IN" sz="2200" b="1" dirty="0"/>
              <a:t>“CTC” </a:t>
            </a:r>
            <a:r>
              <a:rPr lang="en-IN" sz="2200" dirty="0"/>
              <a:t>— Connectionist Temporal Classification (A loss function used to train models like </a:t>
            </a:r>
            <a:r>
              <a:rPr lang="en-IN" sz="2200" dirty="0" err="1"/>
              <a:t>BiLSTM</a:t>
            </a:r>
            <a:r>
              <a:rPr lang="en-IN" sz="2200" dirty="0"/>
              <a:t> when the alignment between the input image and output text is unknown)</a:t>
            </a:r>
          </a:p>
          <a:p>
            <a:endParaRPr lang="en-IN" sz="2200" dirty="0"/>
          </a:p>
          <a:p>
            <a:r>
              <a:rPr lang="en-IN" sz="2200" b="1" dirty="0"/>
              <a:t>"Joint CTC Loss"</a:t>
            </a:r>
            <a:r>
              <a:rPr lang="en-IN" sz="2200" dirty="0"/>
              <a:t>: Highlights the training innovation (using CTC as an auxiliary </a:t>
            </a:r>
            <a:r>
              <a:rPr lang="en-IN" sz="2200" dirty="0" err="1"/>
              <a:t>regularizer</a:t>
            </a:r>
            <a:r>
              <a:rPr lang="en-IN" sz="2200" dirty="0"/>
              <a:t> for the encoder).</a:t>
            </a:r>
          </a:p>
          <a:p>
            <a:endParaRPr lang="en-IN" sz="2200" dirty="0"/>
          </a:p>
          <a:p>
            <a:r>
              <a:rPr lang="en-IN" sz="2200" b="1" dirty="0"/>
              <a:t>"Script-Specific Decoding Constraints"</a:t>
            </a:r>
            <a:r>
              <a:rPr lang="en-IN" sz="2200" dirty="0"/>
              <a:t>: Highlights the primary novelty—incorporating Telugu linguistic rules (Akshara bigrams) to prevent orthographically impossible predictions.</a:t>
            </a:r>
          </a:p>
          <a:p>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159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B272B836-303F-DF4A-69B1-B2C662E9F50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02BC24B3-E39A-CB46-4E1E-768CEC92BF4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2436BCE-063A-1B43-09E4-3AEA3552CC5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A6616B3F-11BD-D8FD-89CA-7D56D09FF5F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DB4174E-509B-CF12-3BBF-0028C4D1663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31A3526-0937-7AB7-D30D-8870E9E719FB}"/>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EB7D4F9D-7741-FDC2-3741-CDF62A89A0A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D2D0A7FB-AA0E-1C19-5625-0FB54171CCF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A69B4B22-6F5A-FCB4-73ED-B60A3F13C8F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D6C01E5-B9A7-3F15-A590-FAA17C94DB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F775AE82-2537-4B05-330D-3AF2C37B1F0E}"/>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FF5C9632-1C53-F6BA-A1DA-7B0EB01C6E7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494B565-E2DA-D992-2272-831FAB18CD28}"/>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AA822E09-3362-108B-8798-EC8292F549FE}"/>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2C831DFE-47FB-E3D4-D5D2-9F583B3FEFC6}"/>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F0B3D84-9378-FF28-B840-0B20A983CEE2}"/>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C73E7F8-D1D3-B301-76CF-13B8B2ABE81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9DBC961-5BE8-85E0-50B9-413EFE96AD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FB8399A-B674-9339-D63B-BFC9BBEABFC9}"/>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C3D9DE4-4371-9055-4B9D-A7D8990BC129}"/>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8B9270AF-ED1F-1411-1CAA-46F106488251}"/>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AD2E06C7-C283-457E-10FF-A0D9E71CDC9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CCFA092-BB4F-F4F2-A5CD-6BD4E37677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B654535-BBE5-AB0E-61BC-13E959EAC58B}"/>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2079DAE5-59E5-0967-317C-13A94DF5354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4A9868D-358C-979E-0D2F-84D51462320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429AA5E6-7ED1-8382-E428-68AB2F3BB39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A4AEDC2C-D56D-FD92-7B29-7FA38F85E67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617ED90-AE8D-BA61-0D56-6ABDD7C248D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C1E3486-760F-0831-2891-78277486CDED}"/>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9F9A68D-8B7F-0937-780B-25A30672527A}"/>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09B92A9-12EB-6D7E-30FC-8581666C702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FA401D31-0501-9FC4-A959-55B5EB9526D7}"/>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BBE587C8-D91B-0ABE-40E2-C1F88AD22C3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0736F4B9-5F6B-284D-A8C8-C4D6EB8364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DBCD5585-B771-28CF-5638-CA6ADF70CEAB}"/>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E6BA4B3-165F-23BD-5B2B-25CDF0C6C5B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DEEAEA1A-F391-64D7-033E-FDEBD5DEA025}"/>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832A59C-F643-EABB-6887-41B2D8D6495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960EE77C-1B6A-2D49-8C6C-11B191C3E03A}"/>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01DA9E69-ED6B-C85C-74BA-191FE05EC48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2F6215A-84D3-0DC8-4B16-AF901F73FC6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CFB554D9-6A3C-2352-7CB3-7954CCFAE00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4685958D-E39A-CAC7-67F4-DBF3A87D183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14493297-4BD7-5010-739F-C152F576EA6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B37008F-0FFE-EF29-1D88-2CDD3DB6B9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C4F2AF6-AFCC-9939-79D2-7A1690280168}"/>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490FED5B-B21A-98E2-5EE8-71512ACF172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F3F54A48-FBD1-6597-C96C-B9FED8D3AFB7}"/>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F210C79F-E766-B137-A052-F060B344F53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80C35B28-2ED2-2755-5AE1-A66F4DFAA8A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AB9A3344-4D04-B32F-FD89-AF6F51416BBF}"/>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A57EBA0F-BF87-1BB9-24D1-C10C4D75397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A033F54E-11DC-29C2-D514-8B65F590C94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AE2B9EC8-479D-D5D8-6BCA-057218002C3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BDCDC82B-0D9A-2EE4-9B3E-CF599F760347}"/>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A4AA3840-594E-06FE-0A71-30CE90557E3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42ED5282-FA59-F5AF-648F-2A453D9779B8}"/>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B79E65-E610-34FA-C420-BCF913D122B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9728ABB-945F-C69B-1928-27FEE400AE9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D8072CB1-B5CD-9356-A549-AA020ACA7B0B}"/>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E0FA01F9-C391-1654-A89D-D52449152939}"/>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FC130C3-1C07-1667-4EBC-6AD73E51EEB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88F9D8-EB9C-16EA-CFE3-135920BBC16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C6C7310-671C-B284-B7F8-A3E8FB1800B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5F953CD5-5686-8CBA-CBB8-1F26F9018E7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7BADDD77-D9A6-8181-B0AC-C6BEFA3E95A1}"/>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A0A3682-B0A9-29FA-1599-3080E9906AB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663EA5C-A76E-9895-678B-A2EDB2931ABA}"/>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DAE84B9E-077F-763A-85D3-145EB11C396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D66DAD28-8608-603E-039D-812413132E2F}"/>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37424B85-59D5-ED1B-1E16-A610508AD95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837843F9-878D-7589-15C8-D97EEBFC1D11}"/>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C0BDE6A0-10E0-3427-1C7B-EA5E6D644758}"/>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2C9D456-4204-3EF2-46D3-9860E49808CE}"/>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982399C-C36A-15B5-ACF1-82617BF7A95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CFF4D0C-089E-70F7-4235-BE74CF1C2815}"/>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8731147F-C7BE-5636-9A89-DC61C5FFDD0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A5D3295F-510F-F59C-7C46-1DD2D94E7D89}"/>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33ED0707-5D7F-A4AC-5758-7B87830037E5}"/>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6112A6F8-6F9B-B524-5A8C-115DCD59E1AB}"/>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71E06284-8328-8C24-1858-B235EA2AC4CD}"/>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134E17CD-D47F-B5BB-46C6-C9C8343DC58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6CD04A39-C69A-A9B9-12B3-D1ACCACAD3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B168A7EF-2378-97A6-EB9E-5138CF0DEDE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38F5637D-71F6-10CF-32C5-5EEB7547998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8455D73-747E-056B-7B38-8A001DF0975A}"/>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06C0A3B2-92B9-6A16-B5FF-A74D2F748F2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35AC269-03D3-675D-4C48-08D6CE86D4C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EBD5AA58-306D-EB99-32B5-9E4A1640A9D3}"/>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8716CA12-D736-2D47-505A-4E57016A89B2}"/>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24491B8-458E-01A7-4909-5893814B8D5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E039EE44-DAC7-5757-4BF2-EA2A26BEA92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09F3D42-1DD6-BD53-022E-9DFCD504830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7D85F3FA-EB83-8F16-0B69-E6B9D38B8AEE}"/>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669A6764-8AC2-FE4D-90C9-15CA00F37E5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821CA983-C5A8-757E-F0A7-A4D98780051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DB299C9-C10F-6BD1-9AFE-22EF237729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ECAEEB9-0496-CCEF-13F3-71167F70256E}"/>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222EF5CE-20AB-28AB-F26B-A88E085941B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0138DB83-A947-E98D-D6E2-0F369DC669D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11FF71F-EE8F-61C1-5CBA-D0066698004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C71722CA-EBE9-82B1-621E-306960CB6E02}"/>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C646E80-51C4-039E-FAEC-CAD0F7CA145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FB0F54E-128B-5239-A521-2EEBE2D1916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3A8941A6-7F83-281A-03C0-660FB6AC3D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18D1468-A732-D1A1-DCD9-B2AE4A776E8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72D15E5-F3D1-86AD-6923-E1C631250F7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D8B9901C-934D-534C-B018-95631FE5E49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A30F3CAB-4984-0AAD-0789-9C721786C1B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BACA79-42B5-5D7D-459A-B644504C708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5314BA32-099D-5AD2-041E-50CAE1A96419}"/>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6D58FBC-3DC3-EEF8-7A21-2CAE571371E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3BCD7C23-EFA9-DD7B-E708-94DD702C4C8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35CD32A3-6E53-4DF6-FFF6-ACA214FD714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FF920B72-20A0-E030-5EC6-20094CF0EF7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9E5EACAF-8340-0440-CFCE-CD483845D92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E324DBAA-B96D-2F3C-08AB-0F24C14D9324}"/>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BAC4BEB-5471-BFC1-84ED-C2287007D22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5142260-56EC-D969-3DF2-8FFB3A03683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E181CF7-9B33-6E89-A038-436D066A7CF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6FDB59CB-2A88-326F-B50C-13DD5449741C}"/>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2800" dirty="0">
              <a:solidFill>
                <a:schemeClr val="tx1">
                  <a:lumMod val="65000"/>
                  <a:lumOff val="35000"/>
                </a:schemeClr>
              </a:solidFill>
            </a:endParaRPr>
          </a:p>
        </p:txBody>
      </p:sp>
      <p:sp>
        <p:nvSpPr>
          <p:cNvPr id="171" name="Rectangle 170">
            <a:extLst>
              <a:ext uri="{FF2B5EF4-FFF2-40B4-BE49-F238E27FC236}">
                <a16:creationId xmlns:a16="http://schemas.microsoft.com/office/drawing/2014/main" id="{399D189F-4A6E-4780-B8BA-D8DF2A40A12C}"/>
              </a:ext>
            </a:extLst>
          </p:cNvPr>
          <p:cNvSpPr/>
          <p:nvPr/>
        </p:nvSpPr>
        <p:spPr>
          <a:xfrm>
            <a:off x="1173494" y="517816"/>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600" b="1" dirty="0">
                <a:solidFill>
                  <a:srgbClr val="FF0000"/>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E3AC4D14-BA0E-3D94-C60B-73C4A38EB56F}"/>
              </a:ext>
            </a:extLst>
          </p:cNvPr>
          <p:cNvSpPr txBox="1"/>
          <p:nvPr/>
        </p:nvSpPr>
        <p:spPr>
          <a:xfrm>
            <a:off x="951723" y="1421686"/>
            <a:ext cx="9748650" cy="4493538"/>
          </a:xfrm>
          <a:prstGeom prst="rect">
            <a:avLst/>
          </a:prstGeom>
          <a:noFill/>
        </p:spPr>
        <p:txBody>
          <a:bodyPr wrap="square">
            <a:spAutoFit/>
          </a:bodyPr>
          <a:lstStyle/>
          <a:p>
            <a:pPr marL="342900" indent="-342900">
              <a:buFont typeface="Arial" panose="020B0604020202020204" pitchFamily="34" charset="0"/>
              <a:buChar char="•"/>
            </a:pPr>
            <a:r>
              <a:rPr lang="en-IN" sz="2200" b="1" dirty="0"/>
              <a:t>Handwritten Text Recognition (HTR)</a:t>
            </a:r>
            <a:r>
              <a:rPr lang="en-IN" sz="2200" dirty="0"/>
              <a:t> for Indic scripts like </a:t>
            </a:r>
            <a:r>
              <a:rPr lang="en-IN" sz="2200" b="1" dirty="0"/>
              <a:t>Telugu</a:t>
            </a:r>
            <a:r>
              <a:rPr lang="en-IN" sz="2200" dirty="0"/>
              <a:t> is a challenging task. Telugu script has a </a:t>
            </a:r>
            <a:r>
              <a:rPr lang="en-IN" sz="2200" b="1" dirty="0"/>
              <a:t>complex, non-linear structure</a:t>
            </a:r>
            <a:r>
              <a:rPr lang="en-IN" sz="2200" dirty="0"/>
              <a:t>.</a:t>
            </a:r>
          </a:p>
          <a:p>
            <a:pPr marL="342900" indent="-342900">
              <a:buFont typeface="Arial" panose="020B0604020202020204" pitchFamily="34" charset="0"/>
              <a:buChar char="•"/>
            </a:pPr>
            <a:r>
              <a:rPr lang="en-IN" sz="2200" dirty="0"/>
              <a:t>Frequent use of </a:t>
            </a:r>
            <a:r>
              <a:rPr lang="en-IN" sz="2200" b="1" dirty="0"/>
              <a:t>conjunct consonants (compound characters)</a:t>
            </a:r>
            <a:r>
              <a:rPr lang="en-IN" sz="2200" dirty="0"/>
              <a:t> increases recognition difficulty. </a:t>
            </a:r>
          </a:p>
          <a:p>
            <a:pPr marL="342900" indent="-342900">
              <a:buFont typeface="Arial" panose="020B0604020202020204" pitchFamily="34" charset="0"/>
              <a:buChar char="•"/>
            </a:pPr>
            <a:r>
              <a:rPr lang="en-IN" sz="2200" b="1" dirty="0"/>
              <a:t>High intra-class variation</a:t>
            </a:r>
            <a:r>
              <a:rPr lang="en-IN" sz="2200" dirty="0"/>
              <a:t> in handwriting affects model performance. Traditional HTR systems rely on </a:t>
            </a:r>
            <a:r>
              <a:rPr lang="en-IN" sz="2200" b="1" dirty="0"/>
              <a:t>Connectionist Temporal Classification (CTC)</a:t>
            </a:r>
            <a:r>
              <a:rPr lang="en-IN" sz="2200" dirty="0"/>
              <a:t> with </a:t>
            </a:r>
            <a:r>
              <a:rPr lang="en-IN" sz="2200" b="1" dirty="0"/>
              <a:t>Recurrent Neural Networks (RNNs)</a:t>
            </a:r>
            <a:r>
              <a:rPr lang="en-IN" sz="2200" dirty="0"/>
              <a:t>.</a:t>
            </a:r>
          </a:p>
          <a:p>
            <a:pPr marL="342900" indent="-342900">
              <a:buFont typeface="Arial" panose="020B0604020202020204" pitchFamily="34" charset="0"/>
              <a:buChar char="•"/>
            </a:pPr>
            <a:r>
              <a:rPr lang="en-IN" sz="2200" dirty="0"/>
              <a:t> The proposed architecture uses a </a:t>
            </a:r>
            <a:r>
              <a:rPr lang="en-IN" sz="2200" b="1" dirty="0"/>
              <a:t>ResNet-18 Convolutional Encoder</a:t>
            </a:r>
            <a:r>
              <a:rPr lang="en-IN" sz="2200" dirty="0"/>
              <a:t> with an </a:t>
            </a:r>
            <a:r>
              <a:rPr lang="en-IN" sz="2200" b="1" dirty="0"/>
              <a:t>autoregressive Transformer Decoder</a:t>
            </a:r>
            <a:r>
              <a:rPr lang="en-IN" sz="2200" dirty="0"/>
              <a:t>. I</a:t>
            </a:r>
          </a:p>
          <a:p>
            <a:pPr marL="342900" indent="-342900">
              <a:buFont typeface="Arial" panose="020B0604020202020204" pitchFamily="34" charset="0"/>
              <a:buChar char="•"/>
            </a:pPr>
            <a:r>
              <a:rPr lang="en-IN" sz="2200" dirty="0" err="1"/>
              <a:t>ntroduces</a:t>
            </a:r>
            <a:r>
              <a:rPr lang="en-IN" sz="2200" dirty="0"/>
              <a:t> a </a:t>
            </a:r>
            <a:r>
              <a:rPr lang="en-IN" sz="2200" b="1" dirty="0"/>
              <a:t>Script-Specific Decoding Constraint</a:t>
            </a:r>
            <a:r>
              <a:rPr lang="en-IN" sz="2200" dirty="0"/>
              <a:t> using a </a:t>
            </a:r>
            <a:r>
              <a:rPr lang="en-IN" sz="2200" b="1" dirty="0"/>
              <a:t>valid-bigram transition matrix</a:t>
            </a:r>
            <a:r>
              <a:rPr lang="en-IN" sz="2200" dirty="0"/>
              <a:t> based on Telugu linguistic rules (</a:t>
            </a:r>
            <a:r>
              <a:rPr lang="en-IN" sz="2200" b="1" dirty="0" err="1"/>
              <a:t>Aksharas</a:t>
            </a:r>
            <a:r>
              <a:rPr lang="en-IN" sz="2200" dirty="0"/>
              <a:t>). </a:t>
            </a:r>
          </a:p>
          <a:p>
            <a:pPr marL="342900" indent="-342900">
              <a:buFont typeface="Arial" panose="020B0604020202020204" pitchFamily="34" charset="0"/>
              <a:buChar char="•"/>
            </a:pPr>
            <a:r>
              <a:rPr lang="en-IN" sz="2200" dirty="0"/>
              <a:t>Achieves better recognition of </a:t>
            </a:r>
            <a:r>
              <a:rPr lang="en-IN" sz="2200" b="1" dirty="0"/>
              <a:t>complex compound characters</a:t>
            </a:r>
            <a:r>
              <a:rPr lang="en-IN" sz="2200" dirty="0"/>
              <a:t>, especially those containing the </a:t>
            </a:r>
            <a:r>
              <a:rPr lang="en-IN" sz="2200" b="1" dirty="0"/>
              <a:t>virama (్)</a:t>
            </a:r>
            <a:r>
              <a:rPr lang="en-IN" sz="2200" dirty="0"/>
              <a:t>.</a:t>
            </a:r>
          </a:p>
        </p:txBody>
      </p:sp>
    </p:spTree>
    <p:extLst>
      <p:ext uri="{BB962C8B-B14F-4D97-AF65-F5344CB8AC3E}">
        <p14:creationId xmlns:p14="http://schemas.microsoft.com/office/powerpoint/2010/main" val="958779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B272B836-303F-DF4A-69B1-B2C662E9F50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02BC24B3-E39A-CB46-4E1E-768CEC92BF4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2436BCE-063A-1B43-09E4-3AEA3552CC5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A6616B3F-11BD-D8FD-89CA-7D56D09FF5F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DB4174E-509B-CF12-3BBF-0028C4D1663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31A3526-0937-7AB7-D30D-8870E9E719FB}"/>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EB7D4F9D-7741-FDC2-3741-CDF62A89A0A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D2D0A7FB-AA0E-1C19-5625-0FB54171CCF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A69B4B22-6F5A-FCB4-73ED-B60A3F13C8F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D6C01E5-B9A7-3F15-A590-FAA17C94DB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F775AE82-2537-4B05-330D-3AF2C37B1F0E}"/>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FF5C9632-1C53-F6BA-A1DA-7B0EB01C6E7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494B565-E2DA-D992-2272-831FAB18CD28}"/>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AA822E09-3362-108B-8798-EC8292F549FE}"/>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2C831DFE-47FB-E3D4-D5D2-9F583B3FEFC6}"/>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F0B3D84-9378-FF28-B840-0B20A983CEE2}"/>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C73E7F8-D1D3-B301-76CF-13B8B2ABE81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9DBC961-5BE8-85E0-50B9-413EFE96AD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FB8399A-B674-9339-D63B-BFC9BBEABFC9}"/>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C3D9DE4-4371-9055-4B9D-A7D8990BC129}"/>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8B9270AF-ED1F-1411-1CAA-46F106488251}"/>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AD2E06C7-C283-457E-10FF-A0D9E71CDC9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CCFA092-BB4F-F4F2-A5CD-6BD4E37677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B654535-BBE5-AB0E-61BC-13E959EAC58B}"/>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2079DAE5-59E5-0967-317C-13A94DF5354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4A9868D-358C-979E-0D2F-84D51462320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429AA5E6-7ED1-8382-E428-68AB2F3BB39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A4AEDC2C-D56D-FD92-7B29-7FA38F85E67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617ED90-AE8D-BA61-0D56-6ABDD7C248D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C1E3486-760F-0831-2891-78277486CDED}"/>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9F9A68D-8B7F-0937-780B-25A30672527A}"/>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09B92A9-12EB-6D7E-30FC-8581666C702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FA401D31-0501-9FC4-A959-55B5EB9526D7}"/>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BBE587C8-D91B-0ABE-40E2-C1F88AD22C3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0736F4B9-5F6B-284D-A8C8-C4D6EB8364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DBCD5585-B771-28CF-5638-CA6ADF70CEAB}"/>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E6BA4B3-165F-23BD-5B2B-25CDF0C6C5B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DEEAEA1A-F391-64D7-033E-FDEBD5DEA025}"/>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832A59C-F643-EABB-6887-41B2D8D6495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960EE77C-1B6A-2D49-8C6C-11B191C3E03A}"/>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01DA9E69-ED6B-C85C-74BA-191FE05EC48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2F6215A-84D3-0DC8-4B16-AF901F73FC6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CFB554D9-6A3C-2352-7CB3-7954CCFAE00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4685958D-E39A-CAC7-67F4-DBF3A87D183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14493297-4BD7-5010-739F-C152F576EA6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B37008F-0FFE-EF29-1D88-2CDD3DB6B9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C4F2AF6-AFCC-9939-79D2-7A1690280168}"/>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490FED5B-B21A-98E2-5EE8-71512ACF172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F3F54A48-FBD1-6597-C96C-B9FED8D3AFB7}"/>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F210C79F-E766-B137-A052-F060B344F53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80C35B28-2ED2-2755-5AE1-A66F4DFAA8A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AB9A3344-4D04-B32F-FD89-AF6F51416BBF}"/>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A57EBA0F-BF87-1BB9-24D1-C10C4D75397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A033F54E-11DC-29C2-D514-8B65F590C94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AE2B9EC8-479D-D5D8-6BCA-057218002C3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BDCDC82B-0D9A-2EE4-9B3E-CF599F760347}"/>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A4AA3840-594E-06FE-0A71-30CE90557E3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42ED5282-FA59-F5AF-648F-2A453D9779B8}"/>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B79E65-E610-34FA-C420-BCF913D122B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9728ABB-945F-C69B-1928-27FEE400AE9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D8072CB1-B5CD-9356-A549-AA020ACA7B0B}"/>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E0FA01F9-C391-1654-A89D-D52449152939}"/>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FC130C3-1C07-1667-4EBC-6AD73E51EEB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88F9D8-EB9C-16EA-CFE3-135920BBC16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C6C7310-671C-B284-B7F8-A3E8FB1800B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5F953CD5-5686-8CBA-CBB8-1F26F9018E7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7BADDD77-D9A6-8181-B0AC-C6BEFA3E95A1}"/>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A0A3682-B0A9-29FA-1599-3080E9906AB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663EA5C-A76E-9895-678B-A2EDB2931ABA}"/>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DAE84B9E-077F-763A-85D3-145EB11C396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D66DAD28-8608-603E-039D-812413132E2F}"/>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37424B85-59D5-ED1B-1E16-A610508AD95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837843F9-878D-7589-15C8-D97EEBFC1D11}"/>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C0BDE6A0-10E0-3427-1C7B-EA5E6D644758}"/>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2C9D456-4204-3EF2-46D3-9860E49808CE}"/>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982399C-C36A-15B5-ACF1-82617BF7A95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CFF4D0C-089E-70F7-4235-BE74CF1C2815}"/>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8731147F-C7BE-5636-9A89-DC61C5FFDD0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A5D3295F-510F-F59C-7C46-1DD2D94E7D89}"/>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33ED0707-5D7F-A4AC-5758-7B87830037E5}"/>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6112A6F8-6F9B-B524-5A8C-115DCD59E1AB}"/>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71E06284-8328-8C24-1858-B235EA2AC4CD}"/>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134E17CD-D47F-B5BB-46C6-C9C8343DC58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6CD04A39-C69A-A9B9-12B3-D1ACCACAD3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B168A7EF-2378-97A6-EB9E-5138CF0DEDE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38F5637D-71F6-10CF-32C5-5EEB7547998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8455D73-747E-056B-7B38-8A001DF0975A}"/>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06C0A3B2-92B9-6A16-B5FF-A74D2F748F2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35AC269-03D3-675D-4C48-08D6CE86D4C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EBD5AA58-306D-EB99-32B5-9E4A1640A9D3}"/>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8716CA12-D736-2D47-505A-4E57016A89B2}"/>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24491B8-458E-01A7-4909-5893814B8D5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E039EE44-DAC7-5757-4BF2-EA2A26BEA92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09F3D42-1DD6-BD53-022E-9DFCD504830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7D85F3FA-EB83-8F16-0B69-E6B9D38B8AEE}"/>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669A6764-8AC2-FE4D-90C9-15CA00F37E5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821CA983-C5A8-757E-F0A7-A4D98780051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DB299C9-C10F-6BD1-9AFE-22EF237729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ECAEEB9-0496-CCEF-13F3-71167F70256E}"/>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222EF5CE-20AB-28AB-F26B-A88E085941B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0138DB83-A947-E98D-D6E2-0F369DC669D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11FF71F-EE8F-61C1-5CBA-D0066698004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C71722CA-EBE9-82B1-621E-306960CB6E02}"/>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C646E80-51C4-039E-FAEC-CAD0F7CA145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FB0F54E-128B-5239-A521-2EEBE2D1916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3A8941A6-7F83-281A-03C0-660FB6AC3D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18D1468-A732-D1A1-DCD9-B2AE4A776E8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72D15E5-F3D1-86AD-6923-E1C631250F7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D8B9901C-934D-534C-B018-95631FE5E49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A30F3CAB-4984-0AAD-0789-9C721786C1B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BACA79-42B5-5D7D-459A-B644504C708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5314BA32-099D-5AD2-041E-50CAE1A96419}"/>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6D58FBC-3DC3-EEF8-7A21-2CAE571371E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3BCD7C23-EFA9-DD7B-E708-94DD702C4C8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35CD32A3-6E53-4DF6-FFF6-ACA214FD714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FF920B72-20A0-E030-5EC6-20094CF0EF7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9E5EACAF-8340-0440-CFCE-CD483845D92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E324DBAA-B96D-2F3C-08AB-0F24C14D9324}"/>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BAC4BEB-5471-BFC1-84ED-C2287007D22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5142260-56EC-D969-3DF2-8FFB3A03683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E181CF7-9B33-6E89-A038-436D066A7CF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6FDB59CB-2A88-326F-B50C-13DD5449741C}"/>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2800" dirty="0">
              <a:solidFill>
                <a:schemeClr val="tx1">
                  <a:lumMod val="65000"/>
                  <a:lumOff val="35000"/>
                </a:schemeClr>
              </a:solidFill>
            </a:endParaRPr>
          </a:p>
        </p:txBody>
      </p:sp>
      <p:sp>
        <p:nvSpPr>
          <p:cNvPr id="169" name="Rectangle 168">
            <a:extLst>
              <a:ext uri="{FF2B5EF4-FFF2-40B4-BE49-F238E27FC236}">
                <a16:creationId xmlns:a16="http://schemas.microsoft.com/office/drawing/2014/main" id="{D5501B6B-EC77-47C1-BED3-6FC1C9A01967}"/>
              </a:ext>
            </a:extLst>
          </p:cNvPr>
          <p:cNvSpPr/>
          <p:nvPr/>
        </p:nvSpPr>
        <p:spPr>
          <a:xfrm>
            <a:off x="1173494" y="562945"/>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Literature Survey</a:t>
            </a:r>
          </a:p>
        </p:txBody>
      </p:sp>
      <p:graphicFrame>
        <p:nvGraphicFramePr>
          <p:cNvPr id="170" name="Table 169">
            <a:extLst>
              <a:ext uri="{FF2B5EF4-FFF2-40B4-BE49-F238E27FC236}">
                <a16:creationId xmlns:a16="http://schemas.microsoft.com/office/drawing/2014/main" id="{4928DC8E-5573-4EF0-B6EF-41385CE76B77}"/>
              </a:ext>
            </a:extLst>
          </p:cNvPr>
          <p:cNvGraphicFramePr>
            <a:graphicFrameLocks noGrp="1"/>
          </p:cNvGraphicFramePr>
          <p:nvPr>
            <p:extLst>
              <p:ext uri="{D42A27DB-BD31-4B8C-83A1-F6EECF244321}">
                <p14:modId xmlns:p14="http://schemas.microsoft.com/office/powerpoint/2010/main" val="1354565126"/>
              </p:ext>
            </p:extLst>
          </p:nvPr>
        </p:nvGraphicFramePr>
        <p:xfrm>
          <a:off x="142080" y="1072389"/>
          <a:ext cx="11743003" cy="5298669"/>
        </p:xfrm>
        <a:graphic>
          <a:graphicData uri="http://schemas.openxmlformats.org/drawingml/2006/table">
            <a:tbl>
              <a:tblPr firstRow="1" bandRow="1">
                <a:tableStyleId>{5C22544A-7EE6-4342-B048-85BDC9FD1C3A}</a:tableStyleId>
              </a:tblPr>
              <a:tblGrid>
                <a:gridCol w="722750">
                  <a:extLst>
                    <a:ext uri="{9D8B030D-6E8A-4147-A177-3AD203B41FA5}">
                      <a16:colId xmlns:a16="http://schemas.microsoft.com/office/drawing/2014/main" val="4167517054"/>
                    </a:ext>
                  </a:extLst>
                </a:gridCol>
                <a:gridCol w="2818686">
                  <a:extLst>
                    <a:ext uri="{9D8B030D-6E8A-4147-A177-3AD203B41FA5}">
                      <a16:colId xmlns:a16="http://schemas.microsoft.com/office/drawing/2014/main" val="2903303254"/>
                    </a:ext>
                  </a:extLst>
                </a:gridCol>
                <a:gridCol w="1628999">
                  <a:extLst>
                    <a:ext uri="{9D8B030D-6E8A-4147-A177-3AD203B41FA5}">
                      <a16:colId xmlns:a16="http://schemas.microsoft.com/office/drawing/2014/main" val="861101941"/>
                    </a:ext>
                  </a:extLst>
                </a:gridCol>
                <a:gridCol w="1628999">
                  <a:extLst>
                    <a:ext uri="{9D8B030D-6E8A-4147-A177-3AD203B41FA5}">
                      <a16:colId xmlns:a16="http://schemas.microsoft.com/office/drawing/2014/main" val="679990113"/>
                    </a:ext>
                  </a:extLst>
                </a:gridCol>
                <a:gridCol w="3006063">
                  <a:extLst>
                    <a:ext uri="{9D8B030D-6E8A-4147-A177-3AD203B41FA5}">
                      <a16:colId xmlns:a16="http://schemas.microsoft.com/office/drawing/2014/main" val="21456632"/>
                    </a:ext>
                  </a:extLst>
                </a:gridCol>
                <a:gridCol w="1937506">
                  <a:extLst>
                    <a:ext uri="{9D8B030D-6E8A-4147-A177-3AD203B41FA5}">
                      <a16:colId xmlns:a16="http://schemas.microsoft.com/office/drawing/2014/main" val="2170512275"/>
                    </a:ext>
                  </a:extLst>
                </a:gridCol>
              </a:tblGrid>
              <a:tr h="452349">
                <a:tc>
                  <a:txBody>
                    <a:bodyPr/>
                    <a:lstStyle/>
                    <a:p>
                      <a:r>
                        <a:rPr lang="en-US" dirty="0"/>
                        <a:t>S No</a:t>
                      </a:r>
                    </a:p>
                  </a:txBody>
                  <a:tcPr/>
                </a:tc>
                <a:tc>
                  <a:txBody>
                    <a:bodyPr/>
                    <a:lstStyle/>
                    <a:p>
                      <a:r>
                        <a:rPr lang="en-US" dirty="0"/>
                        <a:t>Ref Paper Name</a:t>
                      </a:r>
                    </a:p>
                  </a:txBody>
                  <a:tcPr/>
                </a:tc>
                <a:tc>
                  <a:txBody>
                    <a:bodyPr/>
                    <a:lstStyle/>
                    <a:p>
                      <a:r>
                        <a:rPr lang="en-US" dirty="0"/>
                        <a:t>Author &amp; Year</a:t>
                      </a:r>
                    </a:p>
                  </a:txBody>
                  <a:tcPr/>
                </a:tc>
                <a:tc>
                  <a:txBody>
                    <a:bodyPr/>
                    <a:lstStyle/>
                    <a:p>
                      <a:r>
                        <a:rPr lang="en-US" dirty="0"/>
                        <a:t>Objectives</a:t>
                      </a:r>
                    </a:p>
                  </a:txBody>
                  <a:tcPr/>
                </a:tc>
                <a:tc>
                  <a:txBody>
                    <a:bodyPr/>
                    <a:lstStyle/>
                    <a:p>
                      <a:r>
                        <a:rPr lang="en-US" dirty="0"/>
                        <a:t>Techniques/Algorithms used</a:t>
                      </a:r>
                    </a:p>
                  </a:txBody>
                  <a:tcPr/>
                </a:tc>
                <a:tc>
                  <a:txBody>
                    <a:bodyPr/>
                    <a:lstStyle/>
                    <a:p>
                      <a:r>
                        <a:rPr lang="en-US" dirty="0"/>
                        <a:t>Limitations</a:t>
                      </a:r>
                    </a:p>
                  </a:txBody>
                  <a:tcPr/>
                </a:tc>
                <a:extLst>
                  <a:ext uri="{0D108BD9-81ED-4DB2-BD59-A6C34878D82A}">
                    <a16:rowId xmlns:a16="http://schemas.microsoft.com/office/drawing/2014/main" val="3485629365"/>
                  </a:ext>
                </a:extLst>
              </a:tr>
              <a:tr h="2078746">
                <a:tc>
                  <a:txBody>
                    <a:bodyPr/>
                    <a:lstStyle/>
                    <a:p>
                      <a:pPr>
                        <a:buNone/>
                      </a:pPr>
                      <a:r>
                        <a:rPr lang="en-IN"/>
                        <a:t>1</a:t>
                      </a:r>
                    </a:p>
                  </a:txBody>
                  <a:tcPr anchor="ctr"/>
                </a:tc>
                <a:tc>
                  <a:txBody>
                    <a:bodyPr/>
                    <a:lstStyle/>
                    <a:p>
                      <a:pPr>
                        <a:buNone/>
                      </a:pPr>
                      <a:r>
                        <a:rPr lang="en-IN"/>
                        <a:t>Offline Handwritten Text Recognition for Indic Scripts</a:t>
                      </a:r>
                    </a:p>
                  </a:txBody>
                  <a:tcPr anchor="ctr"/>
                </a:tc>
                <a:tc>
                  <a:txBody>
                    <a:bodyPr/>
                    <a:lstStyle/>
                    <a:p>
                      <a:pPr>
                        <a:buNone/>
                      </a:pPr>
                      <a:r>
                        <a:rPr lang="en-IN" dirty="0"/>
                        <a:t>Dutta et al., 2020</a:t>
                      </a:r>
                    </a:p>
                  </a:txBody>
                  <a:tcPr anchor="ctr"/>
                </a:tc>
                <a:tc>
                  <a:txBody>
                    <a:bodyPr/>
                    <a:lstStyle/>
                    <a:p>
                      <a:pPr>
                        <a:buNone/>
                      </a:pPr>
                      <a:r>
                        <a:rPr lang="en-IN" dirty="0"/>
                        <a:t>To create a benchmark dataset (IIIT-HW-Dev / IIIT-HW-Telugu) and evaluate baseline HTR performance for Indic scripts</a:t>
                      </a:r>
                    </a:p>
                  </a:txBody>
                  <a:tcPr anchor="ctr"/>
                </a:tc>
                <a:tc>
                  <a:txBody>
                    <a:bodyPr/>
                    <a:lstStyle/>
                    <a:p>
                      <a:pPr>
                        <a:buNone/>
                      </a:pPr>
                      <a:r>
                        <a:rPr lang="en-IN" dirty="0"/>
                        <a:t>CRNN (Convolutional Recurrent Neural Network) + CTC loss.</a:t>
                      </a:r>
                    </a:p>
                  </a:txBody>
                  <a:tcPr anchor="ctr"/>
                </a:tc>
                <a:tc>
                  <a:txBody>
                    <a:bodyPr/>
                    <a:lstStyle/>
                    <a:p>
                      <a:pPr>
                        <a:buNone/>
                      </a:pPr>
                      <a:r>
                        <a:rPr lang="en-IN" dirty="0"/>
                        <a:t>CTC assumes conditional independence; struggles with compound characters, </a:t>
                      </a:r>
                      <a:r>
                        <a:rPr lang="en-IN" dirty="0" err="1"/>
                        <a:t>matras</a:t>
                      </a:r>
                      <a:r>
                        <a:rPr lang="en-IN" dirty="0"/>
                        <a:t>, and complex Telugu ligatures.</a:t>
                      </a:r>
                    </a:p>
                  </a:txBody>
                  <a:tcPr anchor="ctr"/>
                </a:tc>
                <a:extLst>
                  <a:ext uri="{0D108BD9-81ED-4DB2-BD59-A6C34878D82A}">
                    <a16:rowId xmlns:a16="http://schemas.microsoft.com/office/drawing/2014/main" val="843667319"/>
                  </a:ext>
                </a:extLst>
              </a:tr>
              <a:tr h="1856023">
                <a:tc>
                  <a:txBody>
                    <a:bodyPr/>
                    <a:lstStyle/>
                    <a:p>
                      <a:pPr>
                        <a:buNone/>
                      </a:pPr>
                      <a:r>
                        <a:rPr lang="en-IN"/>
                        <a:t>2</a:t>
                      </a:r>
                    </a:p>
                  </a:txBody>
                  <a:tcPr anchor="ctr"/>
                </a:tc>
                <a:tc>
                  <a:txBody>
                    <a:bodyPr/>
                    <a:lstStyle/>
                    <a:p>
                      <a:pPr>
                        <a:buNone/>
                      </a:pPr>
                      <a:r>
                        <a:rPr lang="en-IN"/>
                        <a:t>End-to-End Offline Handwritten Text Recognition for Telugu</a:t>
                      </a:r>
                    </a:p>
                  </a:txBody>
                  <a:tcPr anchor="ctr"/>
                </a:tc>
                <a:tc>
                  <a:txBody>
                    <a:bodyPr/>
                    <a:lstStyle/>
                    <a:p>
                      <a:pPr>
                        <a:buNone/>
                      </a:pPr>
                      <a:r>
                        <a:rPr lang="en-IN"/>
                        <a:t>IIT-M Thesis, 2021</a:t>
                      </a:r>
                    </a:p>
                  </a:txBody>
                  <a:tcPr anchor="ctr"/>
                </a:tc>
                <a:tc>
                  <a:txBody>
                    <a:bodyPr/>
                    <a:lstStyle/>
                    <a:p>
                      <a:pPr>
                        <a:buNone/>
                      </a:pPr>
                      <a:r>
                        <a:rPr lang="en-IN"/>
                        <a:t>To improve Telugu HTR accuracy over basic models by using multidimensional sequence learning.</a:t>
                      </a:r>
                    </a:p>
                  </a:txBody>
                  <a:tcPr anchor="ctr"/>
                </a:tc>
                <a:tc>
                  <a:txBody>
                    <a:bodyPr/>
                    <a:lstStyle/>
                    <a:p>
                      <a:pPr>
                        <a:buNone/>
                      </a:pPr>
                      <a:r>
                        <a:rPr lang="en-IN"/>
                        <a:t>CNN + MDLSTM (Multi-Dimensional LSTM) + CTC.</a:t>
                      </a:r>
                    </a:p>
                  </a:txBody>
                  <a:tcPr anchor="ctr"/>
                </a:tc>
                <a:tc>
                  <a:txBody>
                    <a:bodyPr/>
                    <a:lstStyle/>
                    <a:p>
                      <a:pPr>
                        <a:buNone/>
                      </a:pPr>
                      <a:r>
                        <a:rPr lang="en-IN" dirty="0"/>
                        <a:t>LSTMs have limited global context; relies purely on data without hard orthographic rules; achieved 7.48% CER on Telugu datasets.</a:t>
                      </a:r>
                    </a:p>
                  </a:txBody>
                  <a:tcPr anchor="ctr"/>
                </a:tc>
                <a:extLst>
                  <a:ext uri="{0D108BD9-81ED-4DB2-BD59-A6C34878D82A}">
                    <a16:rowId xmlns:a16="http://schemas.microsoft.com/office/drawing/2014/main" val="216494956"/>
                  </a:ext>
                </a:extLst>
              </a:tr>
            </a:tbl>
          </a:graphicData>
        </a:graphic>
      </p:graphicFrame>
    </p:spTree>
    <p:extLst>
      <p:ext uri="{BB962C8B-B14F-4D97-AF65-F5344CB8AC3E}">
        <p14:creationId xmlns:p14="http://schemas.microsoft.com/office/powerpoint/2010/main" val="3704233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86C67-0500-7B2D-DCD1-ECD578D194C1}"/>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21687914-4C57-41D0-E697-2A4AB2A355B4}"/>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5E9AA46F-0294-7A98-BD50-39EE2843E98A}"/>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F8C70B62-1FAD-EC83-533F-7C7AB7192914}"/>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99B847DA-8CE3-FF31-5839-79F3070F04C9}"/>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84CC3DCE-8AFD-6119-8391-CBF36B7E68B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E451A31-58C4-9F9B-755C-6FF616AEBB48}"/>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B291B662-61AA-ED27-53BB-11E7D5FA8594}"/>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7BE16F6A-8179-F31A-DE5E-FF0D854DB4CB}"/>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C5A87F98-43A1-8456-9823-10B5151CB374}"/>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714F8E09-F2D5-97B4-5139-32E129E732FD}"/>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D1E961E1-86B5-1F1A-2A06-2A9BB7095BFA}"/>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1A48D2EA-2E22-C1EB-BBBC-66F69D1B4514}"/>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4D174644-3DF2-A847-F5D0-D862943D2386}"/>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D2C204EF-FB48-E210-9DC2-BC9AFDC771B4}"/>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8288B317-656A-B02C-CED1-0663EDC714FA}"/>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0EC90B90-E938-5711-CE5F-C7AA87F2AFF6}"/>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481C500A-820F-E867-E3CD-6FD62772A8F1}"/>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B9DE3581-1A37-9244-B78F-C6AFDC32570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4D06710C-D185-66AF-49AD-352B58713F71}"/>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B64DB7B5-9278-F1CF-6807-9537798DCA7C}"/>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4365BC0A-D6BA-05AB-E1B8-AD97A5353724}"/>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9952CFD0-8CFA-E923-CAAA-4D30EDB6E23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441E73D4-DE6E-6A9C-31D4-32572B27046F}"/>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4BFA196-1B73-C672-9AD3-544B120919C0}"/>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E0922B7B-650D-B7FD-DB4D-24082B5BE9A9}"/>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5DFC417D-3E6A-694D-ACB4-73B22C44A731}"/>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E6950FE5-DE0B-A42E-20C7-D0A64996333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73CC33F6-3266-BFAC-835A-DE18DC2494E3}"/>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CC8C2117-5BC4-839B-375C-DC8E9DBD314E}"/>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C4EB8406-5123-4BB2-2D01-B2BF12C7062E}"/>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0DE97E12-F179-F053-B50F-DB14ECC14DA0}"/>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F5538742-BC28-2385-0F60-5FC26E396349}"/>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84BFD4E2-0192-5A81-9D69-AED948E07320}"/>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FEB9F39F-E72C-81A0-65C4-1DBA2A361989}"/>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DADDADB4-5727-F60F-34A8-421954350956}"/>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A89B71DB-7197-0D17-4774-8F496575CFB1}"/>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1BBCE01F-75A0-A4D0-7B6D-93589BEC49A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991AB66E-99E6-67B0-A3CC-E335F268C97E}"/>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973FCEF9-BD12-39B2-28A3-9066BACC6829}"/>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E6D01707-6AA0-B073-F5F7-5D6FCBC9CBC0}"/>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9E161638-6D60-DF9E-E656-1181CF349B73}"/>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FF072A3E-1BBC-3190-781C-C164AFF982B5}"/>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105C0788-2F2C-3FDB-728B-F452FB2949A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3BCE1E27-954E-5079-BC4C-1E85A721F818}"/>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5A3DB1BB-4EBE-D667-9D0E-1677091E0A85}"/>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678BED9-9109-656C-C207-B860F4CA91E8}"/>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EE507883-AD72-738E-841E-531096DBE575}"/>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BACDA458-31A0-C176-198B-E68D2DEB9DE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0B293D49-F48F-7E68-935F-4D3CCE6C6190}"/>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5403DE86-72A2-2CA1-8993-44E8FED6E18A}"/>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7C1290CD-55E0-1055-3EF8-1598F653308D}"/>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12BD7A4A-9674-D8A8-27CB-C4CAB01F2404}"/>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53B2C6E8-0635-69EA-DE32-76E2CAFF42D7}"/>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71DD6756-E0B4-104C-164B-1DFBF7789A44}"/>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963A61AC-EAC8-4C5A-8AB4-8A707657A0C2}"/>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29241834-FBB3-21C3-EEA3-7F7224940333}"/>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21F3A0F6-4149-9EB6-3499-917DBF07DCDB}"/>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8C0C414B-BC33-E101-FFEE-901C2A7F8F2A}"/>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8D394BF6-AFAB-1F45-D7F6-EC2233CCAF3B}"/>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58F16BA3-29C4-843B-AD43-9C71316D6539}"/>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FE321842-9AD7-E625-FBA8-DE06AF3B31EC}"/>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A76521EB-4078-344C-8AFB-11861116082C}"/>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6C7BEEEB-9EBE-8C71-D0EE-2A925644AEAC}"/>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1E5F2E64-38A6-B3E5-8A54-2040B8496311}"/>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ACCC77BC-4500-34FC-1805-434E61F4ED0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6F81B600-DDEC-DEB9-725E-15F4CBAD5D7F}"/>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670D0333-E80A-B47C-4099-18BAF14435B8}"/>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26A911E9-2FF0-A797-DD38-4510958E8614}"/>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6327E320-8FD8-41EB-363D-61939CB90D3D}"/>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66251BEB-12BF-7008-E769-41D587DEAAE4}"/>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AEC54D02-B1B3-92D6-D7AB-C8CFC1673582}"/>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A2FEE9B1-E2AD-396F-D72F-CD334BF68F2A}"/>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40E276C2-F80F-1D9D-2281-17004FD5816A}"/>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51E20602-649C-DBFC-365E-93631C2FF760}"/>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00268E58-E274-BED0-2DC9-9A0F2E970D71}"/>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0415CB37-21DE-ABA6-6ECB-591416A28690}"/>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F5998E65-4F35-5291-4681-01A127671029}"/>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5A22AF0F-D212-7363-5BB0-A231717E4F13}"/>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05AFAD90-0C31-1AB5-A786-F0791CD7AFE8}"/>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A02E46A6-C7BD-6F4C-8FAF-390B783254A3}"/>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E352EAE2-3570-67D6-2FD3-4A78BC3D1124}"/>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E627EBC0-2635-DFE9-1ED7-B0667CE5D1FC}"/>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E192B6B6-D006-2C7F-A21B-067E24647798}"/>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FD7CF3D7-6717-AA91-9093-587D296D622D}"/>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8401AB8B-AA14-92E4-7F3B-A8DEEAC0B557}"/>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000709AE-1FDA-912E-5F78-768D57E7CC17}"/>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2B1C79E2-DE92-B8D5-83A9-6BEE471EDBEB}"/>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E2AED058-6814-C767-D5EF-EC9DC74C1791}"/>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D250ACAC-1594-72A9-233B-111ABA1BD03C}"/>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FD14511F-2F43-B76C-3102-55B37626C684}"/>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D5559984-9DE2-865E-E572-E9D0E422685F}"/>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3E97D0C7-2BF5-BE29-FBF7-04EBD7599EE7}"/>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9AABDF20-8BF6-AF99-8EFA-B129ED6A1BC4}"/>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4FF348ED-5C72-0D2B-D905-843C9B72B252}"/>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232F13F1-9906-0553-8F09-EA814C8D9744}"/>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265D6A17-414C-E12A-6449-F34E0B624939}"/>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F9CFFC5D-CFE7-8B21-2E2E-8B77F01A94B5}"/>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0742FF03-4F3B-44E8-1DFF-611939775A6D}"/>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C97A26E0-62F4-9155-375A-4B41D2D0C3DD}"/>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BE7AFFFF-320B-62AE-D29A-B1B283C5C2A3}"/>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1A5120E2-C92C-BB64-5D05-2F4379410590}"/>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CF1AF898-9968-93BE-9A7A-5CB45FBA9B68}"/>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80113B45-F9C9-3C15-01DB-2FC8AE3DA750}"/>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F0EFE9EA-88AA-DD8E-7E9D-E5C53344406A}"/>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7C7A8FD1-9F45-17A1-2011-AB856201554D}"/>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FCD245E0-6A05-247E-0FF0-AF90C7CB03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14BAE418-F872-4ED6-5FE9-4BA87064AE14}"/>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E225A1C-655C-C25C-1A37-0EEFA486EDB0}"/>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C55FF119-EB76-B33B-1EC5-8486193EC7BC}"/>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5B7269A9-60B8-4678-9D7F-38AAEE5EFB8B}"/>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81B215-84A1-EE8A-C7FB-94BDE263BD3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1D8A20B3-13AD-F2C9-4AA2-A2BA442407AA}"/>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EB3F7185-0B38-53E0-AE68-19AAECF99493}"/>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4CCEDF6A-975A-639F-64CA-D706B9994205}"/>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9B227EAB-50D9-21EA-C61E-4E86BF59C5A6}"/>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884110CB-4221-D48F-0CD0-1D6AC095AC75}"/>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8B5791DB-E97E-F01A-FF44-2BA5B24C7DA7}"/>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DA1889D3-6059-09F3-CE18-D832562C1392}"/>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980C9144-1A97-7C67-C633-0630D1D75868}"/>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1D17661F-9F61-8DBF-254C-CE460D9B79C8}"/>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E2D79D5C-DABA-404C-1CB4-DF68AB1D348E}"/>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7861DA4D-C52E-911E-EF8B-35138673B84A}"/>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2800" dirty="0">
              <a:solidFill>
                <a:schemeClr val="tx1">
                  <a:lumMod val="65000"/>
                  <a:lumOff val="35000"/>
                </a:schemeClr>
              </a:solidFill>
            </a:endParaRPr>
          </a:p>
        </p:txBody>
      </p:sp>
      <p:sp>
        <p:nvSpPr>
          <p:cNvPr id="169" name="Rectangle 168">
            <a:extLst>
              <a:ext uri="{FF2B5EF4-FFF2-40B4-BE49-F238E27FC236}">
                <a16:creationId xmlns:a16="http://schemas.microsoft.com/office/drawing/2014/main" id="{053421A8-F1E0-CC70-DC18-2AAEC6226BCF}"/>
              </a:ext>
            </a:extLst>
          </p:cNvPr>
          <p:cNvSpPr/>
          <p:nvPr/>
        </p:nvSpPr>
        <p:spPr>
          <a:xfrm>
            <a:off x="1325894" y="248713"/>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Literature Survey</a:t>
            </a:r>
          </a:p>
        </p:txBody>
      </p:sp>
      <p:graphicFrame>
        <p:nvGraphicFramePr>
          <p:cNvPr id="170" name="Table 169">
            <a:extLst>
              <a:ext uri="{FF2B5EF4-FFF2-40B4-BE49-F238E27FC236}">
                <a16:creationId xmlns:a16="http://schemas.microsoft.com/office/drawing/2014/main" id="{AC8CFB64-C39F-FD0C-BB1D-9D52B265FD47}"/>
              </a:ext>
            </a:extLst>
          </p:cNvPr>
          <p:cNvGraphicFramePr>
            <a:graphicFrameLocks noGrp="1"/>
          </p:cNvGraphicFramePr>
          <p:nvPr>
            <p:extLst>
              <p:ext uri="{D42A27DB-BD31-4B8C-83A1-F6EECF244321}">
                <p14:modId xmlns:p14="http://schemas.microsoft.com/office/powerpoint/2010/main" val="1512625117"/>
              </p:ext>
            </p:extLst>
          </p:nvPr>
        </p:nvGraphicFramePr>
        <p:xfrm>
          <a:off x="179294" y="839652"/>
          <a:ext cx="11705789" cy="5843072"/>
        </p:xfrm>
        <a:graphic>
          <a:graphicData uri="http://schemas.openxmlformats.org/drawingml/2006/table">
            <a:tbl>
              <a:tblPr firstRow="1" bandRow="1">
                <a:tableStyleId>{5C22544A-7EE6-4342-B048-85BDC9FD1C3A}</a:tableStyleId>
              </a:tblPr>
              <a:tblGrid>
                <a:gridCol w="685536">
                  <a:extLst>
                    <a:ext uri="{9D8B030D-6E8A-4147-A177-3AD203B41FA5}">
                      <a16:colId xmlns:a16="http://schemas.microsoft.com/office/drawing/2014/main" val="4167517054"/>
                    </a:ext>
                  </a:extLst>
                </a:gridCol>
                <a:gridCol w="2818686">
                  <a:extLst>
                    <a:ext uri="{9D8B030D-6E8A-4147-A177-3AD203B41FA5}">
                      <a16:colId xmlns:a16="http://schemas.microsoft.com/office/drawing/2014/main" val="2903303254"/>
                    </a:ext>
                  </a:extLst>
                </a:gridCol>
                <a:gridCol w="1628999">
                  <a:extLst>
                    <a:ext uri="{9D8B030D-6E8A-4147-A177-3AD203B41FA5}">
                      <a16:colId xmlns:a16="http://schemas.microsoft.com/office/drawing/2014/main" val="861101941"/>
                    </a:ext>
                  </a:extLst>
                </a:gridCol>
                <a:gridCol w="1628999">
                  <a:extLst>
                    <a:ext uri="{9D8B030D-6E8A-4147-A177-3AD203B41FA5}">
                      <a16:colId xmlns:a16="http://schemas.microsoft.com/office/drawing/2014/main" val="679990113"/>
                    </a:ext>
                  </a:extLst>
                </a:gridCol>
                <a:gridCol w="3006063">
                  <a:extLst>
                    <a:ext uri="{9D8B030D-6E8A-4147-A177-3AD203B41FA5}">
                      <a16:colId xmlns:a16="http://schemas.microsoft.com/office/drawing/2014/main" val="21456632"/>
                    </a:ext>
                  </a:extLst>
                </a:gridCol>
                <a:gridCol w="1937506">
                  <a:extLst>
                    <a:ext uri="{9D8B030D-6E8A-4147-A177-3AD203B41FA5}">
                      <a16:colId xmlns:a16="http://schemas.microsoft.com/office/drawing/2014/main" val="2170512275"/>
                    </a:ext>
                  </a:extLst>
                </a:gridCol>
              </a:tblGrid>
              <a:tr h="417632">
                <a:tc>
                  <a:txBody>
                    <a:bodyPr/>
                    <a:lstStyle/>
                    <a:p>
                      <a:r>
                        <a:rPr lang="en-US" dirty="0"/>
                        <a:t>S No</a:t>
                      </a:r>
                    </a:p>
                  </a:txBody>
                  <a:tcPr/>
                </a:tc>
                <a:tc>
                  <a:txBody>
                    <a:bodyPr/>
                    <a:lstStyle/>
                    <a:p>
                      <a:r>
                        <a:rPr lang="en-US" dirty="0"/>
                        <a:t>Ref Paper Name</a:t>
                      </a:r>
                    </a:p>
                  </a:txBody>
                  <a:tcPr/>
                </a:tc>
                <a:tc>
                  <a:txBody>
                    <a:bodyPr/>
                    <a:lstStyle/>
                    <a:p>
                      <a:r>
                        <a:rPr lang="en-US" dirty="0"/>
                        <a:t>Author &amp; Year</a:t>
                      </a:r>
                    </a:p>
                  </a:txBody>
                  <a:tcPr/>
                </a:tc>
                <a:tc>
                  <a:txBody>
                    <a:bodyPr/>
                    <a:lstStyle/>
                    <a:p>
                      <a:r>
                        <a:rPr lang="en-US" dirty="0"/>
                        <a:t>Objectives</a:t>
                      </a:r>
                    </a:p>
                  </a:txBody>
                  <a:tcPr/>
                </a:tc>
                <a:tc>
                  <a:txBody>
                    <a:bodyPr/>
                    <a:lstStyle/>
                    <a:p>
                      <a:r>
                        <a:rPr lang="en-US" dirty="0"/>
                        <a:t>Techniques/Algorithms used</a:t>
                      </a:r>
                    </a:p>
                  </a:txBody>
                  <a:tcPr/>
                </a:tc>
                <a:tc>
                  <a:txBody>
                    <a:bodyPr/>
                    <a:lstStyle/>
                    <a:p>
                      <a:r>
                        <a:rPr lang="en-US" dirty="0"/>
                        <a:t>Limitations</a:t>
                      </a:r>
                    </a:p>
                  </a:txBody>
                  <a:tcPr/>
                </a:tc>
                <a:extLst>
                  <a:ext uri="{0D108BD9-81ED-4DB2-BD59-A6C34878D82A}">
                    <a16:rowId xmlns:a16="http://schemas.microsoft.com/office/drawing/2014/main" val="3485629365"/>
                  </a:ext>
                </a:extLst>
              </a:tr>
              <a:tr h="2870352">
                <a:tc>
                  <a:txBody>
                    <a:bodyPr/>
                    <a:lstStyle/>
                    <a:p>
                      <a:pPr>
                        <a:buNone/>
                      </a:pPr>
                      <a:r>
                        <a:rPr lang="en-IN"/>
                        <a:t>3</a:t>
                      </a:r>
                    </a:p>
                  </a:txBody>
                  <a:tcPr anchor="ctr"/>
                </a:tc>
                <a:tc>
                  <a:txBody>
                    <a:bodyPr/>
                    <a:lstStyle/>
                    <a:p>
                      <a:pPr>
                        <a:buNone/>
                      </a:pPr>
                      <a:r>
                        <a:rPr lang="en-IN"/>
                        <a:t>PARSeq: Scene Text Recognition with Permuted Autoregressive Sequence Models</a:t>
                      </a:r>
                    </a:p>
                  </a:txBody>
                  <a:tcPr anchor="ctr"/>
                </a:tc>
                <a:tc>
                  <a:txBody>
                    <a:bodyPr/>
                    <a:lstStyle/>
                    <a:p>
                      <a:pPr>
                        <a:buNone/>
                      </a:pPr>
                      <a:r>
                        <a:rPr lang="en-IN"/>
                        <a:t>Bautista et al., 2022 / 2024</a:t>
                      </a:r>
                    </a:p>
                  </a:txBody>
                  <a:tcPr anchor="ctr"/>
                </a:tc>
                <a:tc>
                  <a:txBody>
                    <a:bodyPr/>
                    <a:lstStyle/>
                    <a:p>
                      <a:pPr>
                        <a:buNone/>
                      </a:pPr>
                      <a:r>
                        <a:rPr lang="en-IN"/>
                        <a:t>To achieve SOTA text recognition by learning internal language models through permutation-based autoregressive decoding.</a:t>
                      </a:r>
                    </a:p>
                  </a:txBody>
                  <a:tcPr anchor="ctr"/>
                </a:tc>
                <a:tc>
                  <a:txBody>
                    <a:bodyPr/>
                    <a:lstStyle/>
                    <a:p>
                      <a:pPr>
                        <a:buNone/>
                      </a:pPr>
                      <a:r>
                        <a:rPr lang="en-IN"/>
                        <a:t>Vision Transformer (ViT) encoder + autoregressive decoder + attention.</a:t>
                      </a:r>
                    </a:p>
                  </a:txBody>
                  <a:tcPr anchor="ctr"/>
                </a:tc>
                <a:tc>
                  <a:txBody>
                    <a:bodyPr/>
                    <a:lstStyle/>
                    <a:p>
                      <a:pPr>
                        <a:buNone/>
                      </a:pPr>
                      <a:r>
                        <a:rPr lang="en-IN" dirty="0"/>
                        <a:t>Designed for general/Latin scene text; does not inherently model strict grammatical and orthographic constraints of Indic scripts.</a:t>
                      </a:r>
                    </a:p>
                  </a:txBody>
                  <a:tcPr anchor="ctr"/>
                </a:tc>
                <a:extLst>
                  <a:ext uri="{0D108BD9-81ED-4DB2-BD59-A6C34878D82A}">
                    <a16:rowId xmlns:a16="http://schemas.microsoft.com/office/drawing/2014/main" val="843667319"/>
                  </a:ext>
                </a:extLst>
              </a:tr>
              <a:tr h="2138694">
                <a:tc>
                  <a:txBody>
                    <a:bodyPr/>
                    <a:lstStyle/>
                    <a:p>
                      <a:pPr indent="0" algn="l" fontAlgn="base" latinLnBrk="0">
                        <a:buNone/>
                      </a:pPr>
                      <a:r>
                        <a:rPr lang="en-IN">
                          <a:effectLst/>
                          <a:latin typeface="pplxSans"/>
                        </a:rPr>
                        <a:t>4</a:t>
                      </a:r>
                    </a:p>
                  </a:txBody>
                  <a:tcPr marL="60960" marR="60960" marT="60960" marB="60960" anchor="ctr"/>
                </a:tc>
                <a:tc>
                  <a:txBody>
                    <a:bodyPr/>
                    <a:lstStyle/>
                    <a:p>
                      <a:pPr indent="0" algn="l" fontAlgn="base" latinLnBrk="0">
                        <a:buNone/>
                      </a:pPr>
                      <a:r>
                        <a:rPr lang="en-IN">
                          <a:effectLst/>
                          <a:latin typeface="pplxSans"/>
                        </a:rPr>
                        <a:t>Recent Advancements in Telugu OCR and HTR</a:t>
                      </a:r>
                    </a:p>
                  </a:txBody>
                  <a:tcPr marL="60960" marR="60960" marT="60960" marB="60960" anchor="ctr"/>
                </a:tc>
                <a:tc>
                  <a:txBody>
                    <a:bodyPr/>
                    <a:lstStyle/>
                    <a:p>
                      <a:pPr indent="0" algn="l" fontAlgn="base" latinLnBrk="0">
                        <a:buNone/>
                      </a:pPr>
                      <a:r>
                        <a:rPr lang="en-IN">
                          <a:effectLst/>
                          <a:latin typeface="pplxSans"/>
                        </a:rPr>
                        <a:t>Various (2024–2025 papers)</a:t>
                      </a:r>
                    </a:p>
                  </a:txBody>
                  <a:tcPr marL="60960" marR="60960" marT="60960" marB="60960" anchor="ctr"/>
                </a:tc>
                <a:tc>
                  <a:txBody>
                    <a:bodyPr/>
                    <a:lstStyle/>
                    <a:p>
                      <a:pPr indent="0" algn="l" fontAlgn="base" latinLnBrk="0">
                        <a:buNone/>
                      </a:pPr>
                      <a:r>
                        <a:rPr lang="en-IN">
                          <a:effectLst/>
                          <a:latin typeface="pplxSans"/>
                        </a:rPr>
                        <a:t>To improve accuracy on Telugu historical documents and modern handwriting.</a:t>
                      </a:r>
                    </a:p>
                  </a:txBody>
                  <a:tcPr marL="60960" marR="60960" marT="60960" marB="60960" anchor="ctr"/>
                </a:tc>
                <a:tc>
                  <a:txBody>
                    <a:bodyPr/>
                    <a:lstStyle/>
                    <a:p>
                      <a:pPr indent="0" algn="l" fontAlgn="base" latinLnBrk="0">
                        <a:buNone/>
                      </a:pPr>
                      <a:r>
                        <a:rPr lang="en-IN">
                          <a:effectLst/>
                          <a:latin typeface="pplxSans"/>
                        </a:rPr>
                        <a:t>Standard CNN–RNN pipelines with CTC + data augmentation.</a:t>
                      </a:r>
                    </a:p>
                  </a:txBody>
                  <a:tcPr marL="60960" marR="60960" marT="60960" marB="60960" anchor="ctr"/>
                </a:tc>
                <a:tc>
                  <a:txBody>
                    <a:bodyPr/>
                    <a:lstStyle/>
                    <a:p>
                      <a:pPr indent="0" algn="l" fontAlgn="base" latinLnBrk="0">
                        <a:buNone/>
                      </a:pPr>
                      <a:r>
                        <a:rPr lang="en-IN" dirty="0">
                          <a:effectLst/>
                          <a:latin typeface="pplxSans"/>
                        </a:rPr>
                        <a:t>Still largely reliant on sequential RNNs; critical gap in enforcing hard constraints to prevent impossible Telugu character sequences.</a:t>
                      </a:r>
                    </a:p>
                  </a:txBody>
                  <a:tcPr marL="60960" marR="60960" marT="60960" marB="60960" anchor="ctr"/>
                </a:tc>
                <a:extLst>
                  <a:ext uri="{0D108BD9-81ED-4DB2-BD59-A6C34878D82A}">
                    <a16:rowId xmlns:a16="http://schemas.microsoft.com/office/drawing/2014/main" val="216494956"/>
                  </a:ext>
                </a:extLst>
              </a:tr>
            </a:tbl>
          </a:graphicData>
        </a:graphic>
      </p:graphicFrame>
    </p:spTree>
    <p:extLst>
      <p:ext uri="{BB962C8B-B14F-4D97-AF65-F5344CB8AC3E}">
        <p14:creationId xmlns:p14="http://schemas.microsoft.com/office/powerpoint/2010/main" val="1014845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B272B836-303F-DF4A-69B1-B2C662E9F50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02BC24B3-E39A-CB46-4E1E-768CEC92BF4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2436BCE-063A-1B43-09E4-3AEA3552CC5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A6616B3F-11BD-D8FD-89CA-7D56D09FF5F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DB4174E-509B-CF12-3BBF-0028C4D1663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31A3526-0937-7AB7-D30D-8870E9E719FB}"/>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EB7D4F9D-7741-FDC2-3741-CDF62A89A0A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D2D0A7FB-AA0E-1C19-5625-0FB54171CCF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A69B4B22-6F5A-FCB4-73ED-B60A3F13C8F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D6C01E5-B9A7-3F15-A590-FAA17C94DB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F775AE82-2537-4B05-330D-3AF2C37B1F0E}"/>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FF5C9632-1C53-F6BA-A1DA-7B0EB01C6E7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494B565-E2DA-D992-2272-831FAB18CD28}"/>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AA822E09-3362-108B-8798-EC8292F549FE}"/>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2C831DFE-47FB-E3D4-D5D2-9F583B3FEFC6}"/>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F0B3D84-9378-FF28-B840-0B20A983CEE2}"/>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C73E7F8-D1D3-B301-76CF-13B8B2ABE81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9DBC961-5BE8-85E0-50B9-413EFE96AD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FB8399A-B674-9339-D63B-BFC9BBEABFC9}"/>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C3D9DE4-4371-9055-4B9D-A7D8990BC129}"/>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8B9270AF-ED1F-1411-1CAA-46F106488251}"/>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AD2E06C7-C283-457E-10FF-A0D9E71CDC9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CCFA092-BB4F-F4F2-A5CD-6BD4E37677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B654535-BBE5-AB0E-61BC-13E959EAC58B}"/>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2079DAE5-59E5-0967-317C-13A94DF5354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4A9868D-358C-979E-0D2F-84D51462320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429AA5E6-7ED1-8382-E428-68AB2F3BB39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A4AEDC2C-D56D-FD92-7B29-7FA38F85E67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617ED90-AE8D-BA61-0D56-6ABDD7C248D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C1E3486-760F-0831-2891-78277486CDED}"/>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9F9A68D-8B7F-0937-780B-25A30672527A}"/>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09B92A9-12EB-6D7E-30FC-8581666C702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FA401D31-0501-9FC4-A959-55B5EB9526D7}"/>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BBE587C8-D91B-0ABE-40E2-C1F88AD22C3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0736F4B9-5F6B-284D-A8C8-C4D6EB8364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DBCD5585-B771-28CF-5638-CA6ADF70CEAB}"/>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E6BA4B3-165F-23BD-5B2B-25CDF0C6C5B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DEEAEA1A-F391-64D7-033E-FDEBD5DEA025}"/>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832A59C-F643-EABB-6887-41B2D8D6495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960EE77C-1B6A-2D49-8C6C-11B191C3E03A}"/>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01DA9E69-ED6B-C85C-74BA-191FE05EC48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2F6215A-84D3-0DC8-4B16-AF901F73FC6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CFB554D9-6A3C-2352-7CB3-7954CCFAE00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4685958D-E39A-CAC7-67F4-DBF3A87D183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14493297-4BD7-5010-739F-C152F576EA6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B37008F-0FFE-EF29-1D88-2CDD3DB6B9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C4F2AF6-AFCC-9939-79D2-7A1690280168}"/>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490FED5B-B21A-98E2-5EE8-71512ACF172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F3F54A48-FBD1-6597-C96C-B9FED8D3AFB7}"/>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F210C79F-E766-B137-A052-F060B344F53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80C35B28-2ED2-2755-5AE1-A66F4DFAA8A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AB9A3344-4D04-B32F-FD89-AF6F51416BBF}"/>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A57EBA0F-BF87-1BB9-24D1-C10C4D75397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A033F54E-11DC-29C2-D514-8B65F590C94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AE2B9EC8-479D-D5D8-6BCA-057218002C3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BDCDC82B-0D9A-2EE4-9B3E-CF599F760347}"/>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A4AA3840-594E-06FE-0A71-30CE90557E3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42ED5282-FA59-F5AF-648F-2A453D9779B8}"/>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B79E65-E610-34FA-C420-BCF913D122B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9728ABB-945F-C69B-1928-27FEE400AE9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D8072CB1-B5CD-9356-A549-AA020ACA7B0B}"/>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E0FA01F9-C391-1654-A89D-D52449152939}"/>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FC130C3-1C07-1667-4EBC-6AD73E51EEB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88F9D8-EB9C-16EA-CFE3-135920BBC16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C6C7310-671C-B284-B7F8-A3E8FB1800B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5F953CD5-5686-8CBA-CBB8-1F26F9018E7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7BADDD77-D9A6-8181-B0AC-C6BEFA3E95A1}"/>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A0A3682-B0A9-29FA-1599-3080E9906AB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663EA5C-A76E-9895-678B-A2EDB2931ABA}"/>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DAE84B9E-077F-763A-85D3-145EB11C396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D66DAD28-8608-603E-039D-812413132E2F}"/>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37424B85-59D5-ED1B-1E16-A610508AD95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837843F9-878D-7589-15C8-D97EEBFC1D11}"/>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C0BDE6A0-10E0-3427-1C7B-EA5E6D644758}"/>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2C9D456-4204-3EF2-46D3-9860E49808CE}"/>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982399C-C36A-15B5-ACF1-82617BF7A95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CFF4D0C-089E-70F7-4235-BE74CF1C2815}"/>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8731147F-C7BE-5636-9A89-DC61C5FFDD0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A5D3295F-510F-F59C-7C46-1DD2D94E7D89}"/>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33ED0707-5D7F-A4AC-5758-7B87830037E5}"/>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6112A6F8-6F9B-B524-5A8C-115DCD59E1AB}"/>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71E06284-8328-8C24-1858-B235EA2AC4CD}"/>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134E17CD-D47F-B5BB-46C6-C9C8343DC58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6CD04A39-C69A-A9B9-12B3-D1ACCACAD3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B168A7EF-2378-97A6-EB9E-5138CF0DEDE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38F5637D-71F6-10CF-32C5-5EEB7547998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8455D73-747E-056B-7B38-8A001DF0975A}"/>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06C0A3B2-92B9-6A16-B5FF-A74D2F748F2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35AC269-03D3-675D-4C48-08D6CE86D4C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EBD5AA58-306D-EB99-32B5-9E4A1640A9D3}"/>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8716CA12-D736-2D47-505A-4E57016A89B2}"/>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24491B8-458E-01A7-4909-5893814B8D5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E039EE44-DAC7-5757-4BF2-EA2A26BEA92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09F3D42-1DD6-BD53-022E-9DFCD504830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7D85F3FA-EB83-8F16-0B69-E6B9D38B8AEE}"/>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669A6764-8AC2-FE4D-90C9-15CA00F37E5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821CA983-C5A8-757E-F0A7-A4D98780051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DB299C9-C10F-6BD1-9AFE-22EF237729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ECAEEB9-0496-CCEF-13F3-71167F70256E}"/>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222EF5CE-20AB-28AB-F26B-A88E085941B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0138DB83-A947-E98D-D6E2-0F369DC669D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11FF71F-EE8F-61C1-5CBA-D0066698004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C71722CA-EBE9-82B1-621E-306960CB6E02}"/>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C646E80-51C4-039E-FAEC-CAD0F7CA145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FB0F54E-128B-5239-A521-2EEBE2D1916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3A8941A6-7F83-281A-03C0-660FB6AC3D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18D1468-A732-D1A1-DCD9-B2AE4A776E8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72D15E5-F3D1-86AD-6923-E1C631250F7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D8B9901C-934D-534C-B018-95631FE5E49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A30F3CAB-4984-0AAD-0789-9C721786C1B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BACA79-42B5-5D7D-459A-B644504C708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5314BA32-099D-5AD2-041E-50CAE1A96419}"/>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6D58FBC-3DC3-EEF8-7A21-2CAE571371E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3BCD7C23-EFA9-DD7B-E708-94DD702C4C8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35CD32A3-6E53-4DF6-FFF6-ACA214FD714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FF920B72-20A0-E030-5EC6-20094CF0EF7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9E5EACAF-8340-0440-CFCE-CD483845D92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E324DBAA-B96D-2F3C-08AB-0F24C14D9324}"/>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BAC4BEB-5471-BFC1-84ED-C2287007D22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5142260-56EC-D969-3DF2-8FFB3A03683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E181CF7-9B33-6E89-A038-436D066A7CF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6FDB59CB-2A88-326F-B50C-13DD5449741C}"/>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2800" dirty="0">
              <a:solidFill>
                <a:schemeClr val="tx1">
                  <a:lumMod val="65000"/>
                  <a:lumOff val="35000"/>
                </a:schemeClr>
              </a:solidFill>
            </a:endParaRPr>
          </a:p>
        </p:txBody>
      </p:sp>
      <p:sp>
        <p:nvSpPr>
          <p:cNvPr id="169" name="Rectangle 168">
            <a:extLst>
              <a:ext uri="{FF2B5EF4-FFF2-40B4-BE49-F238E27FC236}">
                <a16:creationId xmlns:a16="http://schemas.microsoft.com/office/drawing/2014/main" id="{D5501B6B-EC77-47C1-BED3-6FC1C9A01967}"/>
              </a:ext>
            </a:extLst>
          </p:cNvPr>
          <p:cNvSpPr/>
          <p:nvPr/>
        </p:nvSpPr>
        <p:spPr>
          <a:xfrm>
            <a:off x="1222193" y="606910"/>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Existing System</a:t>
            </a:r>
          </a:p>
        </p:txBody>
      </p:sp>
      <p:sp>
        <p:nvSpPr>
          <p:cNvPr id="4" name="TextBox 3">
            <a:extLst>
              <a:ext uri="{FF2B5EF4-FFF2-40B4-BE49-F238E27FC236}">
                <a16:creationId xmlns:a16="http://schemas.microsoft.com/office/drawing/2014/main" id="{C80DD2D7-29C5-58FD-F34A-D74901BEDE79}"/>
              </a:ext>
            </a:extLst>
          </p:cNvPr>
          <p:cNvSpPr txBox="1"/>
          <p:nvPr/>
        </p:nvSpPr>
        <p:spPr>
          <a:xfrm>
            <a:off x="1222193" y="1305502"/>
            <a:ext cx="9963931" cy="4832092"/>
          </a:xfrm>
          <a:prstGeom prst="rect">
            <a:avLst/>
          </a:prstGeom>
          <a:noFill/>
        </p:spPr>
        <p:txBody>
          <a:bodyPr wrap="square">
            <a:spAutoFit/>
          </a:bodyPr>
          <a:lstStyle/>
          <a:p>
            <a:r>
              <a:rPr lang="en-IN" sz="2200" b="1" dirty="0"/>
              <a:t>Architecture:</a:t>
            </a:r>
            <a:r>
              <a:rPr lang="en-IN" sz="2200" dirty="0"/>
              <a:t> Convolutional Neural Network (CNN) feature extractor + Bidirectional Long Short-Term Memory (</a:t>
            </a:r>
            <a:r>
              <a:rPr lang="en-IN" sz="2200" dirty="0" err="1"/>
              <a:t>BiLSTM</a:t>
            </a:r>
            <a:r>
              <a:rPr lang="en-IN" sz="2200" dirty="0"/>
              <a:t>) sequence model + CTC Loss.</a:t>
            </a:r>
          </a:p>
          <a:p>
            <a:endParaRPr lang="en-IN" sz="2200" dirty="0"/>
          </a:p>
          <a:p>
            <a:r>
              <a:rPr lang="en-IN" sz="2200" b="1" dirty="0"/>
              <a:t>Drawbacks / Limitations:</a:t>
            </a:r>
          </a:p>
          <a:p>
            <a:endParaRPr lang="en-IN" sz="2200" dirty="0"/>
          </a:p>
          <a:p>
            <a:pPr marL="342900" indent="-342900">
              <a:buFont typeface="Arial" panose="020B0604020202020204" pitchFamily="34" charset="0"/>
              <a:buChar char="•"/>
            </a:pPr>
            <a:r>
              <a:rPr lang="en-IN" sz="2200" b="1" dirty="0"/>
              <a:t>Conditional Independence Assumption:</a:t>
            </a:r>
            <a:r>
              <a:rPr lang="en-IN" sz="2200" dirty="0"/>
              <a:t> CTC predicts characters independently at each time step. It does not "remember" the previous character when predicting the current one.</a:t>
            </a:r>
          </a:p>
          <a:p>
            <a:pPr marL="342900" indent="-342900">
              <a:buFont typeface="Arial" panose="020B0604020202020204" pitchFamily="34" charset="0"/>
              <a:buChar char="•"/>
            </a:pPr>
            <a:r>
              <a:rPr lang="en-IN" sz="2200" b="1" dirty="0"/>
              <a:t>Orthographic Violations:</a:t>
            </a:r>
            <a:r>
              <a:rPr lang="en-IN" sz="2200" dirty="0"/>
              <a:t> Because it lacks memory, the CTC model frequently outputs text that violates Telugu spelling rules (e.g., predicting a vowel modifier directly after a virama, which is impossible in Telugu).</a:t>
            </a:r>
          </a:p>
          <a:p>
            <a:pPr marL="342900" indent="-342900">
              <a:buFont typeface="Arial" panose="020B0604020202020204" pitchFamily="34" charset="0"/>
              <a:buChar char="•"/>
            </a:pPr>
            <a:r>
              <a:rPr lang="en-IN" sz="2200" b="1" dirty="0"/>
              <a:t>Poor on Compound Characters:</a:t>
            </a:r>
            <a:r>
              <a:rPr lang="en-IN" sz="2200" dirty="0"/>
              <a:t> Conjunct characters (like </a:t>
            </a:r>
            <a:r>
              <a:rPr lang="en-IN" sz="2200" dirty="0" err="1"/>
              <a:t>క్ష</a:t>
            </a:r>
            <a:r>
              <a:rPr lang="en-IN" sz="2200" dirty="0"/>
              <a:t>, </a:t>
            </a:r>
            <a:r>
              <a:rPr lang="en-IN" sz="2200" dirty="0" err="1"/>
              <a:t>త్ర</a:t>
            </a:r>
            <a:r>
              <a:rPr lang="en-IN" sz="2200" dirty="0"/>
              <a:t>) require precise sequencing of consonants and viramas. The existing system struggles heavily here.</a:t>
            </a:r>
          </a:p>
          <a:p>
            <a:pPr>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2288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B272B836-303F-DF4A-69B1-B2C662E9F50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02BC24B3-E39A-CB46-4E1E-768CEC92BF4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2436BCE-063A-1B43-09E4-3AEA3552CC5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A6616B3F-11BD-D8FD-89CA-7D56D09FF5F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DB4174E-509B-CF12-3BBF-0028C4D1663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31A3526-0937-7AB7-D30D-8870E9E719FB}"/>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EB7D4F9D-7741-FDC2-3741-CDF62A89A0A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D2D0A7FB-AA0E-1C19-5625-0FB54171CCF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A69B4B22-6F5A-FCB4-73ED-B60A3F13C8F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D6C01E5-B9A7-3F15-A590-FAA17C94DB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F775AE82-2537-4B05-330D-3AF2C37B1F0E}"/>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FF5C9632-1C53-F6BA-A1DA-7B0EB01C6E7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494B565-E2DA-D992-2272-831FAB18CD28}"/>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AA822E09-3362-108B-8798-EC8292F549FE}"/>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2C831DFE-47FB-E3D4-D5D2-9F583B3FEFC6}"/>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F0B3D84-9378-FF28-B840-0B20A983CEE2}"/>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C73E7F8-D1D3-B301-76CF-13B8B2ABE81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9DBC961-5BE8-85E0-50B9-413EFE96AD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FB8399A-B674-9339-D63B-BFC9BBEABFC9}"/>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C3D9DE4-4371-9055-4B9D-A7D8990BC129}"/>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8B9270AF-ED1F-1411-1CAA-46F106488251}"/>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AD2E06C7-C283-457E-10FF-A0D9E71CDC9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CCFA092-BB4F-F4F2-A5CD-6BD4E37677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B654535-BBE5-AB0E-61BC-13E959EAC58B}"/>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2079DAE5-59E5-0967-317C-13A94DF5354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4A9868D-358C-979E-0D2F-84D51462320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429AA5E6-7ED1-8382-E428-68AB2F3BB39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A4AEDC2C-D56D-FD92-7B29-7FA38F85E67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617ED90-AE8D-BA61-0D56-6ABDD7C248D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C1E3486-760F-0831-2891-78277486CDED}"/>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9F9A68D-8B7F-0937-780B-25A30672527A}"/>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09B92A9-12EB-6D7E-30FC-8581666C702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FA401D31-0501-9FC4-A959-55B5EB9526D7}"/>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BBE587C8-D91B-0ABE-40E2-C1F88AD22C3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0736F4B9-5F6B-284D-A8C8-C4D6EB8364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DBCD5585-B771-28CF-5638-CA6ADF70CEAB}"/>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E6BA4B3-165F-23BD-5B2B-25CDF0C6C5B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DEEAEA1A-F391-64D7-033E-FDEBD5DEA025}"/>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832A59C-F643-EABB-6887-41B2D8D6495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960EE77C-1B6A-2D49-8C6C-11B191C3E03A}"/>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01DA9E69-ED6B-C85C-74BA-191FE05EC48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2F6215A-84D3-0DC8-4B16-AF901F73FC6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CFB554D9-6A3C-2352-7CB3-7954CCFAE00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4685958D-E39A-CAC7-67F4-DBF3A87D183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14493297-4BD7-5010-739F-C152F576EA6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B37008F-0FFE-EF29-1D88-2CDD3DB6B9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C4F2AF6-AFCC-9939-79D2-7A1690280168}"/>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490FED5B-B21A-98E2-5EE8-71512ACF172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F3F54A48-FBD1-6597-C96C-B9FED8D3AFB7}"/>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F210C79F-E766-B137-A052-F060B344F53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80C35B28-2ED2-2755-5AE1-A66F4DFAA8A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AB9A3344-4D04-B32F-FD89-AF6F51416BBF}"/>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A57EBA0F-BF87-1BB9-24D1-C10C4D75397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A033F54E-11DC-29C2-D514-8B65F590C94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AE2B9EC8-479D-D5D8-6BCA-057218002C3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BDCDC82B-0D9A-2EE4-9B3E-CF599F760347}"/>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A4AA3840-594E-06FE-0A71-30CE90557E3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42ED5282-FA59-F5AF-648F-2A453D9779B8}"/>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B79E65-E610-34FA-C420-BCF913D122B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9728ABB-945F-C69B-1928-27FEE400AE9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D8072CB1-B5CD-9356-A549-AA020ACA7B0B}"/>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E0FA01F9-C391-1654-A89D-D52449152939}"/>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FC130C3-1C07-1667-4EBC-6AD73E51EEB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88F9D8-EB9C-16EA-CFE3-135920BBC16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C6C7310-671C-B284-B7F8-A3E8FB1800B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5F953CD5-5686-8CBA-CBB8-1F26F9018E7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7BADDD77-D9A6-8181-B0AC-C6BEFA3E95A1}"/>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A0A3682-B0A9-29FA-1599-3080E9906AB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663EA5C-A76E-9895-678B-A2EDB2931ABA}"/>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DAE84B9E-077F-763A-85D3-145EB11C396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D66DAD28-8608-603E-039D-812413132E2F}"/>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37424B85-59D5-ED1B-1E16-A610508AD95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837843F9-878D-7589-15C8-D97EEBFC1D11}"/>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C0BDE6A0-10E0-3427-1C7B-EA5E6D644758}"/>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2C9D456-4204-3EF2-46D3-9860E49808CE}"/>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982399C-C36A-15B5-ACF1-82617BF7A95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CFF4D0C-089E-70F7-4235-BE74CF1C2815}"/>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8731147F-C7BE-5636-9A89-DC61C5FFDD0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A5D3295F-510F-F59C-7C46-1DD2D94E7D89}"/>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33ED0707-5D7F-A4AC-5758-7B87830037E5}"/>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6112A6F8-6F9B-B524-5A8C-115DCD59E1AB}"/>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71E06284-8328-8C24-1858-B235EA2AC4CD}"/>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134E17CD-D47F-B5BB-46C6-C9C8343DC58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6CD04A39-C69A-A9B9-12B3-D1ACCACAD3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B168A7EF-2378-97A6-EB9E-5138CF0DEDE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38F5637D-71F6-10CF-32C5-5EEB7547998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8455D73-747E-056B-7B38-8A001DF0975A}"/>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06C0A3B2-92B9-6A16-B5FF-A74D2F748F2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35AC269-03D3-675D-4C48-08D6CE86D4C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EBD5AA58-306D-EB99-32B5-9E4A1640A9D3}"/>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8716CA12-D736-2D47-505A-4E57016A89B2}"/>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24491B8-458E-01A7-4909-5893814B8D5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E039EE44-DAC7-5757-4BF2-EA2A26BEA92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09F3D42-1DD6-BD53-022E-9DFCD504830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7D85F3FA-EB83-8F16-0B69-E6B9D38B8AEE}"/>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669A6764-8AC2-FE4D-90C9-15CA00F37E5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821CA983-C5A8-757E-F0A7-A4D98780051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DB299C9-C10F-6BD1-9AFE-22EF237729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ECAEEB9-0496-CCEF-13F3-71167F70256E}"/>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222EF5CE-20AB-28AB-F26B-A88E085941B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0138DB83-A947-E98D-D6E2-0F369DC669D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11FF71F-EE8F-61C1-5CBA-D0066698004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C71722CA-EBE9-82B1-621E-306960CB6E02}"/>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C646E80-51C4-039E-FAEC-CAD0F7CA145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FB0F54E-128B-5239-A521-2EEBE2D1916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3A8941A6-7F83-281A-03C0-660FB6AC3D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18D1468-A732-D1A1-DCD9-B2AE4A776E8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72D15E5-F3D1-86AD-6923-E1C631250F7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D8B9901C-934D-534C-B018-95631FE5E49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A30F3CAB-4984-0AAD-0789-9C721786C1B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BACA79-42B5-5D7D-459A-B644504C708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5314BA32-099D-5AD2-041E-50CAE1A96419}"/>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6D58FBC-3DC3-EEF8-7A21-2CAE571371E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3BCD7C23-EFA9-DD7B-E708-94DD702C4C8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35CD32A3-6E53-4DF6-FFF6-ACA214FD714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FF920B72-20A0-E030-5EC6-20094CF0EF7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9E5EACAF-8340-0440-CFCE-CD483845D92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E324DBAA-B96D-2F3C-08AB-0F24C14D9324}"/>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BAC4BEB-5471-BFC1-84ED-C2287007D22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5142260-56EC-D969-3DF2-8FFB3A03683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E181CF7-9B33-6E89-A038-436D066A7CF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169" name="Rectangle 168">
            <a:extLst>
              <a:ext uri="{FF2B5EF4-FFF2-40B4-BE49-F238E27FC236}">
                <a16:creationId xmlns:a16="http://schemas.microsoft.com/office/drawing/2014/main" id="{D5501B6B-EC77-47C1-BED3-6FC1C9A01967}"/>
              </a:ext>
            </a:extLst>
          </p:cNvPr>
          <p:cNvSpPr/>
          <p:nvPr/>
        </p:nvSpPr>
        <p:spPr>
          <a:xfrm>
            <a:off x="1173494" y="575793"/>
            <a:ext cx="3670368"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Proposed System</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D38708B-F848-32C7-A158-297045C0D5BD}"/>
              </a:ext>
            </a:extLst>
          </p:cNvPr>
          <p:cNvSpPr txBox="1"/>
          <p:nvPr/>
        </p:nvSpPr>
        <p:spPr>
          <a:xfrm>
            <a:off x="821094" y="1341762"/>
            <a:ext cx="11231607" cy="4832092"/>
          </a:xfrm>
          <a:prstGeom prst="rect">
            <a:avLst/>
          </a:prstGeom>
          <a:noFill/>
        </p:spPr>
        <p:txBody>
          <a:bodyPr wrap="square">
            <a:spAutoFit/>
          </a:bodyPr>
          <a:lstStyle/>
          <a:p>
            <a:r>
              <a:rPr lang="en-IN" sz="2200" b="1" dirty="0"/>
              <a:t>Architecture:</a:t>
            </a:r>
            <a:r>
              <a:rPr lang="en-IN" sz="2200" dirty="0"/>
              <a:t> ResNet-18 CNN Encoder + Autoregressive Transformer Decoder + Auxiliary CTC Head.</a:t>
            </a:r>
          </a:p>
          <a:p>
            <a:endParaRPr lang="en-IN" sz="2200" dirty="0"/>
          </a:p>
          <a:p>
            <a:r>
              <a:rPr lang="en-IN" sz="2200" b="1" dirty="0"/>
              <a:t>Key Innovations :</a:t>
            </a:r>
          </a:p>
          <a:p>
            <a:endParaRPr lang="en-IN" sz="2200" dirty="0"/>
          </a:p>
          <a:p>
            <a:pPr marL="342900" indent="-342900">
              <a:buFont typeface="Arial" panose="020B0604020202020204" pitchFamily="34" charset="0"/>
              <a:buChar char="•"/>
            </a:pPr>
            <a:r>
              <a:rPr lang="en-IN" sz="2200" b="1" dirty="0"/>
              <a:t>Autoregressive Decoding:</a:t>
            </a:r>
            <a:r>
              <a:rPr lang="en-IN" sz="2200" dirty="0"/>
              <a:t> The Transformer decoder predicts the next character based on the image features </a:t>
            </a:r>
            <a:r>
              <a:rPr lang="en-IN" sz="2200" i="1" dirty="0"/>
              <a:t>and</a:t>
            </a:r>
            <a:r>
              <a:rPr lang="en-IN" sz="2200" dirty="0"/>
              <a:t> all previously predicted characters, capturing complex dependencies.</a:t>
            </a:r>
          </a:p>
          <a:p>
            <a:pPr marL="342900" indent="-342900">
              <a:buFont typeface="Arial" panose="020B0604020202020204" pitchFamily="34" charset="0"/>
              <a:buChar char="•"/>
            </a:pPr>
            <a:r>
              <a:rPr lang="en-IN" sz="2200" b="1" dirty="0"/>
              <a:t>Linguistic Constraints:</a:t>
            </a:r>
            <a:r>
              <a:rPr lang="en-IN" sz="2200" dirty="0"/>
              <a:t> We inject a Telugu bigram transition matrix during the decoding phase. If the model tries to predict an invalid character combination (e.g., EOS after a virama), the constraint heavily penalizes it, forcing a grammatically valid prediction.</a:t>
            </a:r>
          </a:p>
          <a:p>
            <a:pPr marL="342900" indent="-342900">
              <a:buFont typeface="Arial" panose="020B0604020202020204" pitchFamily="34" charset="0"/>
              <a:buChar char="•"/>
            </a:pPr>
            <a:r>
              <a:rPr lang="en-IN" sz="2200" b="1" dirty="0"/>
              <a:t>Joint CTC-Attention Training:</a:t>
            </a:r>
            <a:r>
              <a:rPr lang="en-IN" sz="2200" dirty="0"/>
              <a:t> We train the model with both Cross-Entropy (CE) loss on the decoder (weight: 0.7) and CTC loss on the encoder (weight: 0.3). The CTC loss forces the encoder to learn better character-level visual features early in training, stabilizing the Transformer.</a:t>
            </a:r>
          </a:p>
        </p:txBody>
      </p:sp>
    </p:spTree>
    <p:extLst>
      <p:ext uri="{BB962C8B-B14F-4D97-AF65-F5344CB8AC3E}">
        <p14:creationId xmlns:p14="http://schemas.microsoft.com/office/powerpoint/2010/main" val="116044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8A166-56A2-1431-B5AA-94305BF8428C}"/>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B86BB909-B2D7-116D-13C5-82CF3A4D1B4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CBDD7EC1-FA5D-D15A-B31D-9E2DE3BF9E56}"/>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3F5C230B-64CA-DF36-FB1A-E9EAD1B6B66A}"/>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C8AB5465-579A-EF24-7C91-7F2F8E81269C}"/>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F3D1DD9F-C201-7FF2-35B0-2B1F201E9FA9}"/>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C69A8352-78A6-7D0E-7A3D-51B2EB97D244}"/>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953A4E5B-BA95-BCE7-9ED7-318FB209D035}"/>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1E4EAE93-79A3-2419-772E-D6D8D0F9531B}"/>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71129A41-9596-A84C-AA0A-378A8BAA303E}"/>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E8C38090-79CE-C731-287A-93D3B9AAD88F}"/>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89167B3F-CF4E-6B01-85A9-4F52266FBAD4}"/>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2D0505F1-09FE-8300-3869-AEF3DB7A5F4E}"/>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A75D5AD0-0BFE-77C3-2193-6CC783D08AAB}"/>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55782B0A-E8A0-C1D4-2951-4FD9FD3D1498}"/>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910C77E3-13EA-0ECA-BF27-E04933291898}"/>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0A8E1185-60F2-DB09-F081-3E925C5A218A}"/>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D7425D42-6821-DC3F-927F-B39C54FB1DC8}"/>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5D3A26D3-6AC6-2B5D-C353-576DB017EDA1}"/>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13D0F20D-6994-FC55-361D-943E6EDE66A0}"/>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62415490-4A13-D7B0-31C6-51EB4B15FAC6}"/>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4AF47AC7-4497-5938-8B62-2E003CEE2DCB}"/>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2DE17559-9A0D-7C51-40D2-A2A023FDB7A7}"/>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75DDF5F1-72D8-E749-F7B8-175E709B5662}"/>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0D5B6E71-0190-EF19-13CD-744ACB4B2BAF}"/>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6A683AC4-4426-4282-CCF3-F52B1E53922B}"/>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4B0D9316-2D97-E844-F367-785E123AFE90}"/>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8C43FF56-62C8-ABA5-128D-D4BB252AE3D8}"/>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719902AB-0C93-D3FD-CCF0-6F1EF493EBA6}"/>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BBF97EB9-213C-5847-DB8B-5494011664DB}"/>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692EAD11-8000-0CB9-1731-36ABE328F8A9}"/>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68D7E77C-EC92-508E-3981-855B1CB76D72}"/>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5138376-B4FB-BBBD-0427-5538768903D4}"/>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3BFB94E8-1E4E-D4A3-2A29-E551A1CE1374}"/>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E5B9407D-6F58-A309-CA54-7AF261CB2D04}"/>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C729625C-7322-3D50-3C11-76684D6EBF24}"/>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8E39C563-6723-0ED9-1C2F-93DA5313592F}"/>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F667C0D7-CAE6-EED2-94A6-B3D91E3B6A05}"/>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5F64FB21-5911-F833-3B6E-F2E0D3A5568F}"/>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3F2B0BEF-D0AD-87CB-6FF1-DA4C41BCA39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2F9B59FD-BCFC-1608-5232-080A1D5CBF00}"/>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78B246D5-640C-8120-2797-2DD547586E4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331F6B1D-12F5-FB6E-8C94-3BD2377E8F37}"/>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A3D37587-DC75-4944-8D39-81F149ADAF93}"/>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8D041BA6-B132-8F7B-47C5-74F1F7E20235}"/>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0D3E63DF-B8B3-5C43-3A2F-C473A0D75D48}"/>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54488A43-EDD7-AAA4-7923-9DD4B04CA99E}"/>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7503AC2-1F8F-DA1E-847C-8A33F7F5AC01}"/>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54062D96-02E4-082E-1AD0-03BB31B26D8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CB44376F-1CDA-B0A2-807A-8B0705283DED}"/>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013A2044-2404-2CB3-ECB5-CDE92502229E}"/>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3F3C58DA-D4F9-21C1-176E-1BF7247347E5}"/>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0F7423C1-58E4-3705-B0B3-34615F2B2501}"/>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01A1B164-DF04-32EB-5BAF-A7C6E220E77A}"/>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1EAEA2C9-4970-06AA-5654-F5CF68684360}"/>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EBF97EFF-9569-9739-8A2A-BE05A8FA82F5}"/>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A1C27CBA-2131-840B-CC88-02B7AA371F02}"/>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48177A2C-71DE-6557-DE37-CEDDDAF2289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69032793-DA2C-813E-E9D9-AE236782F496}"/>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766862A6-B569-2374-C7D6-DE206265D3A5}"/>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641F2B67-B023-B63B-77BF-A0413CA19E6A}"/>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A29ECBD3-B104-348B-E84B-46376A370E35}"/>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7C17F933-621B-B4FE-383E-59C7788FC4AA}"/>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3A910E4A-A48F-FD5B-9A98-59F7952F382C}"/>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745C1FF4-9263-3229-2E2A-3A935E4823B0}"/>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7C9FD9D-2CD0-CD64-EEA0-208F8F7BA79D}"/>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BCF2D776-5293-3CB2-B3EB-B1EE0B41DE4D}"/>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862059B8-4B72-62AC-5D59-C40FC926B03B}"/>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FD8EEFA-9148-2C52-BF63-4157EC6D18E0}"/>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6093543E-01FD-2191-6B94-2FCE8405C98F}"/>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5ADB6E97-F4C6-C64E-2023-8A7F1D4F4D7B}"/>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26363DDF-EF4B-FB58-C053-B9A5CD3F0A60}"/>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04A9090E-66DC-39E5-DC2F-A1C009F589C1}"/>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E549EA3E-3E39-AF84-4348-6D3864205813}"/>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72FC4A40-3B1C-BDF4-0584-76BA76507147}"/>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C2B1C8E2-A694-BEE8-EB1D-2544AE1F41D6}"/>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EA1C97D8-9E9E-66AC-062E-7C8CC0D4ADD0}"/>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07EB3F52-DB27-F56D-4820-AC98057BDBC0}"/>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A7672622-9E00-B43B-9CAA-5777DF534998}"/>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2FEE2F46-53D5-7937-B9F5-33D707FCD516}"/>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0D9092A4-806C-ADF2-C457-EFACE35CDBFF}"/>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01B3E652-48C3-F41D-ABD5-143E8C4BFDCA}"/>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80B58297-BA2B-104A-C24D-20AD5C56B3CC}"/>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B6C65CEC-9FFB-7299-5B36-45D254F8CEB7}"/>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3C25D111-8E1B-07AC-E34C-2EAF979A2B75}"/>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25D83390-FE0C-402A-B9CF-4AD3895B8A1A}"/>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16C4A28D-D4FF-9AB3-383F-81B2B1196DA4}"/>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6DB12F57-0EA6-92E3-B3F8-F1CA9F497547}"/>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8587E165-0B79-DA34-9663-76BC09DA4C7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D345FFD-0F2E-194C-0063-E896D7EF1C62}"/>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FF2E265F-47EE-87FE-DF1B-3E52B5868E7A}"/>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FC1F2A78-2F1D-B46E-C60B-057102678E9A}"/>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7460BDE5-B827-90D7-05BF-D1360DDF8E72}"/>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90A8CBD4-3D83-D247-A612-DF8B070D6DE4}"/>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18D2C3E-73DB-A9CA-EEF9-800CA2283077}"/>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D846E8CA-49F6-6783-B9D0-4038BB7D5396}"/>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283B341A-DFBD-4788-DA9D-25445501AFD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B5325633-4FCB-CAA4-770C-72B2B2EED2A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4B412B16-533C-FBBB-6C05-F941026E05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F784887A-734E-558F-444D-904A9F8963B0}"/>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9DE16E1A-551B-3383-57A8-61E5949CE7B7}"/>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50154095-F011-EDAC-619A-7F9C8ECF61F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C08E07C5-E85A-6C4E-E3E8-DEAEDC1E0086}"/>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B7BC8E96-F2D9-B4DA-8D85-E2C3E69261E8}"/>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ED02BA56-90BC-1C41-690F-8289283616F0}"/>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7410181A-D30F-8A2C-F88A-4D2EACF5C8E0}"/>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8EF0C074-16A7-A119-CAF8-6C39ABE5A227}"/>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4ABD9BF8-C831-03A7-5C77-8479A7BE16A3}"/>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C4091FE2-4FA8-9F9D-2F2F-CB7D844173C6}"/>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64B9F95E-D1A8-6BC0-2B72-228B1F75F4E8}"/>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B5901D30-A354-32A7-BBEF-43B63F5FC3C2}"/>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12E5A69-D769-3E0C-57AA-0AFB781CDA11}"/>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69AEE2F4-387F-B206-0C59-2601775D5FFA}"/>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78208ECE-5B00-65FD-ECDB-58935AC229D6}"/>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694321A1-7A56-D917-8420-5E5AF80BD0E8}"/>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510765E8-8AF8-DB76-6F02-F138B4C0DF30}"/>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641FF0D0-08C5-CBB6-5B67-1FE4CB45395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8A7CE465-B3C2-3D4E-27F2-F09F7F6AB848}"/>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594ECCE1-56EF-45FB-A765-015A4AD91BD1}"/>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96085721-0A9C-9D0F-13D0-4D2BF02E21CD}"/>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1910B977-A098-A6E7-C829-FACDFFA7DBE9}"/>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7E0FE5A5-6090-0884-35ED-CB12139CB336}"/>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169" name="Rectangle 168">
            <a:extLst>
              <a:ext uri="{FF2B5EF4-FFF2-40B4-BE49-F238E27FC236}">
                <a16:creationId xmlns:a16="http://schemas.microsoft.com/office/drawing/2014/main" id="{6565C949-3443-FEE8-2DE5-0E5E38B5F740}"/>
              </a:ext>
            </a:extLst>
          </p:cNvPr>
          <p:cNvSpPr/>
          <p:nvPr/>
        </p:nvSpPr>
        <p:spPr>
          <a:xfrm>
            <a:off x="1173493" y="575792"/>
            <a:ext cx="7396765" cy="132472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IN" sz="3600" b="1" dirty="0">
                <a:solidFill>
                  <a:srgbClr val="FF0000"/>
                </a:solidFill>
              </a:rPr>
              <a:t>Architecture</a:t>
            </a:r>
          </a:p>
          <a:p>
            <a:r>
              <a:rPr lang="en-IN" sz="3600" b="1" dirty="0">
                <a:solidFill>
                  <a:srgbClr val="FF0000"/>
                </a:solidFill>
              </a:rPr>
              <a:t>Diagram</a:t>
            </a:r>
          </a:p>
        </p:txBody>
      </p:sp>
      <p:pic>
        <p:nvPicPr>
          <p:cNvPr id="6" name="Picture 5">
            <a:extLst>
              <a:ext uri="{FF2B5EF4-FFF2-40B4-BE49-F238E27FC236}">
                <a16:creationId xmlns:a16="http://schemas.microsoft.com/office/drawing/2014/main" id="{773297F0-882B-7F4B-2C2B-A145871DDB43}"/>
              </a:ext>
            </a:extLst>
          </p:cNvPr>
          <p:cNvPicPr>
            <a:picLocks noChangeAspect="1"/>
          </p:cNvPicPr>
          <p:nvPr/>
        </p:nvPicPr>
        <p:blipFill>
          <a:blip r:embed="rId3"/>
          <a:stretch>
            <a:fillRect/>
          </a:stretch>
        </p:blipFill>
        <p:spPr>
          <a:xfrm>
            <a:off x="3872001" y="0"/>
            <a:ext cx="6603927" cy="6858000"/>
          </a:xfrm>
          <a:prstGeom prst="rect">
            <a:avLst/>
          </a:prstGeom>
        </p:spPr>
      </p:pic>
    </p:spTree>
    <p:extLst>
      <p:ext uri="{BB962C8B-B14F-4D97-AF65-F5344CB8AC3E}">
        <p14:creationId xmlns:p14="http://schemas.microsoft.com/office/powerpoint/2010/main" val="137543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B272B836-303F-DF4A-69B1-B2C662E9F50B}"/>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02BC24B3-E39A-CB46-4E1E-768CEC92BF4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C2436BCE-063A-1B43-09E4-3AEA3552CC5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A6616B3F-11BD-D8FD-89CA-7D56D09FF5F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DB4174E-509B-CF12-3BBF-0028C4D1663C}"/>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31A3526-0937-7AB7-D30D-8870E9E719FB}"/>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EB7D4F9D-7741-FDC2-3741-CDF62A89A0AD}"/>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D2D0A7FB-AA0E-1C19-5625-0FB54171CCF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A69B4B22-6F5A-FCB4-73ED-B60A3F13C8F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0D6C01E5-B9A7-3F15-A590-FAA17C94DB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F775AE82-2537-4B05-330D-3AF2C37B1F0E}"/>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FF5C9632-1C53-F6BA-A1DA-7B0EB01C6E7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3494B565-E2DA-D992-2272-831FAB18CD28}"/>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AA822E09-3362-108B-8798-EC8292F549FE}"/>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2C831DFE-47FB-E3D4-D5D2-9F583B3FEFC6}"/>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BF0B3D84-9378-FF28-B840-0B20A983CEE2}"/>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8C73E7F8-D1D3-B301-76CF-13B8B2ABE81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99DBC961-5BE8-85E0-50B9-413EFE96AD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FB8399A-B674-9339-D63B-BFC9BBEABFC9}"/>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DC3D9DE4-4371-9055-4B9D-A7D8990BC129}"/>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8B9270AF-ED1F-1411-1CAA-46F106488251}"/>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AD2E06C7-C283-457E-10FF-A0D9E71CDC9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CCFA092-BB4F-F4F2-A5CD-6BD4E37677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AB654535-BBE5-AB0E-61BC-13E959EAC58B}"/>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2079DAE5-59E5-0967-317C-13A94DF5354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84A9868D-358C-979E-0D2F-84D51462320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429AA5E6-7ED1-8382-E428-68AB2F3BB39E}"/>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A4AEDC2C-D56D-FD92-7B29-7FA38F85E67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617ED90-AE8D-BA61-0D56-6ABDD7C248D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C1E3486-760F-0831-2891-78277486CDED}"/>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9F9A68D-8B7F-0937-780B-25A30672527A}"/>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009B92A9-12EB-6D7E-30FC-8581666C702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FA401D31-0501-9FC4-A959-55B5EB9526D7}"/>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BBE587C8-D91B-0ABE-40E2-C1F88AD22C3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0736F4B9-5F6B-284D-A8C8-C4D6EB8364F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DBCD5585-B771-28CF-5638-CA6ADF70CEAB}"/>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3E6BA4B3-165F-23BD-5B2B-25CDF0C6C5B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DEEAEA1A-F391-64D7-033E-FDEBD5DEA025}"/>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832A59C-F643-EABB-6887-41B2D8D6495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960EE77C-1B6A-2D49-8C6C-11B191C3E03A}"/>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01DA9E69-ED6B-C85C-74BA-191FE05EC48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2F6215A-84D3-0DC8-4B16-AF901F73FC6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CFB554D9-6A3C-2352-7CB3-7954CCFAE007}"/>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4685958D-E39A-CAC7-67F4-DBF3A87D183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14493297-4BD7-5010-739F-C152F576EA6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1B37008F-0FFE-EF29-1D88-2CDD3DB6B9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6C4F2AF6-AFCC-9939-79D2-7A1690280168}"/>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490FED5B-B21A-98E2-5EE8-71512ACF1723}"/>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F3F54A48-FBD1-6597-C96C-B9FED8D3AFB7}"/>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F210C79F-E766-B137-A052-F060B344F53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80C35B28-2ED2-2755-5AE1-A66F4DFAA8A2}"/>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AB9A3344-4D04-B32F-FD89-AF6F51416BBF}"/>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A57EBA0F-BF87-1BB9-24D1-C10C4D75397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A033F54E-11DC-29C2-D514-8B65F590C94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AE2B9EC8-479D-D5D8-6BCA-057218002C3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BDCDC82B-0D9A-2EE4-9B3E-CF599F760347}"/>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A4AA3840-594E-06FE-0A71-30CE90557E3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42ED5282-FA59-F5AF-648F-2A453D9779B8}"/>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B79E65-E610-34FA-C420-BCF913D122B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9728ABB-945F-C69B-1928-27FEE400AE9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D8072CB1-B5CD-9356-A549-AA020ACA7B0B}"/>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E0FA01F9-C391-1654-A89D-D52449152939}"/>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FC130C3-1C07-1667-4EBC-6AD73E51EEB7}"/>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5F88F9D8-EB9C-16EA-CFE3-135920BBC16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4C6C7310-671C-B284-B7F8-A3E8FB1800BF}"/>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5F953CD5-5686-8CBA-CBB8-1F26F9018E7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7BADDD77-D9A6-8181-B0AC-C6BEFA3E95A1}"/>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A0A3682-B0A9-29FA-1599-3080E9906AB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0663EA5C-A76E-9895-678B-A2EDB2931ABA}"/>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DAE84B9E-077F-763A-85D3-145EB11C396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D66DAD28-8608-603E-039D-812413132E2F}"/>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37424B85-59D5-ED1B-1E16-A610508AD952}"/>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837843F9-878D-7589-15C8-D97EEBFC1D11}"/>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C0BDE6A0-10E0-3427-1C7B-EA5E6D644758}"/>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2C9D456-4204-3EF2-46D3-9860E49808CE}"/>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982399C-C36A-15B5-ACF1-82617BF7A95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1CFF4D0C-089E-70F7-4235-BE74CF1C2815}"/>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8731147F-C7BE-5636-9A89-DC61C5FFDD0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A5D3295F-510F-F59C-7C46-1DD2D94E7D89}"/>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33ED0707-5D7F-A4AC-5758-7B87830037E5}"/>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6112A6F8-6F9B-B524-5A8C-115DCD59E1AB}"/>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71E06284-8328-8C24-1858-B235EA2AC4CD}"/>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134E17CD-D47F-B5BB-46C6-C9C8343DC58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6CD04A39-C69A-A9B9-12B3-D1ACCACAD3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B168A7EF-2378-97A6-EB9E-5138CF0DEDE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38F5637D-71F6-10CF-32C5-5EEB7547998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58455D73-747E-056B-7B38-8A001DF0975A}"/>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06C0A3B2-92B9-6A16-B5FF-A74D2F748F22}"/>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435AC269-03D3-675D-4C48-08D6CE86D4C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EBD5AA58-306D-EB99-32B5-9E4A1640A9D3}"/>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8716CA12-D736-2D47-505A-4E57016A89B2}"/>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624491B8-458E-01A7-4909-5893814B8D5F}"/>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E039EE44-DAC7-5757-4BF2-EA2A26BEA92F}"/>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09F3D42-1DD6-BD53-022E-9DFCD504830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7D85F3FA-EB83-8F16-0B69-E6B9D38B8AEE}"/>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669A6764-8AC2-FE4D-90C9-15CA00F37E5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821CA983-C5A8-757E-F0A7-A4D987800519}"/>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DB299C9-C10F-6BD1-9AFE-22EF2377298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2ECAEEB9-0496-CCEF-13F3-71167F70256E}"/>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222EF5CE-20AB-28AB-F26B-A88E085941B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0138DB83-A947-E98D-D6E2-0F369DC669DA}"/>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B11FF71F-EE8F-61C1-5CBA-D0066698004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C71722CA-EBE9-82B1-621E-306960CB6E02}"/>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C646E80-51C4-039E-FAEC-CAD0F7CA1458}"/>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EFB0F54E-128B-5239-A521-2EEBE2D1916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3A8941A6-7F83-281A-03C0-660FB6AC3DFC}"/>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B18D1468-A732-D1A1-DCD9-B2AE4A776E8A}"/>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A72D15E5-F3D1-86AD-6923-E1C631250F7A}"/>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D8B9901C-934D-534C-B018-95631FE5E49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A30F3CAB-4984-0AAD-0789-9C721786C1B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3ABACA79-42B5-5D7D-459A-B644504C708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5314BA32-099D-5AD2-041E-50CAE1A96419}"/>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6D58FBC-3DC3-EEF8-7A21-2CAE571371E4}"/>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3BCD7C23-EFA9-DD7B-E708-94DD702C4C8A}"/>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35CD32A3-6E53-4DF6-FFF6-ACA214FD714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FF920B72-20A0-E030-5EC6-20094CF0EF7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9E5EACAF-8340-0440-CFCE-CD483845D92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E324DBAA-B96D-2F3C-08AB-0F24C14D9324}"/>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0BAC4BEB-5471-BFC1-84ED-C2287007D22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5142260-56EC-D969-3DF2-8FFB3A03683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5E181CF7-9B33-6E89-A038-436D066A7CF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6FDB59CB-2A88-326F-B50C-13DD5449741C}"/>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2800" dirty="0">
              <a:solidFill>
                <a:schemeClr val="tx1">
                  <a:lumMod val="65000"/>
                  <a:lumOff val="35000"/>
                </a:schemeClr>
              </a:solidFill>
            </a:endParaRPr>
          </a:p>
        </p:txBody>
      </p:sp>
      <p:sp>
        <p:nvSpPr>
          <p:cNvPr id="169" name="Rectangle 168">
            <a:extLst>
              <a:ext uri="{FF2B5EF4-FFF2-40B4-BE49-F238E27FC236}">
                <a16:creationId xmlns:a16="http://schemas.microsoft.com/office/drawing/2014/main" id="{D5501B6B-EC77-47C1-BED3-6FC1C9A01967}"/>
              </a:ext>
            </a:extLst>
          </p:cNvPr>
          <p:cNvSpPr/>
          <p:nvPr/>
        </p:nvSpPr>
        <p:spPr>
          <a:xfrm>
            <a:off x="1040005" y="177693"/>
            <a:ext cx="4963980" cy="9038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Methodology/Algorithm</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832E799-159A-2A90-39E1-7235425EDCD1}"/>
              </a:ext>
            </a:extLst>
          </p:cNvPr>
          <p:cNvSpPr txBox="1"/>
          <p:nvPr/>
        </p:nvSpPr>
        <p:spPr>
          <a:xfrm>
            <a:off x="1040005" y="891269"/>
            <a:ext cx="10393660" cy="5940088"/>
          </a:xfrm>
          <a:prstGeom prst="rect">
            <a:avLst/>
          </a:prstGeom>
          <a:noFill/>
        </p:spPr>
        <p:txBody>
          <a:bodyPr wrap="square">
            <a:spAutoFit/>
          </a:bodyPr>
          <a:lstStyle/>
          <a:p>
            <a:pPr marL="285750" indent="-285750">
              <a:buFont typeface="Arial" panose="020B0604020202020204" pitchFamily="34" charset="0"/>
              <a:buChar char="•"/>
            </a:pPr>
            <a:r>
              <a:rPr lang="en-IN" b="1" dirty="0"/>
              <a:t>Data Ingestion &amp; Preprocessing:</a:t>
            </a:r>
            <a:endParaRPr lang="en-IN" dirty="0"/>
          </a:p>
          <a:p>
            <a:pPr marL="742950" lvl="1" indent="-285750">
              <a:buFont typeface="Arial" panose="020B0604020202020204" pitchFamily="34" charset="0"/>
              <a:buChar char="•"/>
            </a:pPr>
            <a:r>
              <a:rPr lang="en-IN" dirty="0"/>
              <a:t>Load images and labels.</a:t>
            </a:r>
          </a:p>
          <a:p>
            <a:pPr marL="742950" lvl="1" indent="-285750">
              <a:buFont typeface="Arial" panose="020B0604020202020204" pitchFamily="34" charset="0"/>
              <a:buChar char="•"/>
            </a:pPr>
            <a:r>
              <a:rPr lang="en-IN" dirty="0"/>
              <a:t>Apply Unicode Normalization (NFC) to ensure consistent character representation.</a:t>
            </a:r>
          </a:p>
          <a:p>
            <a:pPr marL="742950" lvl="1" indent="-285750">
              <a:buFont typeface="Arial" panose="020B0604020202020204" pitchFamily="34" charset="0"/>
              <a:buChar char="•"/>
            </a:pPr>
            <a:r>
              <a:rPr lang="en-IN" dirty="0"/>
              <a:t>Apply image transformations (grayscale conversion, elastic distortion for augmentation, aspect-ratio-preserving resize to 64x512).</a:t>
            </a:r>
          </a:p>
          <a:p>
            <a:pPr marL="285750" indent="-285750">
              <a:buFont typeface="Arial" panose="020B0604020202020204" pitchFamily="34" charset="0"/>
              <a:buChar char="•"/>
            </a:pPr>
            <a:r>
              <a:rPr lang="en-IN" b="1" dirty="0"/>
              <a:t>Feature Extraction:</a:t>
            </a:r>
            <a:r>
              <a:rPr lang="en-IN" dirty="0"/>
              <a:t> </a:t>
            </a:r>
          </a:p>
          <a:p>
            <a:pPr marL="742950" lvl="1" indent="-285750">
              <a:buFont typeface="Arial" panose="020B0604020202020204" pitchFamily="34" charset="0"/>
              <a:buChar char="•"/>
            </a:pPr>
            <a:r>
              <a:rPr lang="en-IN" dirty="0"/>
              <a:t>The ResNet-18 encoder processes the image and compresses the height dimension, outputting a sequence of feature vectors (e.g., 64 timesteps of size 256).</a:t>
            </a:r>
          </a:p>
          <a:p>
            <a:pPr marL="285750" indent="-285750">
              <a:buFont typeface="Arial" panose="020B0604020202020204" pitchFamily="34" charset="0"/>
              <a:buChar char="•"/>
            </a:pPr>
            <a:r>
              <a:rPr lang="en-IN" b="1" dirty="0"/>
              <a:t>Joint Training Phase:</a:t>
            </a:r>
            <a:endParaRPr lang="en-IN" dirty="0"/>
          </a:p>
          <a:p>
            <a:pPr marL="742950" lvl="1" indent="-285750">
              <a:buFont typeface="Arial" panose="020B0604020202020204" pitchFamily="34" charset="0"/>
              <a:buChar char="•"/>
            </a:pPr>
            <a:r>
              <a:rPr lang="en-IN" dirty="0"/>
              <a:t>The encoder output goes to an auxiliary CTC head to compute CTC Loss.</a:t>
            </a:r>
          </a:p>
          <a:p>
            <a:pPr marL="742950" lvl="1" indent="-285750">
              <a:buFont typeface="Arial" panose="020B0604020202020204" pitchFamily="34" charset="0"/>
              <a:buChar char="•"/>
            </a:pPr>
            <a:r>
              <a:rPr lang="en-IN" dirty="0"/>
              <a:t>The encoder output </a:t>
            </a:r>
            <a:r>
              <a:rPr lang="en-IN" i="1" dirty="0"/>
              <a:t>and</a:t>
            </a:r>
            <a:r>
              <a:rPr lang="en-IN" dirty="0"/>
              <a:t> the target text sequence go into the Transformer Decoder using "Teacher Forcing".</a:t>
            </a:r>
          </a:p>
          <a:p>
            <a:pPr marL="742950" lvl="1" indent="-285750">
              <a:buFont typeface="Arial" panose="020B0604020202020204" pitchFamily="34" charset="0"/>
              <a:buChar char="•"/>
            </a:pPr>
            <a:r>
              <a:rPr lang="en-IN" dirty="0"/>
              <a:t>The decoder outputs logits, and Cross-Entropy (CE) loss is computed.</a:t>
            </a:r>
          </a:p>
          <a:p>
            <a:pPr marL="742950" lvl="1" indent="-285750">
              <a:buFont typeface="Arial" panose="020B0604020202020204" pitchFamily="34" charset="0"/>
              <a:buChar char="•"/>
            </a:pPr>
            <a:r>
              <a:rPr lang="en-IN" dirty="0"/>
              <a:t>Total Loss = (0.7 * CE) + (0.3 * CTC).</a:t>
            </a:r>
          </a:p>
          <a:p>
            <a:pPr marL="285750" indent="-285750">
              <a:buFont typeface="Arial" panose="020B0604020202020204" pitchFamily="34" charset="0"/>
              <a:buChar char="•"/>
            </a:pPr>
            <a:r>
              <a:rPr lang="en-IN" b="1" dirty="0"/>
              <a:t>Constrained Decoding (Inference):</a:t>
            </a:r>
            <a:endParaRPr lang="en-IN" dirty="0"/>
          </a:p>
          <a:p>
            <a:pPr marL="742950" lvl="1" indent="-285750">
              <a:buFont typeface="Arial" panose="020B0604020202020204" pitchFamily="34" charset="0"/>
              <a:buChar char="•"/>
            </a:pPr>
            <a:r>
              <a:rPr lang="en-IN" dirty="0"/>
              <a:t>The model predicts character by character.</a:t>
            </a:r>
          </a:p>
          <a:p>
            <a:pPr marL="742950" lvl="1" indent="-285750">
              <a:buFont typeface="Arial" panose="020B0604020202020204" pitchFamily="34" charset="0"/>
              <a:buChar char="•"/>
            </a:pPr>
            <a:r>
              <a:rPr lang="en-IN" dirty="0"/>
              <a:t>At step </a:t>
            </a:r>
            <a:r>
              <a:rPr lang="en-IN" i="1" dirty="0"/>
              <a:t>t</a:t>
            </a:r>
            <a:r>
              <a:rPr lang="en-IN" dirty="0"/>
              <a:t>, the model outputs probabilities for the next character.</a:t>
            </a:r>
          </a:p>
          <a:p>
            <a:pPr marL="742950" lvl="1" indent="-285750">
              <a:buFont typeface="Arial" panose="020B0604020202020204" pitchFamily="34" charset="0"/>
              <a:buChar char="•"/>
            </a:pPr>
            <a:r>
              <a:rPr lang="en-IN" dirty="0"/>
              <a:t>The </a:t>
            </a:r>
            <a:r>
              <a:rPr lang="en-IN" b="1" dirty="0"/>
              <a:t>Telugu Masking Algorithm</a:t>
            </a:r>
            <a:r>
              <a:rPr lang="en-IN" dirty="0"/>
              <a:t> checks the prediction at </a:t>
            </a:r>
            <a:r>
              <a:rPr lang="en-IN" i="1" dirty="0"/>
              <a:t>t-1</a:t>
            </a:r>
            <a:r>
              <a:rPr lang="en-IN" dirty="0"/>
              <a:t>. It applies a massive penalty (-10.0) to any character at step </a:t>
            </a:r>
            <a:r>
              <a:rPr lang="en-IN" i="1" dirty="0"/>
              <a:t>t</a:t>
            </a:r>
            <a:r>
              <a:rPr lang="en-IN" dirty="0"/>
              <a:t> that is linguistically invalid to follow </a:t>
            </a:r>
            <a:r>
              <a:rPr lang="en-IN" i="1" dirty="0"/>
              <a:t>t-1</a:t>
            </a:r>
            <a:r>
              <a:rPr lang="en-IN" dirty="0"/>
              <a:t>.</a:t>
            </a:r>
          </a:p>
          <a:p>
            <a:pPr marL="742950" lvl="1" indent="-285750">
              <a:buFont typeface="Arial" panose="020B0604020202020204" pitchFamily="34" charset="0"/>
              <a:buChar char="•"/>
            </a:pPr>
            <a:r>
              <a:rPr lang="en-IN" dirty="0"/>
              <a:t>Beam Search (k=5) is used to find the most likely overall sequence.</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313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339D3A7-D124-D453-107B-4794853CA76A}"/>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C692FC92-BA67-9A43-3F06-E7C166B34CCD}"/>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9C39C8B2-9CB2-01B8-AE4C-CD2FBCDC4A8F}"/>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F890BF1E-1489-2663-CC9B-DB6A131D3886}"/>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A1AE53BC-99F1-2AD8-772A-62892BCE24D3}"/>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62AC52AC-878E-9B51-F7AA-4D45F79FE813}"/>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7C5C6D17-C257-1937-793D-22D42BD75C7E}"/>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8F481CCC-CF45-3767-F391-4762BE4FF5C6}"/>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09A5B1FB-306D-D7AC-D4B0-19A43DE063CE}"/>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FB4ABE76-8AAF-0FC4-092F-53E50FF04C6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120339E5-4C8C-7E65-DD0E-4E82795CAC31}"/>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043F97F4-A7BC-A2A3-D652-6599CA9DF3E2}"/>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976E28FB-EF7C-240D-321D-AE74954532A3}"/>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6DD153BC-1C22-4E3B-2D54-6A092F11E801}"/>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529A3F63-2EE4-EAED-F805-CC5A7426BE8D}"/>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AFFD858F-3E5B-FEB4-E7E0-4D7EA243FBED}"/>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F365ED03-A3A8-CDDA-E96B-E0D85038E7BC}"/>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7075D9B0-AF41-C987-E503-A36D3324087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40A86ACE-0F07-3B54-BA08-A9D40E41CBBE}"/>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24A4817A-4CAA-210E-BBEB-8257444BA791}"/>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B5DCE319-E064-80E5-A9BA-2253FE3C47D9}"/>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7786CADC-F8A5-8AC2-469E-32BC2F894BFF}"/>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83782620-A851-BD3C-13DB-29C723E26132}"/>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04B80DB6-2470-17FC-A29D-F7706D389D5A}"/>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7AB78B21-A3DB-655F-BD40-871A550259D0}"/>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D8F1A212-0B3A-CE1F-750C-A9B2CE74E3FF}"/>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AB591BA7-BC16-7889-0209-C6CE48F40EDB}"/>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24836A41-EBE1-82A0-8089-7832B006924F}"/>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BC04F691-C0AF-0BFF-11BC-F7E0B5636527}"/>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B360064C-8A08-0858-70D5-DEEAB124EB39}"/>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B51F889C-0829-88D3-D26E-858A7BF8BAA4}"/>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B867CF5B-D180-BB1E-2721-00DEF22F4724}"/>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A479A5C0-EF28-BE5A-E5F2-11101AEB0E23}"/>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6EBB425B-15CA-1296-4364-F1581A630039}"/>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B232A0B6-B3A2-0DC6-2ABF-14AEF4C53389}"/>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01BAC2B1-9677-32E6-3248-ECC4703485E5}"/>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51051FDC-0407-8DB3-15CD-01D0DB1438E0}"/>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00739E86-AD78-EA26-A169-9D881A3F2629}"/>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50A8653E-5CC5-FCCE-A679-F4846997E5C7}"/>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73997AA7-EE9F-5B3F-D8F8-E7A8A990E19C}"/>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8B169811-D124-5D16-9FAF-BAEE351E5216}"/>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C980DCF3-8470-4BCF-D6F7-157478B19479}"/>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1BAD6F86-1931-590D-D4CE-AB32E45B111D}"/>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0FBEDB4F-3944-7965-CEE0-FE6F83F77551}"/>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486F35B9-3931-6F5D-2EAE-2CC48D69520A}"/>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DC534CE7-BF41-C0AD-47CC-6CC06E171746}"/>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812D22BD-8254-8D44-5DAE-FBFFABDC217C}"/>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89E37EE5-9475-2EEE-7456-0D1004617CC5}"/>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8F1F71D6-66E4-96DA-3779-5DED0A40427C}"/>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C5086533-33A9-9DA5-0B6A-2EE41172788C}"/>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D77F98EF-4DA9-083C-5A8A-0DF76BCA4608}"/>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67C8C206-71A4-EC40-D18B-8B1E325A4F5A}"/>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DE27B4DC-ED29-092C-0A28-8154373B0454}"/>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B46CAACA-FF1E-DA5B-5E40-78167ECD7874}"/>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C4088C79-73FC-A8C1-DCCF-D20BDE773A01}"/>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7E49339A-228E-28C2-3B9A-981B7A4A3148}"/>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B85A52EB-0886-9AE3-D16B-767CF41A7D12}"/>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8C2C5003-C6C4-FD88-65C7-E0C6F0740610}"/>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1B6D80CE-AABF-1890-3ABB-429F67A8BBAF}"/>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692944F4-C585-D4F6-E3DB-29726F00CC31}"/>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6FFEC368-3391-9D7C-4C8D-70A1B0CB3D5C}"/>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B00609C9-2620-3E99-0499-AC9C251C4A34}"/>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BB1FA3C0-2A83-E140-A1AA-AF00AB65043D}"/>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77D7E50C-9CA2-C830-6C18-9AB76E2832CC}"/>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1B3EA9F1-DAF3-8211-E054-AA16188ADBF5}"/>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281AB9CF-D165-8C72-9B5A-77FE0B62207C}"/>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D979E397-CEDC-EFDF-B5F9-DCFAF43C28E8}"/>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32FAC87A-F468-7EB6-E8BC-662256FFA574}"/>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1CC2F617-243E-218A-E8FF-469B1F3AC114}"/>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C9731B48-2F99-1291-AD3C-F9329A3649F0}"/>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4F0CCBF8-FE88-0C00-3366-BD769172A7A1}"/>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043296B0-6661-A0A9-5214-CCFC4C29196A}"/>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5D2C107B-1802-760B-420E-D0E5825C8653}"/>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454AC3C9-0545-7CAA-4C1E-82CEB68D3CDB}"/>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5C9398DF-24BD-DC97-8780-369643E53BDC}"/>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24962064-3935-C28E-63DE-AE66C18B54B7}"/>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E5169111-5D9F-4329-D151-270EDE809CCA}"/>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54910F62-AFB4-6274-4EC3-656169A1DD52}"/>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45BC60E6-674C-A892-8D48-44437F2291E5}"/>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8965DB46-2B71-FC39-C7EE-75B3D4B1D8C7}"/>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89C69253-A574-1EE2-18DC-3FC2344170A8}"/>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B5A22B4E-B3B1-C80D-2EA5-32ABA7D8A98F}"/>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653E4112-CECF-93EE-67F4-1F03020BC0F4}"/>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213380E4-F1EB-001F-E6C1-E5052D87AE6C}"/>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9F97FA07-ECBD-F040-9173-482C6FB24DF4}"/>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4C39E1F4-BA63-A1BE-5369-D1AC79C87ADB}"/>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A36633FD-2843-86AB-CF89-5E6110A9307B}"/>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96978E0E-F779-E18D-0284-C3D62ACE3D48}"/>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32CCC847-62FC-E3B9-FF2A-EE6F605ACA7B}"/>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3CEED46D-AB04-415B-D9F4-22019E40EFB0}"/>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3D92F8DE-5C93-AC47-FCBF-7934D54998DB}"/>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1A673D24-572A-4492-1F3F-B42D7221C9C0}"/>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F7C4BB86-15FE-8990-8685-C9F4CA0676B1}"/>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F910BC4F-3DAD-459B-88A0-2928712E5B5B}"/>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175F94E1-D1BB-412F-F9C4-6787C88B677C}"/>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96F35AD2-70C8-2CE7-B643-4A4683C571A7}"/>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161424E6-E0A3-BA2F-CBE7-A17888F6E546}"/>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12D17A63-8243-FFF4-E3FC-2E25528C7772}"/>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C7DE0845-DFD3-7CAA-0F21-392DD23143E2}"/>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BB7F2CEF-33D0-346A-6679-7CDB39087E2D}"/>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48A0D3D2-1EB6-2219-8AAB-EB10ECFB2654}"/>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8AE6E31D-683E-C92E-B927-9D0D869D5440}"/>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4B120362-077A-E30E-73B8-D5850AACBEF9}"/>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4BAF4198-7B3E-51A8-2E9B-A782BBAA8B4D}"/>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97997E40-47AE-77E8-265E-FC62E7B4C30A}"/>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88DCADC1-BA3B-A703-32EC-FB4DA1536A98}"/>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DD5DD70B-F6A3-4956-8A9A-07A1AD619529}"/>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CB17E61D-0494-1231-BDEE-68F93409A67F}"/>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2802CECC-1568-CEA5-B7A1-AAD25D8FBD75}"/>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39A21A27-A926-30B0-DF4A-664518A19B93}"/>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9B301209-A032-2413-3255-3B59A57ED54B}"/>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A97A2DD1-E595-5298-3F2F-360767ED02B6}"/>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BD4A41F6-C546-DCAC-434A-8D3C58670371}"/>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41594035-570C-5DDC-7E45-80ABEF2BC3FF}"/>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385C2C3F-8660-C7C7-16B9-492DB72D0187}"/>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6AB8863E-9B19-4116-F4AB-FCA678F41DA5}"/>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C63B1803-06D7-1331-22BD-E2BE1DD77697}"/>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2B28572F-56F3-216A-02CB-517709136C2C}"/>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1828AC81-B208-DDD9-BB15-42C576725767}"/>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C0E1ED1F-0EFF-E9E1-420E-8DE6D4C07DE0}"/>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776327ED-4DA1-51AA-04EC-F8F90274C0AE}"/>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51CA4B34-DA5F-8429-C24E-E7D102CD8274}"/>
              </a:ext>
            </a:extLst>
          </p:cNvPr>
          <p:cNvSpPr/>
          <p:nvPr/>
        </p:nvSpPr>
        <p:spPr>
          <a:xfrm>
            <a:off x="1082078" y="662619"/>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r>
              <a:rPr lang="en-US" sz="4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Datasets</a:t>
            </a:r>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72" name="TextBox 371">
            <a:extLst>
              <a:ext uri="{FF2B5EF4-FFF2-40B4-BE49-F238E27FC236}">
                <a16:creationId xmlns:a16="http://schemas.microsoft.com/office/drawing/2014/main" id="{00C692AB-B445-26AA-41E4-34D8D7A9BD1A}"/>
              </a:ext>
            </a:extLst>
          </p:cNvPr>
          <p:cNvSpPr txBox="1"/>
          <p:nvPr/>
        </p:nvSpPr>
        <p:spPr>
          <a:xfrm>
            <a:off x="1219653" y="1431017"/>
            <a:ext cx="10214011" cy="4832092"/>
          </a:xfrm>
          <a:prstGeom prst="rect">
            <a:avLst/>
          </a:prstGeom>
          <a:noFill/>
        </p:spPr>
        <p:txBody>
          <a:bodyPr wrap="square">
            <a:spAutoFit/>
          </a:bodyPr>
          <a:lstStyle/>
          <a:p>
            <a:pPr marL="342900" indent="-342900">
              <a:buFont typeface="Arial" panose="020B0604020202020204" pitchFamily="34" charset="0"/>
              <a:buChar char="•"/>
            </a:pPr>
            <a:r>
              <a:rPr lang="en-IN" sz="2200" b="1" dirty="0"/>
              <a:t>Primary Dataset:</a:t>
            </a:r>
            <a:r>
              <a:rPr lang="en-IN" sz="2200" dirty="0"/>
              <a:t> IIIT-INDIC-HW-WORDS (Telugu Split)</a:t>
            </a:r>
          </a:p>
          <a:p>
            <a:pPr marL="800100" lvl="1" indent="-342900">
              <a:buFont typeface="Arial" panose="020B0604020202020204" pitchFamily="34" charset="0"/>
              <a:buChar char="•"/>
            </a:pPr>
            <a:r>
              <a:rPr lang="en-IN" sz="2200" dirty="0"/>
              <a:t>A publicly available, standard benchmark dataset containing handwritten Telugu words.</a:t>
            </a:r>
          </a:p>
          <a:p>
            <a:pPr marL="800100" lvl="1" indent="-342900">
              <a:buFont typeface="Arial" panose="020B0604020202020204" pitchFamily="34" charset="0"/>
              <a:buChar char="•"/>
            </a:pPr>
            <a:r>
              <a:rPr lang="en-IN" sz="2200" dirty="0"/>
              <a:t>Ensures our results are comparable to published literature.</a:t>
            </a:r>
          </a:p>
          <a:p>
            <a:pPr lvl="1"/>
            <a:endParaRPr lang="en-IN" sz="2200" dirty="0"/>
          </a:p>
          <a:p>
            <a:pPr marL="342900" indent="-342900">
              <a:buFont typeface="Arial" panose="020B0604020202020204" pitchFamily="34" charset="0"/>
              <a:buChar char="•"/>
            </a:pPr>
            <a:r>
              <a:rPr lang="en-IN" sz="2200" b="1" dirty="0"/>
              <a:t>Data Structure:</a:t>
            </a:r>
            <a:r>
              <a:rPr lang="en-IN" sz="2200" dirty="0"/>
              <a:t> Grayscale images of cropped words paired with their ground-truth Unicode text labels.</a:t>
            </a:r>
          </a:p>
          <a:p>
            <a:endParaRPr lang="en-IN" sz="2200" dirty="0"/>
          </a:p>
          <a:p>
            <a:pPr marL="342900" indent="-342900">
              <a:buFont typeface="Arial" panose="020B0604020202020204" pitchFamily="34" charset="0"/>
              <a:buChar char="•"/>
            </a:pPr>
            <a:r>
              <a:rPr lang="en-IN" sz="2200" b="1" dirty="0"/>
              <a:t>Preprocessing:</a:t>
            </a:r>
            <a:r>
              <a:rPr lang="en-IN" sz="2200" dirty="0"/>
              <a:t> Labels undergo NFC Unicode normalization to prevent encoding mismatches. Images are resized to a fixed height of 64px while maintaining aspect ratio (up to a max width of 512px).</a:t>
            </a:r>
          </a:p>
          <a:p>
            <a:pPr marL="342900" indent="-342900">
              <a:buFont typeface="Arial" panose="020B0604020202020204" pitchFamily="34" charset="0"/>
              <a:buChar char="•"/>
            </a:pPr>
            <a:endParaRPr lang="en-IN" sz="2200" dirty="0"/>
          </a:p>
          <a:p>
            <a:pPr marL="342900" indent="-342900">
              <a:buFont typeface="Arial" panose="020B0604020202020204" pitchFamily="34" charset="0"/>
              <a:buChar char="•"/>
            </a:pPr>
            <a:r>
              <a:rPr lang="en-IN" sz="2200" b="1" dirty="0"/>
              <a:t>Augmentation:</a:t>
            </a:r>
            <a:r>
              <a:rPr lang="en-IN" sz="2200" dirty="0"/>
              <a:t> Elastic distortion and random affine transformations are applied during training to improve robustness against varying handwriting styles.</a:t>
            </a:r>
          </a:p>
        </p:txBody>
      </p:sp>
    </p:spTree>
    <p:extLst>
      <p:ext uri="{BB962C8B-B14F-4D97-AF65-F5344CB8AC3E}">
        <p14:creationId xmlns:p14="http://schemas.microsoft.com/office/powerpoint/2010/main" val="181313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01FF1-013D-0CE6-3B63-5D5CDA3965D5}"/>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9E5E0C21-0643-FDDB-56CB-511305BC1E74}"/>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04E405EB-097A-65AA-72D8-CBCEE8D85A91}"/>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5C203B8C-5B5F-B48E-FD6E-8CA1B419ADD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FBF3654A-07F2-1B8E-2BAD-34161D0767ED}"/>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3EF58F75-0472-F06D-1FEB-63CAFB5149F3}"/>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899DD8C8-C942-46EF-0D8A-8C9368F1F153}"/>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29283AD2-88C1-D215-4780-89359AB83B39}"/>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7919DBE6-7DD4-A52F-40F5-E00133A6C4E6}"/>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A5A55DDB-490D-7D3E-7C2F-9D20A71B4602}"/>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90407D6F-4DB9-7746-983E-8345D25339AA}"/>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98F53A40-81A0-1E6E-99C5-D2D7C2930E32}"/>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DF50AD92-C4A4-1668-508F-15F2C4961E69}"/>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410F1937-91D3-CB9F-0216-1270EF3C46CF}"/>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2BD0A260-613A-AB21-A4F9-ECB733FFF6D3}"/>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B3A61E87-81FD-0CC5-A836-20CC3255972F}"/>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D5A71EB9-B698-6962-65F5-B9AA5488C674}"/>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0AF78E3D-2D04-4DB9-10B4-99C5ECF33B1D}"/>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07728F08-DB56-44B5-AE05-042D9DE5A17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1C83DCEB-3A38-A0C6-A4CA-BB1D0225A235}"/>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BF3175F1-2AFE-6049-78D9-4F8B8BFCDF10}"/>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F706CCDC-AC83-88E9-0A9D-7CD497D1AC88}"/>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96664727-602B-8865-EAFD-B3483577E67C}"/>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684EEE25-EB82-2BAF-3DBA-1B3F1CDF6422}"/>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E9EE58BF-E3AE-1600-F4CB-0FCD5F6571FD}"/>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A8C472A5-1548-E115-4A81-1D7B3F25970D}"/>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6D8F19FE-7B4A-D487-38DE-C876447F8823}"/>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85880796-3995-7DD0-9FCE-52BC0FE8011B}"/>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7A3BB1E4-B52A-4331-26C0-D07C5908FF09}"/>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A7EB8896-2BDC-8643-A652-49D4F48198DE}"/>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7000CBE9-10B3-9F6D-4CA6-90CFC127D1D6}"/>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AD691C2B-12EB-E4B9-4C43-26304860416D}"/>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4AC99D68-7A02-241C-4F22-D59FFA1A553D}"/>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54BE72A4-3976-3AFF-7F84-2A3C1A6AEBDD}"/>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04627866-1D24-82CF-D9E2-BA086765C502}"/>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7EDF6134-F027-3BAB-CF5A-FD1E4E847FB0}"/>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A402285A-743E-879A-1CB3-427A9EFAF8F6}"/>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CDF38AEF-3852-6FA3-D47A-EE40384D613B}"/>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7F7D9B86-FDCD-7B7A-142C-68DBE3AFB860}"/>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0545F8F0-EDE5-E33A-A116-CB7D7DA2BE8D}"/>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9B4BCC71-8A66-5C1F-86D3-A1FE8EA9BD2F}"/>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2400AEE8-06B9-2572-AFF9-F8AC8ED02D91}"/>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04EFCF03-939C-E11F-0604-99515E053381}"/>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DC79C245-CC5F-E551-EF50-1C83285E5E68}"/>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0ACD7536-8DA4-112B-18BD-97C34F4D4C86}"/>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93A0F17A-E427-AFE7-D4DC-91FBAEEB04C3}"/>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9CF52E47-CD06-31C8-D100-F8D42B50824C}"/>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02F766D1-D6E7-2A70-6476-9C0BE030E937}"/>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62E165E7-4399-7064-1C2C-4DB098825B15}"/>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0AFAE7C2-CB9F-3279-4D55-44986183B4F6}"/>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4763F589-9179-D1B2-AD9C-317A86210B70}"/>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7EC2BB8E-6F92-2172-603E-D03739873629}"/>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8C6977FC-772A-620A-C44C-54C6B7BF5431}"/>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079F7575-6CFE-1AB6-EB35-66C7169659DC}"/>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B09991AC-8C98-27A0-49B2-7C0CD12EC9AA}"/>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61948943-241A-C146-7974-AC56547657EC}"/>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E9E86403-2F53-B9CD-5D94-0236184FB642}"/>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0105863D-130F-6923-B068-3B9AA6F2FEB8}"/>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04729A33-6AAB-DECD-D250-0F06BE04C853}"/>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55BAC74C-3404-9432-3BBD-3B06F989EB76}"/>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5DA98854-2244-A866-9220-9730EA0A9136}"/>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E51E2FC1-C3BB-275E-774C-521F556090E0}"/>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7EBA5597-2DE4-F70D-C2BA-9A5C25A97474}"/>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A173B691-739C-28B4-72A6-A37F8AA197BD}"/>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4F404103-5627-0AD5-F247-9B736861304F}"/>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D307DD59-9CB6-017C-F7FC-4DBD1F066E3C}"/>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35645119-8E30-EE06-F06F-72608B287F70}"/>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520ADB30-61E1-C1D4-8060-4640309DCB79}"/>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2F44DB4A-F757-FEA3-57A5-5E02BCC828E8}"/>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53A35279-71A2-7400-8A4D-7037653B59F8}"/>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9C3819D9-CB2F-B48E-880D-B78863EED1EA}"/>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3FFC4F42-A7F0-427C-59B2-CAEF1A919C27}"/>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594D297A-6004-FE23-5476-4EF161E4E6EA}"/>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22F898E2-FDF3-D8C1-BEF0-5E5BCD511F52}"/>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EEA40823-C830-F8FF-B89E-49FA0F5EE2C2}"/>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769B68F7-11DE-957E-805B-CE96C692DFE7}"/>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BE071A37-6A7D-BC74-7A47-07CAEE6715AA}"/>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9C727870-0781-5B77-DED8-5B2650FF21D7}"/>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E234E33C-F184-7D59-4447-3FB2D158FB07}"/>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53C25EE3-50BA-6A81-86A0-EBDEC5FACC00}"/>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B526AAF5-BFF2-686C-368E-0D4900ACE513}"/>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89EC059F-DEDE-3657-0069-6708A6F58348}"/>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061314DC-6257-31AD-0837-E6F07AB24F44}"/>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02C1C396-CF37-EB0C-4469-25A364B0112A}"/>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B7B1C815-38DC-EA2D-7666-4A1B07AB455B}"/>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7958C820-B0DD-A058-14E6-14D70FFF2099}"/>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8F678B17-B779-E279-ED8F-2CF404C04ECA}"/>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E1B3CF33-3BAE-1911-C3FD-D26E2B24FA3F}"/>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FEB874B0-2D55-7A9C-BB5F-A1A12EBA8267}"/>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3B0F4EF5-6A22-2B2D-53B9-1864A8B66298}"/>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7A31CD1D-00E2-6409-6DA0-F02DAE2ABB3C}"/>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4BB2A949-36D3-992C-E682-714DA942F851}"/>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C0997F44-C739-EF34-DB70-9050B94EA2AA}"/>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C48E8F71-C636-6F49-B32B-22E6DD84D11A}"/>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9956FBA4-9A5D-8DCA-B730-FE763401A2DD}"/>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6E0683F0-C2C6-E2C4-E2C8-A77730F882EA}"/>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4B2341E6-3531-1C62-346D-FA3D694EAF27}"/>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5A15176E-8D46-67CA-ACB3-B297B44844DF}"/>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FEF7B784-CDD9-9C5C-7549-1A4F39DA34C0}"/>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E1812F63-E9F5-A391-5B13-D1E87C610617}"/>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B4FD1381-76B4-B956-4870-7981801931D7}"/>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72A2F4D3-D535-F2F7-4AE9-CACFA884D7F6}"/>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513F34C4-5561-4A66-6EC3-C7031AEE256C}"/>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BBDF5EE4-42E4-30D8-EF06-56AF2A61FA0D}"/>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E88281BB-78BD-F586-3050-F5BB9E968BF6}"/>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5B744C60-B932-874C-BC1C-9ED54B74D352}"/>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DD8E143E-A1A6-24A1-B19A-BAD29312ECB9}"/>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B5BC82C6-F513-7460-3624-B4094AD72E7D}"/>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29EE806A-DB93-97CC-6EB9-A5D9A274010C}"/>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D8862B54-8EFB-0F70-6140-896F999A113A}"/>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E521F95E-9EF5-BE5B-5788-C6EB9A580CC2}"/>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C195EFE0-A67A-C3DE-E11A-39AFAD17682F}"/>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803CF0B1-7433-D03F-2AA8-A74601A1C376}"/>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0DC147C0-CAAA-EF85-3A14-2BD29C467923}"/>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77084748-7BF7-26EA-DDCD-83F2324941C0}"/>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997F60F6-6479-0922-A2D6-8CDF7727F3F9}"/>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86D09209-2BB7-603B-A486-A3E72563A18C}"/>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E193E160-CC4C-ADCF-3602-E90B6152CA5B}"/>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761E64BC-0D91-A2A4-A804-DCE00CA663B2}"/>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66A2CD2B-7D90-2997-751C-596FD9888937}"/>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7872A2EE-BD4B-DB9B-78EA-B058DADEC58B}"/>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5E76BC4E-A828-F260-6567-D58F24BE3952}"/>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5B668AF4-C6C5-C967-F789-9FB79430E73B}"/>
              </a:ext>
            </a:extLst>
          </p:cNvPr>
          <p:cNvSpPr/>
          <p:nvPr/>
        </p:nvSpPr>
        <p:spPr>
          <a:xfrm>
            <a:off x="1082078" y="662619"/>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r>
              <a:rPr lang="en-IN" sz="4400" b="1" dirty="0">
                <a:solidFill>
                  <a:srgbClr val="FF0000"/>
                </a:solidFill>
                <a:latin typeface="Times New Roman" panose="02020603050405020304" pitchFamily="18" charset="0"/>
                <a:cs typeface="Times New Roman" panose="02020603050405020304" pitchFamily="18" charset="0"/>
              </a:rPr>
              <a:t>Technologies Used</a:t>
            </a:r>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72" name="TextBox 371">
            <a:extLst>
              <a:ext uri="{FF2B5EF4-FFF2-40B4-BE49-F238E27FC236}">
                <a16:creationId xmlns:a16="http://schemas.microsoft.com/office/drawing/2014/main" id="{4715F17F-A6CC-F2CD-96D3-C5E7A30361F8}"/>
              </a:ext>
            </a:extLst>
          </p:cNvPr>
          <p:cNvSpPr txBox="1"/>
          <p:nvPr/>
        </p:nvSpPr>
        <p:spPr>
          <a:xfrm>
            <a:off x="1219653" y="1431017"/>
            <a:ext cx="10214011" cy="4247317"/>
          </a:xfrm>
          <a:prstGeom prst="rect">
            <a:avLst/>
          </a:prstGeom>
          <a:noFill/>
        </p:spPr>
        <p:txBody>
          <a:bodyPr wrap="square">
            <a:spAutoFit/>
          </a:bodyPr>
          <a:lstStyle/>
          <a:p>
            <a:pPr marL="457200" indent="-457200">
              <a:buFont typeface="Arial" panose="020B0604020202020204" pitchFamily="34" charset="0"/>
              <a:buChar char="•"/>
            </a:pPr>
            <a:r>
              <a:rPr lang="en-IN" sz="3000" b="1" dirty="0"/>
              <a:t>Language:</a:t>
            </a:r>
            <a:r>
              <a:rPr lang="en-IN" sz="3000" dirty="0"/>
              <a:t> Python 3.10+</a:t>
            </a:r>
          </a:p>
          <a:p>
            <a:pPr marL="457200" indent="-457200">
              <a:buFont typeface="Arial" panose="020B0604020202020204" pitchFamily="34" charset="0"/>
              <a:buChar char="•"/>
            </a:pPr>
            <a:r>
              <a:rPr lang="en-IN" sz="3000" b="1" dirty="0"/>
              <a:t>Deep Learning Framework:</a:t>
            </a:r>
            <a:r>
              <a:rPr lang="en-IN" sz="3000" dirty="0"/>
              <a:t> </a:t>
            </a:r>
            <a:r>
              <a:rPr lang="en-IN" sz="3000" dirty="0" err="1"/>
              <a:t>PyTorch</a:t>
            </a:r>
            <a:r>
              <a:rPr lang="en-IN" sz="3000" dirty="0"/>
              <a:t> 2.x (with </a:t>
            </a:r>
            <a:r>
              <a:rPr lang="en-IN" sz="3000" dirty="0" err="1"/>
              <a:t>Torchvision</a:t>
            </a:r>
            <a:r>
              <a:rPr lang="en-IN" sz="3000" dirty="0"/>
              <a:t>)</a:t>
            </a:r>
          </a:p>
          <a:p>
            <a:pPr marL="457200" indent="-457200">
              <a:buFont typeface="Arial" panose="020B0604020202020204" pitchFamily="34" charset="0"/>
              <a:buChar char="•"/>
            </a:pPr>
            <a:r>
              <a:rPr lang="en-IN" sz="3000" b="1" dirty="0"/>
              <a:t>Environment Management:</a:t>
            </a:r>
            <a:r>
              <a:rPr lang="en-IN" sz="3000" dirty="0"/>
              <a:t> </a:t>
            </a:r>
            <a:r>
              <a:rPr lang="en-IN" sz="3000" dirty="0" err="1"/>
              <a:t>uv</a:t>
            </a:r>
            <a:r>
              <a:rPr lang="en-IN" sz="3000" dirty="0"/>
              <a:t> (Fast, isolated Python package manager)</a:t>
            </a:r>
          </a:p>
          <a:p>
            <a:pPr marL="457200" indent="-457200">
              <a:buFont typeface="Arial" panose="020B0604020202020204" pitchFamily="34" charset="0"/>
              <a:buChar char="•"/>
            </a:pPr>
            <a:r>
              <a:rPr lang="en-IN" sz="3000" b="1" dirty="0"/>
              <a:t>Hardware / Infrastructure:</a:t>
            </a:r>
            <a:r>
              <a:rPr lang="en-IN" sz="3000" dirty="0"/>
              <a:t> Remote SSH Server with NVIDIA GPU (CUDA accelerated)</a:t>
            </a:r>
          </a:p>
          <a:p>
            <a:pPr marL="457200" indent="-457200">
              <a:buFont typeface="Arial" panose="020B0604020202020204" pitchFamily="34" charset="0"/>
              <a:buChar char="•"/>
            </a:pPr>
            <a:r>
              <a:rPr lang="en-IN" sz="3000" b="1" dirty="0"/>
              <a:t>Metrics &amp; Logging:</a:t>
            </a:r>
            <a:r>
              <a:rPr lang="en-IN" sz="3000" dirty="0"/>
              <a:t> </a:t>
            </a:r>
            <a:r>
              <a:rPr lang="en-IN" sz="3000" dirty="0" err="1"/>
              <a:t>TensorBoard</a:t>
            </a:r>
            <a:r>
              <a:rPr lang="en-IN" sz="3000" dirty="0"/>
              <a:t> (for real-time tracking), </a:t>
            </a:r>
            <a:r>
              <a:rPr lang="en-IN" sz="3000" dirty="0" err="1"/>
              <a:t>editdistance</a:t>
            </a:r>
            <a:r>
              <a:rPr lang="en-IN" sz="3000" dirty="0"/>
              <a:t> (for CER calculation)</a:t>
            </a:r>
          </a:p>
          <a:p>
            <a:pPr marL="457200" indent="-457200">
              <a:buFont typeface="Arial" panose="020B0604020202020204" pitchFamily="34" charset="0"/>
              <a:buChar char="•"/>
            </a:pPr>
            <a:r>
              <a:rPr lang="en-IN" sz="3000" b="1" dirty="0"/>
              <a:t>Data Processing:</a:t>
            </a:r>
            <a:r>
              <a:rPr lang="en-IN" sz="3000" dirty="0"/>
              <a:t> NumPy, Pandas, Pillow (PIL), OpenCV, SciPy</a:t>
            </a:r>
          </a:p>
        </p:txBody>
      </p:sp>
    </p:spTree>
    <p:extLst>
      <p:ext uri="{BB962C8B-B14F-4D97-AF65-F5344CB8AC3E}">
        <p14:creationId xmlns:p14="http://schemas.microsoft.com/office/powerpoint/2010/main" val="823166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11AA2-9FDC-0569-3BDF-D7AA51301832}"/>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A09114BA-9A1D-2463-4DDD-6711DDCECF15}"/>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27021DE7-F728-3717-C55A-94662153D893}"/>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AE7ECE2A-117B-C282-881F-7FC90D1696FE}"/>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EA810A83-D8A8-4951-7302-BE00416CA24F}"/>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C0169E1A-DE57-9D1D-FD85-FC59C0C4AEDA}"/>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033ED650-4093-4616-2E74-FE569BE296BD}"/>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0720EAD6-FB6C-83AA-32CA-9ED466AF0192}"/>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C15008FB-8622-AF1C-708B-C5538702C658}"/>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BD32690C-3BCB-6B7B-7F64-C4B8CBDFF314}"/>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8E8278E7-95DD-16F7-ACB1-777027846315}"/>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220B68C3-2179-56FD-31DB-E5AE5DED3E11}"/>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E171BDC7-F982-7610-ED64-28E45B7C47E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A542FAC6-71A8-BEBE-1014-6E3BBEFDF396}"/>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4EF3997F-CF89-B20B-F548-9FB6F8CDF751}"/>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0B66E499-BF85-6878-7E0F-BBF70530B25C}"/>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CFD1C088-94FB-3649-E4AB-5CED7FAB0241}"/>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F2C978E3-3BC8-12F0-E7E1-E782C4D2975B}"/>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F38D72AD-44AA-F751-D3E4-B0C3F91B9663}"/>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88F8E563-E7D5-9B01-FADB-B2E4AB3E95DA}"/>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AAFAA8B4-9E8F-9E99-0B2A-B1A3B2879CD5}"/>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E83866EC-A83F-9425-90F4-B30D3BA84FA0}"/>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D4750070-0D55-1AE9-7F96-39EDC2966DC6}"/>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945E3985-6AD0-CE49-C791-68C5C3375C7C}"/>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146EFF37-ED65-E2F5-DC6A-CB22624934F5}"/>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521A9468-88C4-4CAA-DF7A-7C4B6B586EB8}"/>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1398EA8A-0BFB-4184-F584-542F911D5ACF}"/>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CE30B56A-3AC9-C2B8-FFD1-1F0FD2466204}"/>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8CD48F67-072B-6D36-CE6A-5A02EFF89BD4}"/>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6404ABA2-D6A3-8263-5021-45AF2CED25CF}"/>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06E81349-E65D-9373-91E8-6B70AB871CF9}"/>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EE700702-DD58-110F-0AE7-F7FE27833086}"/>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C80799C3-E175-41D3-4D4F-7EC339A7B87A}"/>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DE4F012D-678F-2B40-4552-2F812DE454A1}"/>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E290504F-03C0-4F8E-837D-87893CCDDB63}"/>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3CD164D9-050D-42A2-5B1E-EB7A8AF9D3C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B61E40A8-34E9-6ADB-D21D-5762EA6BE3B4}"/>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25BDF143-9EBB-F0F4-6B25-FFF1EB83AFCB}"/>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E4549E03-6731-6FB1-9C9E-6951CA53F0E8}"/>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859A549B-4DC4-6ECD-5F1E-D30A35A0B226}"/>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16D9EC2E-362B-B6C1-7B91-6F482D3EF6BF}"/>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90C7CE4B-8F58-E142-57F3-8660C2BCE30C}"/>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4889ACDF-B5DE-E0A5-3823-FD258A555A48}"/>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1408D021-A357-31C3-61A9-9AD87BF73EBC}"/>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E9F6D0DD-C7A7-4D7B-80EA-EFF2BDFF5035}"/>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508F4BB5-372F-4DDA-A2A9-F9154F94FC2E}"/>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F1040C37-8162-D7BD-6970-D1FBB734FFC8}"/>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A68680C2-1AC3-AB15-683B-B642F2C8AD94}"/>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CF251F49-DFC5-ADDF-0510-ABCEA16A8A24}"/>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BBF821BE-CF1E-BAD0-7EB1-FC0979B9CBFC}"/>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FCF82477-22B4-08F4-F50B-AE3F8936F881}"/>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2B034F97-CE87-04B6-0353-5AF40CDE210C}"/>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B29CE2F8-D722-E093-2C22-350965EBA6CA}"/>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47FB131D-D2BA-EB2B-B8FD-D573EF6E4F9A}"/>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1631F6B6-7F37-9F4D-C50E-FD6163ABBEDA}"/>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29386CA3-1120-AD9C-2184-80187318D00E}"/>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6679D3F8-608B-E4AA-9A44-13A6DEC1E996}"/>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C0A9E817-C605-3FAB-AA7E-D220B5E0D7E3}"/>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64A86FDF-C9D0-1FAA-1681-40A4D00F3EAA}"/>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EC548029-E71E-580B-C1F7-42041A91A04C}"/>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E60FBD21-F8D1-DA67-1343-952171B0EA0A}"/>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0D2FB687-AA7B-7938-19AC-112D626312F2}"/>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3AD78E1E-10AD-CD5D-3781-7C50ABBFEDE0}"/>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53879CE7-F5B8-06C5-0F82-3BAE3FDBAFBA}"/>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B110DD6D-E971-3542-34F5-5454D590CF10}"/>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1E6857F3-DC71-0FE3-8166-0FDEEB626F0E}"/>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CF659E76-3BBC-D4AF-59D3-4926C8D6C297}"/>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708281A4-7FF2-A52E-8724-7B0B35D437E6}"/>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4729D2CD-1BC1-320B-AE11-51EA7602C7DB}"/>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08046B28-AE12-C9C6-340D-D9D286F64807}"/>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3A14E71A-B811-E6D8-7358-6946C6B1A8DF}"/>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DFD339BD-DE36-ECB3-CE5C-65257028E25B}"/>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36CA4E28-0E29-EA32-D401-E0935F7E7497}"/>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EEAC7E89-9EB2-A077-B736-71F04894F012}"/>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28D0ADCB-EFD2-83DA-FDD6-AA1F9E1D7553}"/>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89F23149-8AB7-FE50-EC7B-7C8A063ABBBC}"/>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DB2D4874-4D90-C825-03D0-AB4F1106BC83}"/>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7011D699-8D99-31E5-2805-5E015A637B5E}"/>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09483F90-9ACC-8B89-6454-83764A77329B}"/>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342FD353-A9E5-0797-DBCE-028032EDB0FE}"/>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0A656494-3A28-1D89-BF57-40038130780A}"/>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4AA6522B-F2B1-18BC-502C-F6DA587F31EF}"/>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1B4345E7-0C8D-7E6D-92AF-251928D95902}"/>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14C1405B-2C80-E892-176D-1D15844920F3}"/>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9C3C2EFF-2406-7AF2-3540-53A328FA5187}"/>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EA806026-AB49-A4B6-ECFF-00D6CB1CDCC4}"/>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61A7AF52-2C15-6734-231E-0CBF22F40647}"/>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F6C3535E-5F6A-7455-B404-8E6F616EC08B}"/>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9DBECACD-4CCA-D7C2-E648-196ACD1D6F9F}"/>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9BA19FCF-103B-D7A6-9EA8-32223B33AC76}"/>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0C17A714-ECA9-6355-A588-D4D049868A5A}"/>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D3913AE5-4B81-91E9-C2A6-8D80AFF0175F}"/>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0AFABEA3-FD9A-5777-8BB1-82DC1EDA22F4}"/>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7A02C67B-D661-3587-338A-6CD0BDD2A00D}"/>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B5657C37-4AA3-7C18-6CEA-2818D980613B}"/>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6CE413F9-C2D6-8D75-92D2-D03904DBEE7C}"/>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FA45FADD-E9D4-9647-F26A-5FA74A3FBCEB}"/>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5A98118F-3498-B60A-FCDA-124A3D4046AA}"/>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FFB4F115-5D6E-2F50-F1EE-F64208B1D337}"/>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827B207B-C594-5862-51EC-F85DAD3037BB}"/>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8AB338FE-86A6-9BBE-CBB7-D4B795A4700F}"/>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58FED41F-57F8-96A3-0E65-8A476BEBF7A1}"/>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DEBAD9B5-CD05-4A04-2693-3D0CEFEA0EE7}"/>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90FD7994-5A9A-3996-BE15-64194BABBE50}"/>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C6FD83B9-6B81-31C7-CC42-B56D748462FB}"/>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A2D4C1B7-BB74-7DAD-27B8-61EE922A9542}"/>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FD609F57-1364-41EE-D4EA-F1BEECB613DF}"/>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013BB5E0-428F-250A-CDB4-5A32D4A35B42}"/>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FD624B28-AA96-8D95-7EAD-702DFF0F0424}"/>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DACB21DC-99F3-E4B3-BDBA-A0E60D55ED4A}"/>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AF7A60FD-51F5-F61C-E6CD-B7A8608A7B0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AD51E317-6972-6183-D8E2-5F38D2B55C9B}"/>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1BD5BE2C-77E7-844A-03E6-83C87BCB9498}"/>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D43DBFCE-89D2-D969-B31C-AF03803C6EBE}"/>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F4AA8079-6C8A-E7A8-82C8-CC5F26CC41D7}"/>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60FD54A8-A852-7A43-166C-E8B4F64D9422}"/>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72410159-E27A-C3B7-90E4-85A1CF53EFA6}"/>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10BBC916-FB3F-6F30-B559-CF3CE4D1F960}"/>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9F476616-A66A-2FF9-D1E6-B4CEB00534BC}"/>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37480475-4488-D9F9-8396-63EFC45CDBE6}"/>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1FFB7AD7-C1FD-3FDB-958B-E2284B923E2C}"/>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2BFD32FE-C89D-04EC-4F6E-BED257867330}"/>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64071F58-FDBB-9415-91E1-40DE42DB4E5B}"/>
              </a:ext>
            </a:extLst>
          </p:cNvPr>
          <p:cNvSpPr/>
          <p:nvPr/>
        </p:nvSpPr>
        <p:spPr>
          <a:xfrm>
            <a:off x="758336" y="612933"/>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r>
              <a:rPr lang="en-US" sz="4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Implementation</a:t>
            </a:r>
          </a:p>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72" name="TextBox 371">
            <a:extLst>
              <a:ext uri="{FF2B5EF4-FFF2-40B4-BE49-F238E27FC236}">
                <a16:creationId xmlns:a16="http://schemas.microsoft.com/office/drawing/2014/main" id="{E097864E-3139-BE8E-7C1A-B5B3F25C0A85}"/>
              </a:ext>
            </a:extLst>
          </p:cNvPr>
          <p:cNvSpPr txBox="1"/>
          <p:nvPr/>
        </p:nvSpPr>
        <p:spPr>
          <a:xfrm>
            <a:off x="1219653" y="1431017"/>
            <a:ext cx="10214011" cy="553998"/>
          </a:xfrm>
          <a:prstGeom prst="rect">
            <a:avLst/>
          </a:prstGeom>
          <a:noFill/>
        </p:spPr>
        <p:txBody>
          <a:bodyPr wrap="square">
            <a:spAutoFit/>
          </a:bodyPr>
          <a:lstStyle/>
          <a:p>
            <a:pPr marL="457200" indent="-457200">
              <a:buFont typeface="Arial" panose="020B0604020202020204" pitchFamily="34" charset="0"/>
              <a:buChar char="•"/>
            </a:pPr>
            <a:endParaRPr lang="en-IN" sz="3000" dirty="0"/>
          </a:p>
        </p:txBody>
      </p:sp>
      <p:sp>
        <p:nvSpPr>
          <p:cNvPr id="2" name="TextBox 1">
            <a:extLst>
              <a:ext uri="{FF2B5EF4-FFF2-40B4-BE49-F238E27FC236}">
                <a16:creationId xmlns:a16="http://schemas.microsoft.com/office/drawing/2014/main" id="{29B1D189-2D4B-3BD1-770E-6BF862F53139}"/>
              </a:ext>
            </a:extLst>
          </p:cNvPr>
          <p:cNvSpPr txBox="1"/>
          <p:nvPr/>
        </p:nvSpPr>
        <p:spPr>
          <a:xfrm>
            <a:off x="851170" y="839650"/>
            <a:ext cx="10582494" cy="5632311"/>
          </a:xfrm>
          <a:prstGeom prst="rect">
            <a:avLst/>
          </a:prstGeom>
          <a:noFill/>
        </p:spPr>
        <p:txBody>
          <a:bodyPr wrap="square" rtlCol="0">
            <a:spAutoFit/>
          </a:bodyPr>
          <a:lstStyle/>
          <a:p>
            <a:endParaRPr lang="en-IN" b="1" dirty="0"/>
          </a:p>
          <a:p>
            <a:endParaRPr lang="en-IN" b="1" dirty="0"/>
          </a:p>
          <a:p>
            <a:r>
              <a:rPr lang="en-IN" b="1" dirty="0"/>
              <a:t>Step 1: Dataset Collection &amp; Preprocessing</a:t>
            </a:r>
          </a:p>
          <a:p>
            <a:pPr lvl="0"/>
            <a:r>
              <a:rPr lang="en-IN" dirty="0"/>
              <a:t>Downloaded and organized the </a:t>
            </a:r>
            <a:r>
              <a:rPr lang="en-IN" b="1" dirty="0"/>
              <a:t>IIIT-HW-Telugu dataset</a:t>
            </a:r>
            <a:r>
              <a:rPr lang="en-IN" dirty="0"/>
              <a:t> containing </a:t>
            </a:r>
            <a:r>
              <a:rPr lang="en-IN" b="1" dirty="0"/>
              <a:t>1,18,651 handwritten Telugu word images</a:t>
            </a:r>
            <a:r>
              <a:rPr lang="en-IN" dirty="0"/>
              <a:t>. </a:t>
            </a:r>
          </a:p>
          <a:p>
            <a:pPr lvl="0"/>
            <a:r>
              <a:rPr lang="en-IN" dirty="0"/>
              <a:t>Split data into </a:t>
            </a:r>
            <a:r>
              <a:rPr lang="en-IN" b="1" dirty="0"/>
              <a:t>Training (80,693), Validation (20,048), and Test (17,910)</a:t>
            </a:r>
            <a:r>
              <a:rPr lang="en-IN" dirty="0"/>
              <a:t> sets. </a:t>
            </a:r>
          </a:p>
          <a:p>
            <a:pPr lvl="0"/>
            <a:r>
              <a:rPr lang="en-IN" dirty="0"/>
              <a:t>Applied </a:t>
            </a:r>
            <a:r>
              <a:rPr lang="en-IN" b="1" dirty="0"/>
              <a:t>Unicode NFC normalization</a:t>
            </a:r>
            <a:r>
              <a:rPr lang="en-IN" dirty="0"/>
              <a:t> to ensure consistent Telugu character representation. </a:t>
            </a:r>
          </a:p>
          <a:p>
            <a:pPr lvl="0"/>
            <a:r>
              <a:rPr lang="en-IN" dirty="0"/>
              <a:t>Designed a custom Telugu vocabulary with </a:t>
            </a:r>
            <a:r>
              <a:rPr lang="en-IN" b="1" dirty="0"/>
              <a:t>91 tokens</a:t>
            </a:r>
            <a:r>
              <a:rPr lang="en-IN" dirty="0"/>
              <a:t> including special symbols (PAD, SOS, EOS, UNK). </a:t>
            </a:r>
          </a:p>
          <a:p>
            <a:pPr lvl="0"/>
            <a:r>
              <a:rPr lang="en-IN" dirty="0"/>
              <a:t>Created a </a:t>
            </a:r>
            <a:r>
              <a:rPr lang="en-IN" b="1" dirty="0"/>
              <a:t>data-driven grammar matrix</a:t>
            </a:r>
            <a:r>
              <a:rPr lang="en-IN" dirty="0"/>
              <a:t> by learning valid Telugu character transitions from the training data. </a:t>
            </a:r>
          </a:p>
          <a:p>
            <a:br>
              <a:rPr lang="en-IN" dirty="0"/>
            </a:br>
            <a:endParaRPr lang="en-IN" dirty="0"/>
          </a:p>
          <a:p>
            <a:r>
              <a:rPr lang="en-IN" b="1" dirty="0"/>
              <a:t>Step 2: Image Processing &amp; Data Augmentation</a:t>
            </a:r>
          </a:p>
          <a:p>
            <a:pPr lvl="0"/>
            <a:r>
              <a:rPr lang="en-IN" dirty="0"/>
              <a:t>Standardized all images to a fixed size of </a:t>
            </a:r>
            <a:r>
              <a:rPr lang="en-IN" b="1" dirty="0"/>
              <a:t>64 × 512 pixels</a:t>
            </a:r>
            <a:r>
              <a:rPr lang="en-IN" dirty="0"/>
              <a:t>. </a:t>
            </a:r>
          </a:p>
          <a:p>
            <a:pPr lvl="0"/>
            <a:r>
              <a:rPr lang="en-IN" dirty="0"/>
              <a:t>Converted images to grayscale and normalized pixel values. </a:t>
            </a:r>
          </a:p>
          <a:p>
            <a:pPr lvl="0"/>
            <a:r>
              <a:rPr lang="en-IN" dirty="0"/>
              <a:t>Applied augmentation techniques: </a:t>
            </a:r>
          </a:p>
          <a:p>
            <a:pPr lvl="1"/>
            <a:r>
              <a:rPr lang="en-IN" dirty="0"/>
              <a:t>Elastic distortion </a:t>
            </a:r>
          </a:p>
          <a:p>
            <a:pPr lvl="1"/>
            <a:r>
              <a:rPr lang="en-IN" dirty="0"/>
              <a:t>Rotation </a:t>
            </a:r>
          </a:p>
          <a:p>
            <a:pPr lvl="1"/>
            <a:r>
              <a:rPr lang="en-IN" dirty="0"/>
              <a:t>Perspective transformation </a:t>
            </a:r>
          </a:p>
          <a:p>
            <a:pPr lvl="1"/>
            <a:r>
              <a:rPr lang="en-IN" dirty="0"/>
              <a:t>Stroke thickening/thinning </a:t>
            </a:r>
          </a:p>
          <a:p>
            <a:pPr lvl="1"/>
            <a:r>
              <a:rPr lang="en-IN" dirty="0"/>
              <a:t>Brightness and contrast variation </a:t>
            </a:r>
          </a:p>
          <a:p>
            <a:pPr lvl="0"/>
            <a:r>
              <a:rPr lang="en-IN" dirty="0"/>
              <a:t>Generated robust training samples to handle different handwriting styles. </a:t>
            </a:r>
          </a:p>
        </p:txBody>
      </p:sp>
    </p:spTree>
    <p:extLst>
      <p:ext uri="{BB962C8B-B14F-4D97-AF65-F5344CB8AC3E}">
        <p14:creationId xmlns:p14="http://schemas.microsoft.com/office/powerpoint/2010/main" val="2042198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5C143-429A-0638-CB17-DEB44C5525C3}"/>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340B2E5-D53B-A64F-7494-CA902C260A55}"/>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CD81CAE5-E2AE-E452-23A5-1148962FA380}"/>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0145F245-E3AF-26FA-4084-28C396AC5ECD}"/>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4E8387B7-84BA-0801-A1A8-5A5DD8039B9E}"/>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F38DF56B-64D3-13AF-7FC5-7B558564ADB8}"/>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8C7C5ACF-D939-C5E3-9AF2-3C081AB58B31}"/>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65F0ABD3-E15F-0D50-0B4F-374C86449FDF}"/>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2AB4195C-6093-FC7D-841F-704CF48ED9B4}"/>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117FD83E-56FD-42CB-934E-B533BDED623C}"/>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9436249E-749A-75C9-FB54-CCB23B673BB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BAEADF3B-70D3-044E-3F5B-4F54E3E14A01}"/>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2D209D24-604D-45F7-3642-91361070C80F}"/>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E8DBD86C-AF70-F84D-4363-B077536D058F}"/>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8826B2FD-D47C-2392-038A-BBDD1E166723}"/>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6C8B11CE-252F-FA7B-2ED0-11AB3D6DA2FE}"/>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2BD183F8-719D-9D1C-6219-4B440AEF430D}"/>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B96D5229-D583-99C9-9D40-1B11ACECBEE9}"/>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3226DF8F-4189-F1CD-B162-24F31FE4E100}"/>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1859EC32-7A24-5CBE-2545-121B2D40038C}"/>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2FEB0EDD-AF16-5B66-334A-EB838C582F4F}"/>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9729139B-5927-0757-EAB6-5363A419557A}"/>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5DF03614-FC40-A6F0-CD62-B62307DA8C54}"/>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D21C384A-3C44-53B2-F88F-7777B1FA9E93}"/>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EEAEBE6F-59CF-7326-E7D4-98C655024A10}"/>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F592CA4C-D63F-03B6-7ABA-23154437B072}"/>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EE505F16-CE4C-4C0E-D5D0-68F8F8F114CA}"/>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4B148C72-AF77-553F-31A3-19C8E27D86D3}"/>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C0CFDD1C-43DD-6D3B-BBA6-547CCE16A2C6}"/>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DF7CD034-1FB4-A3FB-01A3-8369ACAAB90C}"/>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3FBCF2C7-6081-EB37-D9A9-205886AB1CCA}"/>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29CC759A-F5E6-FE99-9BC0-CFD305ACA3B9}"/>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F11C13E5-1980-7E13-1B44-A950FEC78497}"/>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A1A064A8-0065-B288-D584-71C534CB6495}"/>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78C0AF5B-DB08-676A-A581-B1BFB97257A6}"/>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DF54C13C-A003-7B18-0277-661868BC3B40}"/>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102E1566-DABC-1C0A-05ED-B0DA7D74C554}"/>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C204F017-DD05-C7F3-1D2E-B607DFFBD2E6}"/>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DF123BA5-F767-46C0-4C49-F4C00DAEA0D9}"/>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BADA3852-8E8B-0208-A728-01D4D3D88A0D}"/>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D5DE7591-9F3D-F759-8426-68E074F48518}"/>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7A164A6D-E7A6-E395-B938-91F1C844A141}"/>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0F0F9B04-E48C-76DA-E6FC-9914DAD28D8E}"/>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56DFF988-70FE-020E-9F82-EF9F6F5C3F28}"/>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479B7A83-B147-058B-A143-44EE51DED537}"/>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D5A26FD9-DFD2-54CA-5366-2FF6E4E33316}"/>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589C6C8F-C12F-A65A-5796-E9ACC279DD13}"/>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9DE5E2E9-64F0-12C6-E47F-F4E553CA8110}"/>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9BC136C4-6584-93EC-B272-8D59B9DFFBBC}"/>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CF2CB5B9-C2AD-BB58-EE17-44EEEDF59398}"/>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FC2CA2FC-AA00-9351-D37C-22D97CE6CD3E}"/>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B1D56940-A564-A41A-0E53-E496808F1B83}"/>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D8C1723A-2A0A-0DEF-2936-637070791D5B}"/>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E9E272B1-4FE2-0470-CA8A-E59F0CE60899}"/>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C30C8C5E-3D5C-8B9F-208D-0024CA542C45}"/>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0B11C5F5-94E4-1DA6-F28B-0E9C7291E488}"/>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0E72A783-90A9-8A66-2E94-28F1EDA78795}"/>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6F53B23E-7713-3724-CD2B-E709671EE7D3}"/>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8864FE7D-2998-92C3-E1C7-135C5B644EFB}"/>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245FEB0D-9F3E-F069-2059-38AD56155E18}"/>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818B059B-0FBC-E9BB-610D-06536108DB8B}"/>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970A96BC-9B4F-1BCF-6C6A-B06ABE00671A}"/>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DEAEB148-607B-82A9-B1C4-8181425D2D2E}"/>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2FBF0D05-FF05-3B42-08A8-8BCFD7CC6D01}"/>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82BED24E-7D0E-C42F-B4D3-EAC3F9EA7224}"/>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E2DB1AC2-2620-DFB0-F454-810100C05209}"/>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059EE95E-6CD1-DEB1-96E0-7A0DB3504186}"/>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7E263ADB-1F07-A49E-B892-D46072B7A305}"/>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483BB3B1-43B2-AB81-36EC-A06800267107}"/>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18E937BD-E697-8F01-27B7-264F98F9E384}"/>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E9017C0D-4328-0D5A-A4E8-A100163338B6}"/>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820E6546-0735-ED42-0A57-715EDFE7295E}"/>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7497E92B-3AB5-7AC1-A070-8A5C2D355817}"/>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17727175-962B-DD93-76D3-0B5FB10A17E9}"/>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3E199A42-4400-3AE8-FA2B-3086460AAB7A}"/>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38CE62BB-2138-2C31-5261-45EB0A3F5B31}"/>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BAD32F48-6289-3C3E-EE31-A480223EA875}"/>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B6DD051A-F3DD-C96D-DB3D-AC8501ED9D51}"/>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62AE43A3-0D75-58E2-2193-A4FE5D33B7E6}"/>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97591895-1BD4-DACA-5FC0-F22430FE4686}"/>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881AB193-3D2F-E82F-4AB4-4DC8FC7B0B5B}"/>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D10BFAA4-84E3-D829-A2EF-DBE42928AFDA}"/>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04821BA1-6F8F-E414-07AF-9D5666A81253}"/>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CDE12758-BD74-93E2-BB3E-9B4948A91D94}"/>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1B863DCD-40DD-970B-1F86-8138DC23AB02}"/>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78A32A67-EB18-5BB5-162F-DC259879F18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F5469D33-1610-56D9-560A-18B390A54FC4}"/>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4554F29C-A0AF-BAF1-3521-2F62E8E92958}"/>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F2EFFD48-B1CE-5138-1CD5-582C7C361A85}"/>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CDC3F31B-BADD-8FCB-04B8-CDF0828F80AB}"/>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30D00F62-6C48-0E4A-5A9F-33265467164C}"/>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75DE8C71-CEAD-7AB3-3B09-25BF4DE3B35A}"/>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791E8CAF-2D0E-63DF-54C6-78706FBAD9D7}"/>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6889D13D-EB31-8D0E-D5E0-5A9A52BB8AA1}"/>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D3BBBE75-8E43-903D-36BB-D59027EBECD4}"/>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B001DA3C-451E-F4F2-C530-CE9D776D130C}"/>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8E711791-203A-92F4-18F3-57684A11E9C7}"/>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7C23BC6D-D9F6-1CC6-A6F7-E196C384950D}"/>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F58FA23A-6F56-17D1-5B69-A78F8658AB54}"/>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2DA051F9-D745-9C69-3D98-F7BF278643F5}"/>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08929E6B-D1A9-DDFF-E569-9E5778674DCB}"/>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082F414C-BE50-9274-B648-7C7A653B2E6D}"/>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802E62DA-AD49-55FA-A652-6B7C4F5B89C4}"/>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3629FFCB-432D-FAA8-9AD4-8384075B3C73}"/>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6BA21E21-224F-6B47-A656-3CE2BA93951B}"/>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00B73491-AE18-35B9-FC74-29A41B05E98F}"/>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5962FB95-579A-EDB5-A839-DB06AADFF595}"/>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F192F988-1FAF-9BBF-9130-F58E29DDA911}"/>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0FDE71DD-E011-4694-5A20-549C4D185A8B}"/>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454E4AD2-9BB5-8D2D-5D29-DE5E4CCEF07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EE7981C2-8C1B-2942-4FE4-97B30BC69C46}"/>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388351B2-EB5F-325F-4032-0BB59EF0EB17}"/>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4B98CC95-698F-0288-BEB4-4ECAAD2DBE76}"/>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BACE82E7-91BA-037C-B823-D355D7029205}"/>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A716577C-CA3B-98C9-DE46-2CFAE56309B8}"/>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0289A58F-BE38-2434-EC5B-509EAF8A5E90}"/>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ED5370E4-8B20-21AE-E65C-1B07E10DD0FC}"/>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235B11BC-A51E-DF0D-947C-B1D54D8C9141}"/>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2AB0E1E8-F378-CF17-D40E-39C30240D2D0}"/>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02DE3141-2E65-7A1F-C303-E70876FFB48A}"/>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39225957-C1B2-A192-D918-44C2407EDB46}"/>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64FA5B8B-0752-C5F0-E10B-053B30B8322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7ABC4F53-46B0-B4D7-B0DD-14B222BA052C}"/>
              </a:ext>
            </a:extLst>
          </p:cNvPr>
          <p:cNvSpPr/>
          <p:nvPr/>
        </p:nvSpPr>
        <p:spPr>
          <a:xfrm>
            <a:off x="750498" y="147453"/>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ED95DFE-5723-A8DC-7ED0-295D451DC1A2}"/>
              </a:ext>
            </a:extLst>
          </p:cNvPr>
          <p:cNvSpPr txBox="1"/>
          <p:nvPr/>
        </p:nvSpPr>
        <p:spPr>
          <a:xfrm>
            <a:off x="750498" y="839650"/>
            <a:ext cx="11134585" cy="5909310"/>
          </a:xfrm>
          <a:prstGeom prst="rect">
            <a:avLst/>
          </a:prstGeom>
          <a:noFill/>
        </p:spPr>
        <p:txBody>
          <a:bodyPr wrap="square" rtlCol="0">
            <a:spAutoFit/>
          </a:bodyPr>
          <a:lstStyle/>
          <a:p>
            <a:endParaRPr lang="en-IN" b="1" dirty="0"/>
          </a:p>
          <a:p>
            <a:endParaRPr lang="en-IN" b="1" dirty="0"/>
          </a:p>
          <a:p>
            <a:r>
              <a:rPr lang="en-IN" b="1" dirty="0"/>
              <a:t>Step 3: Feature Extraction using Modified ResNet-18</a:t>
            </a:r>
          </a:p>
          <a:p>
            <a:pPr lvl="0"/>
            <a:r>
              <a:rPr lang="en-IN" dirty="0"/>
              <a:t>Developed a customized </a:t>
            </a:r>
            <a:r>
              <a:rPr lang="en-IN" b="1" dirty="0"/>
              <a:t>ResNet-18 CNN encoder</a:t>
            </a:r>
            <a:r>
              <a:rPr lang="en-IN" dirty="0"/>
              <a:t>. </a:t>
            </a:r>
          </a:p>
          <a:p>
            <a:pPr lvl="0"/>
            <a:r>
              <a:rPr lang="en-IN" dirty="0"/>
              <a:t>Modified stride operations ("stride surgery") to preserve horizontal information required for text recognition. </a:t>
            </a:r>
          </a:p>
          <a:p>
            <a:pPr lvl="0"/>
            <a:r>
              <a:rPr lang="en-IN" dirty="0"/>
              <a:t>Converted grayscale images into 3-channel format for compatibility with ImageNet-pretrained weights. </a:t>
            </a:r>
          </a:p>
          <a:p>
            <a:pPr lvl="0"/>
            <a:r>
              <a:rPr lang="en-IN" dirty="0"/>
              <a:t>Extracted </a:t>
            </a:r>
            <a:r>
              <a:rPr lang="en-IN" b="1" dirty="0"/>
              <a:t>64 sequential visual feature vectors</a:t>
            </a:r>
            <a:r>
              <a:rPr lang="en-IN" dirty="0"/>
              <a:t>, each representing a portion of the handwritten word. </a:t>
            </a:r>
            <a:br>
              <a:rPr lang="en-IN" dirty="0"/>
            </a:br>
            <a:endParaRPr lang="en-IN" dirty="0"/>
          </a:p>
          <a:p>
            <a:r>
              <a:rPr lang="en-IN" b="1" dirty="0"/>
              <a:t>Step 4: Model Development</a:t>
            </a:r>
          </a:p>
          <a:p>
            <a:r>
              <a:rPr lang="en-IN" dirty="0"/>
              <a:t>Two recognition models were implemented:</a:t>
            </a:r>
          </a:p>
          <a:p>
            <a:r>
              <a:rPr lang="en-IN" b="1" dirty="0"/>
              <a:t>A. CTC Baseline Model</a:t>
            </a:r>
          </a:p>
          <a:p>
            <a:pPr lvl="0"/>
            <a:r>
              <a:rPr lang="en-IN" dirty="0"/>
              <a:t>ResNet-18 Encoder </a:t>
            </a:r>
          </a:p>
          <a:p>
            <a:pPr lvl="0"/>
            <a:r>
              <a:rPr lang="en-IN" dirty="0"/>
              <a:t>2-layer </a:t>
            </a:r>
            <a:r>
              <a:rPr lang="en-IN" dirty="0" err="1"/>
              <a:t>BiLSTM</a:t>
            </a:r>
            <a:r>
              <a:rPr lang="en-IN" dirty="0"/>
              <a:t> </a:t>
            </a:r>
          </a:p>
          <a:p>
            <a:pPr lvl="0"/>
            <a:r>
              <a:rPr lang="en-IN" dirty="0"/>
              <a:t>CTC Loss for alignment-free sequence learning </a:t>
            </a:r>
          </a:p>
          <a:p>
            <a:r>
              <a:rPr lang="en-IN" b="1" dirty="0"/>
              <a:t>B. Autoregressive Transformer Model</a:t>
            </a:r>
          </a:p>
          <a:p>
            <a:pPr lvl="0"/>
            <a:r>
              <a:rPr lang="en-IN" dirty="0"/>
              <a:t>Transformer Encoder–Decoder architecture </a:t>
            </a:r>
          </a:p>
          <a:p>
            <a:pPr lvl="0"/>
            <a:r>
              <a:rPr lang="en-IN" dirty="0"/>
              <a:t>Joint training using: </a:t>
            </a:r>
          </a:p>
          <a:p>
            <a:pPr lvl="1"/>
            <a:r>
              <a:rPr lang="en-IN" dirty="0"/>
              <a:t>Cross-Entropy Loss (70%) </a:t>
            </a:r>
          </a:p>
          <a:p>
            <a:pPr lvl="1"/>
            <a:r>
              <a:rPr lang="en-IN" dirty="0"/>
              <a:t>Auxiliary CTC Loss (30%) </a:t>
            </a:r>
          </a:p>
          <a:p>
            <a:pPr lvl="0"/>
            <a:r>
              <a:rPr lang="en-IN" dirty="0"/>
              <a:t>Teacher forcing and label smoothing applied for stable learning. </a:t>
            </a:r>
          </a:p>
          <a:p>
            <a:endParaRPr lang="en-IN" dirty="0"/>
          </a:p>
        </p:txBody>
      </p:sp>
      <p:sp>
        <p:nvSpPr>
          <p:cNvPr id="4" name="TextBox 3">
            <a:extLst>
              <a:ext uri="{FF2B5EF4-FFF2-40B4-BE49-F238E27FC236}">
                <a16:creationId xmlns:a16="http://schemas.microsoft.com/office/drawing/2014/main" id="{4F7167F0-8A1A-0A27-065B-E58273D9963B}"/>
              </a:ext>
            </a:extLst>
          </p:cNvPr>
          <p:cNvSpPr txBox="1"/>
          <p:nvPr/>
        </p:nvSpPr>
        <p:spPr>
          <a:xfrm>
            <a:off x="750498" y="349115"/>
            <a:ext cx="6094562" cy="1446550"/>
          </a:xfrm>
          <a:prstGeom prst="rect">
            <a:avLst/>
          </a:prstGeom>
          <a:noFill/>
        </p:spPr>
        <p:txBody>
          <a:bodyPr wrap="square">
            <a:spAutoFit/>
          </a:bodyPr>
          <a:lstStyle/>
          <a:p>
            <a:r>
              <a:rPr lang="en-US" sz="4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Implementation</a:t>
            </a:r>
          </a:p>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07395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181F1-FA57-90B4-C9E5-B27F6FA02088}"/>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51F50ED6-0EE2-485D-4AB2-1CF2FF693B2B}"/>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7BF1DCDD-6F66-CB0D-FA69-F4AB3043E5DC}"/>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0E9E18D1-D65B-126A-95DA-BA6C717B5FA1}"/>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DAA2E3C0-0453-5C0F-A938-257C09269EDB}"/>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A2CCCA6B-CF58-A297-AF0C-3390439B2FB5}"/>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545717B3-3312-D046-41B2-9111E2015CFF}"/>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99409E21-666C-0849-F4E3-1A84A73C9D82}"/>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E8FCA614-52B3-3CF6-CA11-3D1612D5C325}"/>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450B7153-4851-CC20-F731-26D577F91393}"/>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D875829F-DAE3-32CD-D1A4-F1D4BD830993}"/>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2E045256-F30C-FB63-7B6B-F4DED5A0883D}"/>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8A1F70E3-3DAD-FB22-38F6-066E41ECA021}"/>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08EB71A3-9FF9-20BC-9094-37FEC2B49219}"/>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07E6975D-84CC-6065-EC95-1D9A5ABAAEAB}"/>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78133166-0C9F-642D-D378-674280E751D8}"/>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CC2EC0A1-CFC1-3433-AE20-E8A863385A7B}"/>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7DBF7579-8006-149C-9154-CE83EFB4CDC0}"/>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4AAD42E0-990A-A1C6-CF42-CAF3CF20ED55}"/>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D4F551CB-D794-9896-B54C-8CD0D7A888CF}"/>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8A57BDFF-964E-AEA0-599F-8A59821F98C3}"/>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BC1DE088-366D-9074-99C9-7E5875C2CA97}"/>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BF2FDA67-B2AF-93DD-0D14-B836C2258BB8}"/>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BFF0292D-0C6C-246A-E8BC-7018EADE4F6F}"/>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5B76A5AC-9BBB-A604-1F77-70F345C469D5}"/>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ADD89B4C-8EAA-7B33-9762-D3A8B1147DD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CF34D476-B317-9DF8-BE3E-79674517D49E}"/>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DCADD7AD-1A2B-E90F-DDA3-1179A155222C}"/>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CD9CD312-5B87-5B56-8194-A3B107C7702C}"/>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6857E058-25D5-1C9C-B8E1-C875D10D71F6}"/>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01CD62A4-A8F1-94A8-879D-E3692CF0CCC6}"/>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B91D4038-4FC9-22F3-C0DB-F27D586BBCAE}"/>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CE36880C-E861-F52E-8CEF-02A027AFE49E}"/>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1C407572-9593-9E07-BCAC-DB583C88F3D8}"/>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51D81691-64CD-3008-A328-028738838775}"/>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818AB438-4D2F-A7B0-DEB7-DEA9959A5AF9}"/>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19BEB6CC-0FA3-D082-05F9-A4B473270D00}"/>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EACEDBA3-051B-DB05-EB32-D93EAB91F1BD}"/>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302A1C04-C7BF-899E-5E4F-FA1230D6CB11}"/>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B0028602-4720-78CD-D071-F88E5607F217}"/>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A09BE36E-C1A7-2AE8-D6E0-250CFE5F973E}"/>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95B6CABF-90FD-D5EB-5C17-435EF25C795A}"/>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6DDC6DDD-5954-0DE6-5873-CAD33BC30603}"/>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AAACFCA7-28B8-CB93-8F74-42B596055144}"/>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85D13D4E-8983-6D49-9013-011ED1F9369B}"/>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6A94C1DE-FA65-D7E5-8E04-FCF5A7F3A9C3}"/>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5ACEE723-E0C0-1E3C-70DB-E1941069167D}"/>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36AB9C33-CADB-C726-F8A5-D7D08A5A1A30}"/>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6A73A7D5-0A50-FC8C-574C-576C99A4680C}"/>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25F3D1F4-A998-3704-196C-72C36E96E791}"/>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8DDD718F-7BD3-90CB-46D6-E673D4886B1C}"/>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1E23F47E-828E-5315-6366-3C1AE6158C08}"/>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EF0627B2-10FB-2905-DF84-48AA73220262}"/>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97D6F110-618E-EF92-0F5B-DEE64E8C2638}"/>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9B2FE86C-BB77-0C8A-9871-9F2F9A0E648A}"/>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52A7ED0A-F8C9-F2F0-AB34-0FC829F7C051}"/>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B57194D7-6FE6-9420-68BF-8B841B0F5DC2}"/>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156E66B7-5BD0-9802-318D-5510BAC21BA0}"/>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BF635F70-CB86-095D-C5EF-397ED80BDBE4}"/>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BCA01E61-70FE-418A-6B2C-0C2D6AF9541D}"/>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44D5C9C3-EC39-6064-7196-1D933C41860E}"/>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98B17A83-0D4A-A8C9-22FF-733694E79A21}"/>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C58E465A-053E-3FDB-85F3-FCEBED6050A8}"/>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9A201671-2A41-4F14-4F57-B57367AB8BFA}"/>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36BC6547-91D0-0F71-8788-D03B9BF11C76}"/>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7CAB870F-A530-8373-9670-21EA6C2A6F80}"/>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715D630B-C4F6-E221-BF56-CD5771096049}"/>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BCED873B-7EAF-8605-B5FE-0BD6EE53BE3B}"/>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4B14C8E9-579D-5888-0E52-904DE01A7C44}"/>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34B94FD3-03D5-4C17-2DB3-9070001051ED}"/>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1B2374E9-DE0C-3B2B-F154-4F1E27B5CCAB}"/>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ADE208B0-913C-5EEB-09DE-ED2A767817EE}"/>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2D4AF851-7349-9CEC-80E5-ED081428651D}"/>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CAB14A32-0256-9F2B-0FF1-3A6D186ADE67}"/>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73AC1C52-B6B0-4C00-22C7-E0BC4E487D02}"/>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18A670B3-EA4F-0EF0-A9EC-CE6847E36654}"/>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86ED0621-5D90-D5C2-EF22-3A447A915C6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C5510B18-8B39-BF59-CE44-6EB12FE38CEC}"/>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D56E7C50-B07D-223A-B897-ADB15FDA9681}"/>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D3B9B750-910E-1AB7-5486-2FAA8E495753}"/>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FB1637E9-00CA-D0E2-1908-7F5B0CAAB726}"/>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817D9E39-D64B-A0DA-E666-B90ABC71CFCA}"/>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18BCF0A5-4D4F-4275-36C7-4E066B340593}"/>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3B7FED50-240E-FF23-BC4C-83C1EF239557}"/>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4BE3C3BC-B48A-D132-F407-9EDA9E3B7E19}"/>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6B04C215-08D3-27C3-53EA-4743C54B7653}"/>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F9EA6E85-D5C8-0B09-9D26-A0C6D069F7A1}"/>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A861E4C2-4193-DB29-CDF4-91E1D3D02AEE}"/>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1DC32D34-79C0-439D-FB5B-9A86C909AC13}"/>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9AA35DDD-D398-B08B-C746-145FFAC48050}"/>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F768471D-0411-A1BE-7B7A-923AF9A9CA28}"/>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CB1738BE-9BDA-FBDF-F15B-6446582A7EA6}"/>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5153D737-85A6-4189-1733-983463ADE8DC}"/>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9000636A-C650-6535-33AE-8F6531CA0D4D}"/>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AB24DA38-5C92-7AD9-07D9-418361E92946}"/>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FF6C199D-E9D0-6900-96CC-51CBFA94C1EB}"/>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E2BC221F-A40F-253F-953A-291E915B9F4B}"/>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FD9D8EB5-C31D-AAC6-8C32-7E964514724F}"/>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3822CEF9-6681-1B72-555D-D62613341E5B}"/>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6E82AC16-AB84-ABE7-C81E-59F83CA93C5D}"/>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BDB63347-C71A-63E1-B0D4-34F13647814B}"/>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0AB90CDD-CCC3-A559-1161-4C135192D5B2}"/>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EEFAEB2E-AAF3-F36E-677D-2DB01E0A9A88}"/>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9FF00545-B7AA-B685-2816-1861229BBF8E}"/>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18C69B29-5CC1-6CFF-C873-0479C9DA7151}"/>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C1E05027-74C3-AA24-1AC4-158B0A5E7CA9}"/>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799CFCB0-8652-C370-A41F-731505448F28}"/>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4C734D69-34CB-19C1-81A0-605C3BE79211}"/>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289F5C23-F548-2041-1626-D465F4986813}"/>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48CC0253-17C2-BC2E-4FD0-B084CBDDAD39}"/>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3601761B-40C1-094A-BCA6-CA3320F213C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DF3E8509-11AF-E243-8E1A-718BD3481996}"/>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D712F210-F8A0-07B6-E109-050661BF716C}"/>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8F0331A3-3323-A008-6867-0B12972F2516}"/>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3808BFDA-CF76-F7B9-BA13-D030143252C4}"/>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2FA381D9-2551-E295-A4EA-6EC462DCB1FB}"/>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50E60C2A-375D-E22C-A4F1-6312AFF8D726}"/>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90F52C32-0925-B8CD-20F0-036405BD917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82C5A3FB-4D49-7261-0970-2486DC2B83EE}"/>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3D33F4CE-486F-3890-58C0-9B8B6D8C5844}"/>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B1054AEB-431E-0EDB-0D8B-D458D24D9C65}"/>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CC3414E7-298C-70F4-7335-FFD0C5BDAF98}"/>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BF0A3C46-4BA1-15F6-DF3F-3548517BDFBB}"/>
              </a:ext>
            </a:extLst>
          </p:cNvPr>
          <p:cNvSpPr/>
          <p:nvPr/>
        </p:nvSpPr>
        <p:spPr>
          <a:xfrm>
            <a:off x="1082078" y="662619"/>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1EE8A70-209A-EFD4-8FBA-8BB6A773043A}"/>
              </a:ext>
            </a:extLst>
          </p:cNvPr>
          <p:cNvSpPr txBox="1"/>
          <p:nvPr/>
        </p:nvSpPr>
        <p:spPr>
          <a:xfrm>
            <a:off x="759124" y="1109022"/>
            <a:ext cx="11134585" cy="5355312"/>
          </a:xfrm>
          <a:prstGeom prst="rect">
            <a:avLst/>
          </a:prstGeom>
          <a:noFill/>
        </p:spPr>
        <p:txBody>
          <a:bodyPr wrap="square" rtlCol="0">
            <a:spAutoFit/>
          </a:bodyPr>
          <a:lstStyle/>
          <a:p>
            <a:r>
              <a:rPr lang="en-IN" b="1" dirty="0"/>
              <a:t>Step 5: Telugu Grammar-Constrained Decoding &amp; Training</a:t>
            </a:r>
          </a:p>
          <a:p>
            <a:pPr lvl="0"/>
            <a:r>
              <a:rPr lang="en-IN" dirty="0"/>
              <a:t>Implemented a </a:t>
            </a:r>
            <a:r>
              <a:rPr lang="en-IN" b="1" dirty="0"/>
              <a:t>Telugu Grammar Mask</a:t>
            </a:r>
            <a:r>
              <a:rPr lang="en-IN" dirty="0"/>
              <a:t> using the learned character transition matrix. </a:t>
            </a:r>
          </a:p>
          <a:p>
            <a:pPr lvl="0"/>
            <a:r>
              <a:rPr lang="en-IN" dirty="0"/>
              <a:t>During decoding, invalid Telugu character sequences were penalized. </a:t>
            </a:r>
          </a:p>
          <a:p>
            <a:pPr lvl="0"/>
            <a:r>
              <a:rPr lang="en-IN" dirty="0"/>
              <a:t>Trained both models on an </a:t>
            </a:r>
            <a:r>
              <a:rPr lang="en-IN" b="1" dirty="0"/>
              <a:t>RTX 3090 Ti GPU</a:t>
            </a:r>
            <a:r>
              <a:rPr lang="en-IN" dirty="0"/>
              <a:t> using: </a:t>
            </a:r>
          </a:p>
          <a:p>
            <a:pPr lvl="1"/>
            <a:r>
              <a:rPr lang="en-IN" dirty="0" err="1"/>
              <a:t>AdamW</a:t>
            </a:r>
            <a:r>
              <a:rPr lang="en-IN" dirty="0"/>
              <a:t> optimizer </a:t>
            </a:r>
          </a:p>
          <a:p>
            <a:pPr lvl="1"/>
            <a:r>
              <a:rPr lang="en-IN" dirty="0"/>
              <a:t>Learning rate scheduling </a:t>
            </a:r>
          </a:p>
          <a:p>
            <a:pPr lvl="1"/>
            <a:r>
              <a:rPr lang="en-IN" dirty="0"/>
              <a:t>Gradient clipping </a:t>
            </a:r>
          </a:p>
          <a:p>
            <a:pPr lvl="0"/>
            <a:r>
              <a:rPr lang="en-IN" dirty="0"/>
              <a:t>Saved best-performing checkpoints automatically. </a:t>
            </a:r>
          </a:p>
          <a:p>
            <a:pPr lvl="0"/>
            <a:endParaRPr lang="en-IN" b="1" dirty="0"/>
          </a:p>
          <a:p>
            <a:pPr lvl="0"/>
            <a:r>
              <a:rPr lang="en-IN" b="1" dirty="0"/>
              <a:t>Step 6: Evaluation, Analysis &amp; Results</a:t>
            </a:r>
          </a:p>
          <a:p>
            <a:pPr lvl="0"/>
            <a:r>
              <a:rPr lang="en-IN" dirty="0"/>
              <a:t>Evaluated models using: </a:t>
            </a:r>
          </a:p>
          <a:p>
            <a:pPr lvl="1"/>
            <a:r>
              <a:rPr lang="en-IN" dirty="0"/>
              <a:t>Character Error Rate (CER) </a:t>
            </a:r>
          </a:p>
          <a:p>
            <a:pPr lvl="1"/>
            <a:r>
              <a:rPr lang="en-IN" dirty="0"/>
              <a:t>Word Error Rate (WER) </a:t>
            </a:r>
          </a:p>
          <a:p>
            <a:pPr lvl="1"/>
            <a:r>
              <a:rPr lang="en-IN" dirty="0"/>
              <a:t>Bootstrap Confidence Intervals </a:t>
            </a:r>
          </a:p>
          <a:p>
            <a:pPr lvl="0"/>
            <a:r>
              <a:rPr lang="en-IN" dirty="0"/>
              <a:t>Conducting ablation studies on: </a:t>
            </a:r>
          </a:p>
          <a:p>
            <a:pPr lvl="1"/>
            <a:r>
              <a:rPr lang="en-IN" dirty="0"/>
              <a:t>Grammar Mask </a:t>
            </a:r>
          </a:p>
          <a:p>
            <a:pPr lvl="1"/>
            <a:r>
              <a:rPr lang="en-IN" dirty="0"/>
              <a:t>Beam Search </a:t>
            </a:r>
          </a:p>
          <a:p>
            <a:pPr lvl="1"/>
            <a:r>
              <a:rPr lang="en-IN" dirty="0"/>
              <a:t>Auxiliary CTC Loss </a:t>
            </a:r>
          </a:p>
          <a:p>
            <a:pPr lvl="0"/>
            <a:r>
              <a:rPr lang="en-IN" dirty="0"/>
              <a:t>Generating performance graphs, confusion matrices, and error analyses. </a:t>
            </a:r>
          </a:p>
        </p:txBody>
      </p:sp>
      <p:sp>
        <p:nvSpPr>
          <p:cNvPr id="5" name="TextBox 4">
            <a:extLst>
              <a:ext uri="{FF2B5EF4-FFF2-40B4-BE49-F238E27FC236}">
                <a16:creationId xmlns:a16="http://schemas.microsoft.com/office/drawing/2014/main" id="{F53BC8D8-700B-9AE6-24A3-639E10ED8592}"/>
              </a:ext>
            </a:extLst>
          </p:cNvPr>
          <p:cNvSpPr txBox="1"/>
          <p:nvPr/>
        </p:nvSpPr>
        <p:spPr>
          <a:xfrm>
            <a:off x="759124" y="370164"/>
            <a:ext cx="6094562" cy="1446550"/>
          </a:xfrm>
          <a:prstGeom prst="rect">
            <a:avLst/>
          </a:prstGeom>
          <a:noFill/>
        </p:spPr>
        <p:txBody>
          <a:bodyPr wrap="square">
            <a:spAutoFit/>
          </a:bodyPr>
          <a:lstStyle/>
          <a:p>
            <a:r>
              <a:rPr lang="en-US" sz="4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Implementation</a:t>
            </a:r>
          </a:p>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91419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09D34-28A1-78B4-2FBC-5F803D515E02}"/>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C151B8B8-04BE-1430-ECB1-318E545CE7BA}"/>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0057EAD7-2828-2F5B-D36C-D4D38995DF55}"/>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ACD8C46F-B48A-7454-8DDC-820D247B4DA3}"/>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F248682D-A35C-90FB-8E2E-E83B56BDEBBB}"/>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63F2BED1-DDC5-1EE1-03B0-CBD0D214F384}"/>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ACB19117-DF43-1E8D-C30A-B9D1B524CCC8}"/>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545EC7BC-0FC2-1694-51D9-7B69127912F3}"/>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2E91961D-B54E-1235-791B-DF9D190E5D62}"/>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F337E846-1EA3-BC33-4360-70179123DEEE}"/>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0B83DAC0-6F77-3160-CBE1-B13EEA3E7DEE}"/>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D8D6CCBC-568D-5B14-426E-BC3EC6887C03}"/>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272782DB-42AE-D5C6-27C6-E2B99AF9EE2E}"/>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FED2C5A5-3ACF-0D59-D435-1B9E2183EFEE}"/>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560D6D5F-41F1-1792-5165-98D6C2C0BF97}"/>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0330CEC9-CDA3-2A3E-5D48-2200AF7A0F28}"/>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D9F06ECB-E783-EEFA-3ACD-B9642453CB9F}"/>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BB195DE8-F9C9-6C8D-E613-32B76994593D}"/>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2DA55EE6-5F3B-5E7C-1F3D-16E868F8BF40}"/>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89CA5BEA-6225-BC78-2ACB-E2C7174DDB4B}"/>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7CD6C992-8FD6-6D44-0DE4-A44D81302A72}"/>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29336511-9DCA-8947-0B80-D67D48A82A94}"/>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3B1A3100-A702-006B-AF13-AAEB1D539CE2}"/>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5A948E08-B5BB-0505-3467-E183C6FF8B7C}"/>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B773C16F-0B3D-0A91-B974-F5DD2700EBE0}"/>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002807E2-CAE8-9F9E-92CD-6F7C06CD1C51}"/>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6D27DBE2-7D45-3E29-B95F-E16D4A178238}"/>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104F8A22-3306-B622-CCC0-52BB3BA8D824}"/>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F196758E-70F0-93CD-C6E8-88B3AB36A7C2}"/>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3F7A3A45-B5CA-1FD7-3625-1B04CC311E86}"/>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6CC0469A-AB54-EA4A-904B-D35C252BB4C1}"/>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AAB71C7D-B626-9719-16E0-764A441F1627}"/>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D4EF65A2-927A-4507-F64B-B17FA7DFBDDE}"/>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47C84E2B-7184-9F42-0603-E02591C5C6C8}"/>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C3BC5232-C421-6E04-20A0-DDC4098839C1}"/>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6379F808-A9B5-8AC9-B578-65A9FE81EC65}"/>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3AF942EA-EF5E-7968-4CB5-22CCD4DD71B8}"/>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F5AB43A3-4B95-D050-0A73-6BEE9FF0BED1}"/>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EA05169D-0202-E16D-1394-00241B90EB69}"/>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A06C2225-5910-62A2-640F-5016F27507CF}"/>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241F084F-EBA9-9EEB-E7BA-A50AF86707A0}"/>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6DAD85CD-CB68-24D1-6117-A782954282F5}"/>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A9C870EA-B941-DA2E-65D4-480C5312D778}"/>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DA4ECC68-C9F9-8FD0-F735-B6605A495AA8}"/>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08AD4400-DCEA-69B5-D06D-C4879D373DE1}"/>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E945A96E-3DFF-96EC-3303-6DCA5513A019}"/>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5FDAFBBB-75F4-61F4-5EF3-C6C839571DE5}"/>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5622DD6C-F3C5-CCED-CB86-B618B1C6DAC5}"/>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04A40651-11CD-A6D2-63F3-B46009970DA1}"/>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5693514A-0E19-C1D1-BB42-ACA1779C4349}"/>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64B05E3D-8DA8-4EA9-BDD9-F8D911AD0271}"/>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2C9CB4A5-FEB2-40FE-F136-0CF15AE71A88}"/>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21C3CE6F-7BDB-3D38-9BC6-0A55B5FD6BA3}"/>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618346C8-DE9D-FF1A-F9C2-92A48F7CFA1A}"/>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FF85A8F5-BF2B-C1BC-63A8-2F7295697A4B}"/>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4D9A4200-658F-F593-CBC5-EC0382DDC6EB}"/>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0A259C78-BA6F-8C17-51B2-3AF5CC093A5D}"/>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DF4F7C33-AF99-6F65-7A86-23642AF76991}"/>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DA0054E0-A0AA-7C47-B0A0-B8FCA0BE7EE7}"/>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6D0843AA-44C5-1E51-2908-1EB1D5E6FB5F}"/>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4EDDA3CF-F65B-420D-793F-5E8E295A725B}"/>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CDCAF852-70DF-55A6-4117-601CB076B19C}"/>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66D22D1A-3B4C-A6EB-EABA-1DA0B8D7EC3C}"/>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A32778BC-8990-59C8-7BEE-DEAF049F8096}"/>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181DDCF0-04F8-94D2-03A5-F94888E737C9}"/>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12E7AF91-CFD2-7339-CDB8-AE404F38A11C}"/>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CC113784-5C4A-1401-7F12-F6D7D80ED519}"/>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959B55DA-D38F-80B8-1960-47F50E53607B}"/>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6285562D-627C-2E4C-86B0-553D0FBDA2B1}"/>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EFC7832A-6080-55BC-58E4-A6269782D17B}"/>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FDD6C05F-ECF4-C0DF-4B99-2646BB518851}"/>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02A24338-FD29-F334-EEAB-7BA28B493A17}"/>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C5CE49F6-7D1F-7CA2-EAA5-00BF5BB29C2A}"/>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7C4A9FC2-42A4-AFD6-E3EA-A7B3D12640D3}"/>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C8A1D2E7-1A43-134F-1466-0BA05845D4CB}"/>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9097330A-8E2B-7AA3-387C-DED481F8AA91}"/>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0E4DC7D5-1735-FE71-094C-46E327F56EC3}"/>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EA5F9D59-63C7-4D0D-C584-860EE93A9FC1}"/>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38B64273-39A7-5817-3BD7-1CCFC8A65D0F}"/>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138E4F7D-6274-B6CA-CE04-AA29A455CC30}"/>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20079F37-596B-E6AC-2692-5C8CAC58B2F1}"/>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DCC4D5DC-D76A-4529-96D0-707B5489519D}"/>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E4D912DF-C974-556A-8FB1-D894633977BE}"/>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A17C31B4-E209-08C2-186B-BD206992B33B}"/>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1ED7F2BF-5BC2-C706-622C-0662E8026DE3}"/>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9CAE780B-76A2-95B6-491C-FC55F0A0BC9F}"/>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53719A2B-6F60-0DA3-457C-7F141B6D5C8D}"/>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18B9C439-A3A8-C4B5-D703-5C3048F9A001}"/>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2481DB70-9E02-77F4-588D-B09AC6DE0FD1}"/>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625C106B-103C-E5F5-7FB4-AC88DB9B2339}"/>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A92DE0C4-E729-83C5-374E-2E33A4665B0D}"/>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3EE8CF45-B968-E39F-BF41-E4CC4463AF5C}"/>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92E7FBC3-A6FC-CB9A-9E33-C202A5E268D9}"/>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33B0FA06-6946-A75A-4C44-AD0C6E27A64E}"/>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78D58842-D7CB-6830-69BD-A108455705EF}"/>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4FF77EAB-BADE-B620-7431-1115DA706048}"/>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C168FB24-C052-406E-7289-0681393425B3}"/>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522C059B-F170-9A53-9983-16A6FA984A90}"/>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09C0A82C-2B9C-0D11-300F-62A9D7FDF6DE}"/>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328B8C87-E785-C953-B0CA-2D778DEFEDB6}"/>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48DEE31F-9518-630F-9DAD-32CF6ED36CAC}"/>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3E5E0FCC-7838-CBE4-9096-6F216DB831CC}"/>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BBE28FE4-5E1F-C042-E13A-0551EDB3C8B5}"/>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29A2305A-C2D2-65A3-B084-FE00DA0E70CF}"/>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8E22AAC7-09C7-A812-F1CD-7C9A756FF323}"/>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905E1036-3276-B893-C860-B196DBD913F9}"/>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29A8BAA3-0723-AE05-BBE0-B887548F0D2A}"/>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2809C72E-F703-29CE-E49A-B4A4710FF0BB}"/>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C9C438A8-0772-267B-6933-5781B140B67C}"/>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758F2AD2-8A32-B526-3972-1B6C986D3E68}"/>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CD78BEA5-5D7D-6E21-7964-C9B20388EC7E}"/>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708F8FF2-E39C-01DD-1B27-7C5AB4767D69}"/>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B2B24CD3-1F58-98C6-6D20-87D19932ABE5}"/>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D48ECC19-63F2-14AA-3594-165F9C883C9D}"/>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6ACCA8BD-BBA8-BD8E-0463-DC675443E3ED}"/>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7D3BB655-0356-EA01-CF8C-5ED9A2AB4AA5}"/>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0AA32C8E-2C2C-6DA8-D221-ED9842FB0D4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36EE12FC-A31B-A145-859B-3A1C1F206361}"/>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0F1100ED-9C56-CFD9-906F-E796D26DDC71}"/>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312270F5-BED6-D91E-A02F-66C366810CF0}"/>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1FD2E5BA-50FD-5F83-A13C-5420B166DA07}"/>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A45C3497-491F-A439-AA14-ECA7977BEA0E}"/>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A7EB643E-127A-7A51-75CB-8A76B371A96C}"/>
              </a:ext>
            </a:extLst>
          </p:cNvPr>
          <p:cNvSpPr/>
          <p:nvPr/>
        </p:nvSpPr>
        <p:spPr>
          <a:xfrm>
            <a:off x="1082078" y="662619"/>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F5C7D79C-27DC-805D-4E49-7A82A9F2902C}"/>
              </a:ext>
            </a:extLst>
          </p:cNvPr>
          <p:cNvSpPr txBox="1"/>
          <p:nvPr/>
        </p:nvSpPr>
        <p:spPr>
          <a:xfrm>
            <a:off x="759124" y="370164"/>
            <a:ext cx="6094562" cy="769441"/>
          </a:xfrm>
          <a:prstGeom prst="rect">
            <a:avLst/>
          </a:prstGeom>
          <a:noFill/>
        </p:spPr>
        <p:txBody>
          <a:bodyPr wrap="square">
            <a:spAutoFit/>
          </a:bodyPr>
          <a:lstStyle/>
          <a:p>
            <a:r>
              <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Results</a:t>
            </a:r>
          </a:p>
        </p:txBody>
      </p:sp>
      <p:pic>
        <p:nvPicPr>
          <p:cNvPr id="48" name="Picture 47">
            <a:extLst>
              <a:ext uri="{FF2B5EF4-FFF2-40B4-BE49-F238E27FC236}">
                <a16:creationId xmlns:a16="http://schemas.microsoft.com/office/drawing/2014/main" id="{A6F6B9B4-65F6-D2B3-055E-8B2A27FC4E67}"/>
              </a:ext>
            </a:extLst>
          </p:cNvPr>
          <p:cNvPicPr>
            <a:picLocks noChangeAspect="1"/>
          </p:cNvPicPr>
          <p:nvPr/>
        </p:nvPicPr>
        <p:blipFill>
          <a:blip r:embed="rId2"/>
          <a:stretch>
            <a:fillRect/>
          </a:stretch>
        </p:blipFill>
        <p:spPr>
          <a:xfrm>
            <a:off x="835466" y="1109022"/>
            <a:ext cx="9911534" cy="4368752"/>
          </a:xfrm>
          <a:prstGeom prst="rect">
            <a:avLst/>
          </a:prstGeom>
        </p:spPr>
      </p:pic>
    </p:spTree>
    <p:extLst>
      <p:ext uri="{BB962C8B-B14F-4D97-AF65-F5344CB8AC3E}">
        <p14:creationId xmlns:p14="http://schemas.microsoft.com/office/powerpoint/2010/main" val="3449642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133C3-C2DD-135C-9C31-FF7699A11D4B}"/>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5EB187B9-CD41-2F56-321E-B7555E8AF265}"/>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B2237CF3-D5AA-96E1-B3FF-52A0F0A27F40}"/>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0A8C90D9-161D-A9CF-BF6C-30AD2F806C8B}"/>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B855C222-520D-30D9-6097-7AB5940A7BA0}"/>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8CB898A8-3962-CAE0-C470-78DD16BF13A5}"/>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DFFCC2DD-869C-699C-1E4C-B8A4C98385B8}"/>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A0600FD8-7530-706D-9079-8559887BD2CE}"/>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494C2151-3425-F112-9769-AF493C66872F}"/>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A8665B4B-D1E1-A37B-2615-FF02D0E12DD4}"/>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D80996A2-C07A-63C4-9850-5E491260D082}"/>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33D4D911-99E4-9020-5077-4F0D2CB2E4D3}"/>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896F2F4B-D64E-6588-9EE1-50C9683695AD}"/>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567C9947-AEC4-143C-4AFF-6B14F2DE9546}"/>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8E389084-8B2B-07DB-C505-96E1C6DAED28}"/>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04C9E768-C039-73B9-136E-7EA4F9B0C5B4}"/>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3879E1AF-A147-63A5-3791-1EE34A3B6A3E}"/>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BC7AC5FF-0A76-91C6-0494-CA256015F988}"/>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A366347D-66CB-E055-69F3-599A0F30F3F0}"/>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FAD8A52C-A425-1BDA-7C8D-5ADD3EA60B73}"/>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18940017-2702-C7ED-4336-7B7F20660C9D}"/>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C602835B-5EB3-21A0-442B-2692B30ABC58}"/>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B246D8EA-BC99-2E79-5987-72084B60AABB}"/>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8854BE9A-8F6A-0ABD-A21B-052D1A09C647}"/>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B4C874F9-DF35-B736-6068-1641D8F1A24D}"/>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1833A21C-75E6-926F-6820-ABA84E604110}"/>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92F08A33-036B-387F-2FB0-83B72A0F4E8E}"/>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CE828B7A-918F-A2AB-230A-443E501EFD1B}"/>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7C62160C-CB1D-3C08-8F95-617EBEDF0160}"/>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9F887740-49F0-1A37-EDAF-F8C9369A2FA3}"/>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2EAB5898-A756-76B6-3BA9-DCC0FA8426DE}"/>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C18F6055-C5E6-CD1A-AC00-0EEFB1B12C19}"/>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33E12C59-AEAC-6653-749F-671F501C4118}"/>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C0EA5C64-B275-0246-1BC2-5F12F09F8262}"/>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FD33ED28-F77D-9BAC-F17E-E55DD3A1E2DA}"/>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3B51197B-4034-C018-7DA7-79C5AA24589A}"/>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B405A1A5-DE03-A165-D464-9919204AC5C8}"/>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831BF182-82D8-7599-927C-F117233B0FCC}"/>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A493929C-046A-A332-5EE7-FE361EDC20CA}"/>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0AD69C96-A922-A63B-6986-D57CE9A92C77}"/>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E73D0177-2646-57CA-5EA3-909987382096}"/>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307FC479-C93E-D1B8-00A9-052139E271EE}"/>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4E8FA2A1-6F38-A883-A994-8B9BD9D11636}"/>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D4BBDC94-E509-C14E-18F0-31797FC34445}"/>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7606840F-2AF8-4065-9014-F016623B9572}"/>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510696E2-E769-EB50-EA06-7AD45A0DDFA2}"/>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3353B0BA-1C1F-44DA-F749-947A6ED9DE5D}"/>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986126A4-F2D2-0670-05F0-B38F1C4CED6D}"/>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E4A57566-6458-C706-C5A1-5F42B0F4D019}"/>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641599CF-0573-6F28-E5C2-B9A29FDF5668}"/>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5F7628A6-B5B9-D067-AA6F-079C78E52712}"/>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41E05613-2F96-D76D-1DE4-49E377DF4D03}"/>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6AFB03E6-B2C5-8A85-B1F5-E485B212FD4C}"/>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53FFC19C-3EC9-10E6-7E80-1B2EE1A7B7F0}"/>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A1882636-E8EA-5132-2D11-42783D326243}"/>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F1522880-833E-783B-B66A-36DCE33B956C}"/>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81DF5E3E-B3D4-EA04-0CF1-DD804BC57DB3}"/>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80F5CDA8-1A06-EDE9-3A54-C0749E206179}"/>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755D0F88-5286-F672-532A-C94DC5E092C4}"/>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2A32914A-03AD-1C15-6556-D03207DB9614}"/>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F5197213-9E06-CC91-3529-0991DC35AF75}"/>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7DF63A5D-5D2A-5975-F7CD-A5B434684CB6}"/>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0BDAFCA3-77D0-9361-04BC-1A3A1C36B44C}"/>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1349A543-92EC-196E-79FC-E95FB1486D56}"/>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FD8C404A-2183-58BE-A3D1-6EBF62DCC5F0}"/>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D29CFFFD-33D4-AA20-BABE-CB146CB196C2}"/>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C068A2A5-A174-501B-A684-8E59B2F92BDD}"/>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5BBB5199-FCE4-17C5-D195-A2C486A29312}"/>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E2D48B43-5042-49F1-EF41-FF9BA69106C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60ED1612-3102-A7B7-F4C0-52C5074E01E6}"/>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4CCA9321-7F92-27EF-D309-3A46AC5D9A6F}"/>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ACD8D7BA-76A6-122B-005A-82E7580C0137}"/>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76C03424-6150-9463-1C35-BD6C1A363B4C}"/>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D9E8BD6A-CD15-147D-D701-69BF6AA0413B}"/>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BF09B0CD-B53F-94D3-611A-4F881BFD8B7C}"/>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FB05E074-FF9D-F1DE-F2B2-AA11D68469DB}"/>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D1037761-9F4D-147A-C449-D146CFC05411}"/>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FD703BB9-2950-FCF0-79FD-922DDC1492E2}"/>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3B93E47E-ECD1-6824-AAB7-4B18864800EA}"/>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75041F07-5268-D206-5EF2-45338BC33740}"/>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438C0B11-A374-B7E5-2F73-9607406AA560}"/>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56A5C8F0-920E-3D99-1BEB-82A1D3936DFA}"/>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1DC78FEB-E10A-89B3-9DD1-A6CB4D9C44F9}"/>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BE499152-A795-0FFA-48F1-EA8E4E3EB4AE}"/>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275EE884-D1A1-C939-9A86-978E404AD835}"/>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48DE5459-FC79-34ED-0F11-3D6458497F6E}"/>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87ABA2BD-6E8B-5119-F294-FB24A30C54BF}"/>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892DDA67-8FA7-3252-2138-58179BEB8DBD}"/>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2A002112-9FB7-A95D-584D-7B9214A9464B}"/>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0C05857E-EBC5-E43E-1A69-C2709329372D}"/>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13D2AB19-DF7A-EAFC-81E8-09BFA318A9EA}"/>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57C24A4D-E8C7-2C42-C85A-C9EA4E2B52CB}"/>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F7F4A6A5-D94B-CCAA-5B45-7FF58A735057}"/>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6C64607B-AFDB-255C-7E6F-E607D659B747}"/>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EAA04792-93F1-A466-4ED1-05B34D85D092}"/>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E898A8E8-0649-AED5-C23D-1A8406336375}"/>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FFDE9465-A660-0D32-37B1-A38DA11D2C25}"/>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5A1F9D5D-A300-3716-CEA5-9578A904EC27}"/>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FB9E3EFC-D915-B136-306B-1CA0C409C243}"/>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A816AD80-BDC1-8574-5759-64993AD29B87}"/>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D1B892FF-901B-8882-9F03-092B48F435E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8C923453-385D-5165-8400-7272F3C3A917}"/>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104332C4-E5C5-2CCC-99DA-0CD0A89DA87D}"/>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C1ED7993-30C7-E46E-F666-0D0E7D2755BF}"/>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7CD96018-EB52-1EC1-7502-62B8B473211D}"/>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0F84F357-83F3-839D-AF1B-E03DDA34D304}"/>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9D370509-183B-B8C5-C487-8AF5263C59A9}"/>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18020B4B-C330-46E4-8EA7-1D16C147810C}"/>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CF580166-8ECA-5804-A05E-FD3B0112FB45}"/>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D45FB753-FFF2-18B4-136F-61EBF348CD92}"/>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C63AE934-B599-74A3-A599-B047D26AAF4A}"/>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CB6A50D5-06BA-4A4E-D406-7F483127B465}"/>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3D8E200E-8EB7-5259-DA7A-722B991E0447}"/>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C8017965-15E5-1AA9-4B7D-E6CE854E63F5}"/>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DDFFAA68-2E1A-8FD4-05EC-CCCF3DBAE924}"/>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F0711613-F47E-D20D-219E-E080FA07860C}"/>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DD50CEBB-6B66-E024-3637-3E6C81286068}"/>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8C0D236B-2B2D-25EB-A5A3-8E1F0642AD41}"/>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EC0E39CE-83DD-635F-3C12-81F81A1E1753}"/>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CF9BF1F4-9075-E80C-8617-80C3318243D8}"/>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CFC30A8E-AD7D-F072-901D-8DDAD582E53A}"/>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C5828B42-C36B-A743-274F-06B4A878F799}"/>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89E87C1A-1C76-03CC-9DD9-96704FABFC43}"/>
              </a:ext>
            </a:extLst>
          </p:cNvPr>
          <p:cNvSpPr/>
          <p:nvPr/>
        </p:nvSpPr>
        <p:spPr>
          <a:xfrm>
            <a:off x="1082078" y="662619"/>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1451828-F6E2-B5C4-A7DA-A56F99774A84}"/>
              </a:ext>
            </a:extLst>
          </p:cNvPr>
          <p:cNvSpPr txBox="1"/>
          <p:nvPr/>
        </p:nvSpPr>
        <p:spPr>
          <a:xfrm>
            <a:off x="759124" y="370164"/>
            <a:ext cx="6094562" cy="769441"/>
          </a:xfrm>
          <a:prstGeom prst="rect">
            <a:avLst/>
          </a:prstGeom>
          <a:noFill/>
        </p:spPr>
        <p:txBody>
          <a:bodyPr wrap="square">
            <a:spAutoFit/>
          </a:bodyPr>
          <a:lstStyle/>
          <a:p>
            <a:r>
              <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Results</a:t>
            </a:r>
          </a:p>
        </p:txBody>
      </p:sp>
      <p:pic>
        <p:nvPicPr>
          <p:cNvPr id="3" name="Picture 2">
            <a:extLst>
              <a:ext uri="{FF2B5EF4-FFF2-40B4-BE49-F238E27FC236}">
                <a16:creationId xmlns:a16="http://schemas.microsoft.com/office/drawing/2014/main" id="{B686F1BE-23BD-87FB-FE82-DC05A66D9534}"/>
              </a:ext>
            </a:extLst>
          </p:cNvPr>
          <p:cNvPicPr>
            <a:picLocks noChangeAspect="1"/>
          </p:cNvPicPr>
          <p:nvPr/>
        </p:nvPicPr>
        <p:blipFill>
          <a:blip r:embed="rId2"/>
          <a:stretch>
            <a:fillRect/>
          </a:stretch>
        </p:blipFill>
        <p:spPr>
          <a:xfrm>
            <a:off x="759124" y="1225578"/>
            <a:ext cx="9684007" cy="4793094"/>
          </a:xfrm>
          <a:prstGeom prst="rect">
            <a:avLst/>
          </a:prstGeom>
        </p:spPr>
      </p:pic>
    </p:spTree>
    <p:extLst>
      <p:ext uri="{BB962C8B-B14F-4D97-AF65-F5344CB8AC3E}">
        <p14:creationId xmlns:p14="http://schemas.microsoft.com/office/powerpoint/2010/main" val="3447910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6CB83-BACF-84BA-8AC4-3D52AA54EC38}"/>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7586161F-1DB2-5FDB-AA48-F9DCCFAC70C7}"/>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F1BC3F9A-816B-0C85-DB85-DCD70E4BB1D6}"/>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E6F2D2AA-CB85-8146-902C-1A63EAADC9B9}"/>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6D2CA399-81AA-37CB-B941-FA9E9A77F891}"/>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4175E8CC-7EF8-7C05-B3CC-3D716DCA822D}"/>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BCC5C73C-9ACE-98CE-242F-A6404ED86CB5}"/>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CB23197A-EF1C-7C1A-776F-D571B0857B01}"/>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79D91B3C-5CF9-5C04-01F2-8487C0F629DC}"/>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ECD8F510-1607-DC53-47E9-3D844EF524AB}"/>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0026490C-128F-B699-0A6E-B311DF4603D0}"/>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0ECF1011-9A1C-8882-A656-7ED38D212E76}"/>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5B524E45-261C-304E-56AF-A6B3F216DED0}"/>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ED8E76A6-2224-18A0-9CEC-3B4C7FBB39D9}"/>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6DBEA1FA-62CD-032B-64A4-535EBEAEEA44}"/>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9BFCD39D-90F8-A5CA-9F1B-ADC7B896014D}"/>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50B45F6E-93B8-E427-428F-0C7A3AA0B7CA}"/>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27ADC497-0792-2484-71A8-816574686411}"/>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D0BA50C0-C1A4-0556-B41B-2A0D865A2598}"/>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50AC8E78-E698-22F9-A6F5-415DE4148C20}"/>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D65E041F-E214-B151-27DB-4441A5B160B0}"/>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E64AEE20-4C3C-3F5D-C421-14DBE6780DDC}"/>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BE21DEB4-15C7-67FB-EAE8-2C4D49142A5F}"/>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B4B9E3A2-700B-83C9-B856-0F9E70FF0951}"/>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450F9F64-4607-6EB4-7C97-F6846CB86BCD}"/>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D0B05390-E9D0-FBC7-772B-8A5626384593}"/>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510842CD-DC2F-3A22-4A60-7C9BC8ABB3E1}"/>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9DFBC8CA-46E4-D2F0-0F23-F1053AF27EC4}"/>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6F92C74A-5AEC-1BAF-1967-F3795EC92CD1}"/>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1F2AF9D5-26DC-15D4-DE17-5EEEFCBD5A20}"/>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170DB596-72BE-667E-4292-E5FB9792C68E}"/>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3C7DBB69-2ABB-95CF-479A-9AE1DA4AF102}"/>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417A83B6-2FCE-8DC6-926B-43D522EA1882}"/>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D1D2BC7E-17C9-01CA-AE41-4B575D6614C5}"/>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71D8F974-ADDB-ABBA-0C20-65883222CACD}"/>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00E419EB-9153-2482-70B1-42B2B99C2116}"/>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6ECB2B83-7EE7-EC38-E04C-598E45F81D03}"/>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D1B33CB3-B80F-8288-E38A-EEF345B107FF}"/>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D1668B6A-44E8-9FE2-3178-EC9FBF2C541F}"/>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5169E15C-5FAC-DFE5-12AE-8E3383A5B635}"/>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DF59B524-7766-B972-CC6E-5ED0405C7AB9}"/>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384C4BC5-CE41-BC19-D3D3-169434E8E4B4}"/>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4A07819D-72F0-B801-D632-06684FF9CC29}"/>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F6101BAC-A6AB-6C86-4D23-CBA5EA2A8F1B}"/>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A9E5DF9C-2B02-E274-54F5-36BD5B3B3FF4}"/>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63F5B33C-1B9F-D1B7-9C91-C82EE127ABCC}"/>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2E0CF7DE-A5B5-22FB-4694-4EA76E5786D0}"/>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FE79E8CC-EECE-5A56-AB83-76E0B5D07F4C}"/>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96B0171E-3B09-03D6-20A8-A8DB96212CDB}"/>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61AA8920-4F04-299F-3A78-A8447CDA27FF}"/>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0F64DAF6-5A7E-76E2-0179-FFA4E9CC51EC}"/>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959D7658-F005-F18B-B931-ADCE749D9205}"/>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1ECF0D3F-010C-2530-A61F-18198C98212B}"/>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E0427316-0D2D-B77A-D429-60B354BCB583}"/>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F5A8065C-6D13-2B78-EF7D-44F9E560AD3D}"/>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C6E5AA94-8246-EE01-6D20-E87FCC7DA468}"/>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AC09DC7A-3B20-EB55-E42A-03DAC6BC40DB}"/>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ED8215ED-73C3-5005-AC69-9BE90AABFB31}"/>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7B8F3C48-21A4-B014-28CE-C6A10D11377C}"/>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7C869CE5-1D21-C618-5C6B-FEB3A4A47D00}"/>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ABDF7758-220D-3D06-8FC8-C857CC0F8912}"/>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E2258E0B-1599-0167-91B7-3F75DB5B83C1}"/>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313770F4-0522-E38B-FA02-C83D15CB5D1E}"/>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F849C46B-3F68-D70F-7B9C-DF062742ABD2}"/>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D63657C1-E365-E86E-D1B1-7405C010DCE4}"/>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1C670F68-3A63-716F-9FFB-7A594305C0E2}"/>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2B32EE8C-6F8F-DB47-06CA-7AE2B1CFF990}"/>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8E2C4B17-CE05-1467-20A1-1991F5698950}"/>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769C3F02-7D32-3F94-46DD-4AC77CF3D22C}"/>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4101E9DA-2F0E-CBC1-EC5E-A62D0176C618}"/>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5321AB47-2AF0-A14B-5E57-DAA6EDA7FE37}"/>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CCBF6DE2-3D7E-A010-9D24-87AA2D948D26}"/>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B3437D0E-3340-0858-0C74-773EA5115FC3}"/>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9F92ADF5-46DE-BCF6-513C-3A2582A89870}"/>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A726E75B-B45D-FFEE-DC35-D4A48DCE938C}"/>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2A20ED75-9AC0-17A8-50F1-B67381E28E07}"/>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38611D83-FFBB-EA3C-D18E-0154426D8602}"/>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E20ED73B-ACA7-C356-A4C2-0FD8E88501CE}"/>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42828EFC-C8CA-DF2D-8C9B-F9666C928A8D}"/>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E382555D-DE78-3AFE-4CC8-23D93F5D0FFF}"/>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3B7F618D-B270-E0DE-D9D1-9C946E7E77DD}"/>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D3BFF80B-AE68-4871-D2AA-F1EF1D477063}"/>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05DEB2A8-4E68-7AD5-DB1F-2CD8E0FCAE29}"/>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8F3F6296-D367-D5BE-7911-842679CF20B0}"/>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A7391A78-D24B-9E01-FE3D-D9EE747A664C}"/>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DE2622DE-50D2-FA11-4684-904BCB3763CC}"/>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F49D639A-5439-46F5-93A2-B7D960E44377}"/>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A1458342-665D-8D26-F3C8-9A16C5558BD5}"/>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57128D32-8ACF-173E-01BE-57B46F6D46B4}"/>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B1CCA555-51E0-B38C-6C87-754B43BD2D8E}"/>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5A41229D-169A-F120-EDCE-89A8B98D6238}"/>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25D89E4D-DD9A-3727-2E5F-01EC77D3AE3E}"/>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5CB2D237-A9B1-A61F-178B-BFAC607FD043}"/>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1EC4828F-327F-1815-9126-CBE5773B9CB8}"/>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99E1EA2F-34C1-CBDC-E430-9607B50478AC}"/>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EB7674C9-1BF8-9B91-8D30-859937AD7D78}"/>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DFD74FF2-5BF4-94CB-078B-DBAB97E1D861}"/>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2562760E-846B-5AD5-C82E-B12EC18403F2}"/>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062FBC83-8799-21CA-6D7F-C8CF9EFFD4B9}"/>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D3A04EB7-9FDE-C0A2-8E53-A91B19A7F5A3}"/>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230476F5-06E1-AF1F-53F4-F44BDD5750F9}"/>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1A56AE15-A487-3BAD-520E-FAC02A4EB83D}"/>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F6A1F79B-D51B-8556-8416-21163EBF3A97}"/>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35273055-BE08-03E9-91E4-32811798DB76}"/>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9C502612-E8F3-8580-5920-93625D143F6E}"/>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92E77BCC-03DC-A73B-5906-EAB90ADB2821}"/>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201EA48A-3422-0237-F964-6547401CFA76}"/>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0BEFF8DC-FD48-91E0-12C4-C8BF38050C57}"/>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52FF994A-27FF-6A78-112F-6752312F1077}"/>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A3BBFB96-EED6-9CE5-C41E-D2A85BC4A9E8}"/>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16A5FAE6-971E-828C-7485-82D21879C3D1}"/>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184D6ED7-DBC9-211B-214D-DD4C3285BCF8}"/>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D1D45718-63B7-7AB9-D777-93B83BCE017D}"/>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FE9D4B59-5F1E-ACAC-AC1F-B7C1DDEBEC0D}"/>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C4E8672C-BFB3-8CF2-F5C6-E3217AE161BF}"/>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14F7B6B6-97E5-CA5D-6729-0F36F35E162C}"/>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96DCE3A4-2775-F720-957D-B073297E1AA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C3D6FBFE-40A9-DECD-3FBA-AABBA4233C45}"/>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7EA15306-7707-887D-0823-1B98702697E3}"/>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8558231F-3CC4-79D3-820B-7DAC60D589D9}"/>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16AC42EB-40AC-C1EC-1CD0-C692D2CCE9DF}"/>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8B7E5DEB-57EB-EB6E-5DEE-01464605E907}"/>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405C971C-78D8-5430-B08A-9159D03DEC6A}"/>
              </a:ext>
            </a:extLst>
          </p:cNvPr>
          <p:cNvSpPr/>
          <p:nvPr/>
        </p:nvSpPr>
        <p:spPr>
          <a:xfrm>
            <a:off x="1082078" y="662619"/>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9" name="TextBox 48">
            <a:extLst>
              <a:ext uri="{FF2B5EF4-FFF2-40B4-BE49-F238E27FC236}">
                <a16:creationId xmlns:a16="http://schemas.microsoft.com/office/drawing/2014/main" id="{92B8FCD2-F430-FEA5-4AF3-30B7E895EE58}"/>
              </a:ext>
            </a:extLst>
          </p:cNvPr>
          <p:cNvSpPr txBox="1"/>
          <p:nvPr/>
        </p:nvSpPr>
        <p:spPr>
          <a:xfrm>
            <a:off x="155275" y="2358247"/>
            <a:ext cx="2820838" cy="1200329"/>
          </a:xfrm>
          <a:prstGeom prst="rect">
            <a:avLst/>
          </a:prstGeom>
          <a:noFill/>
        </p:spPr>
        <p:txBody>
          <a:bodyPr wrap="square" rtlCol="0">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Baseline</a:t>
            </a:r>
          </a:p>
          <a:p>
            <a:r>
              <a:rPr lang="en-IN" sz="3600" b="1" dirty="0">
                <a:solidFill>
                  <a:srgbClr val="FF0000"/>
                </a:solidFill>
                <a:latin typeface="Times New Roman" panose="02020603050405020304" pitchFamily="18" charset="0"/>
                <a:cs typeface="Times New Roman" panose="02020603050405020304" pitchFamily="18" charset="0"/>
              </a:rPr>
              <a:t>Architecture</a:t>
            </a:r>
          </a:p>
        </p:txBody>
      </p:sp>
      <p:pic>
        <p:nvPicPr>
          <p:cNvPr id="54" name="Picture 53">
            <a:extLst>
              <a:ext uri="{FF2B5EF4-FFF2-40B4-BE49-F238E27FC236}">
                <a16:creationId xmlns:a16="http://schemas.microsoft.com/office/drawing/2014/main" id="{249457C2-C9C0-FF1C-8305-CA23D8283759}"/>
              </a:ext>
            </a:extLst>
          </p:cNvPr>
          <p:cNvPicPr>
            <a:picLocks noChangeAspect="1"/>
          </p:cNvPicPr>
          <p:nvPr/>
        </p:nvPicPr>
        <p:blipFill>
          <a:blip r:embed="rId2"/>
          <a:stretch>
            <a:fillRect/>
          </a:stretch>
        </p:blipFill>
        <p:spPr>
          <a:xfrm>
            <a:off x="3713112" y="0"/>
            <a:ext cx="4594126" cy="6858000"/>
          </a:xfrm>
          <a:prstGeom prst="rect">
            <a:avLst/>
          </a:prstGeom>
        </p:spPr>
      </p:pic>
    </p:spTree>
    <p:extLst>
      <p:ext uri="{BB962C8B-B14F-4D97-AF65-F5344CB8AC3E}">
        <p14:creationId xmlns:p14="http://schemas.microsoft.com/office/powerpoint/2010/main" val="73690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0689E-4842-4CB7-6D06-62B57CABFEAF}"/>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827CAA29-65BA-489B-1A11-C67E61628FFE}"/>
              </a:ext>
            </a:extLst>
          </p:cNvPr>
          <p:cNvGrpSpPr/>
          <p:nvPr/>
        </p:nvGrpSpPr>
        <p:grpSpPr>
          <a:xfrm>
            <a:off x="10319546" y="61137"/>
            <a:ext cx="1813078" cy="1709844"/>
            <a:chOff x="4301836" y="1542184"/>
            <a:chExt cx="4242954" cy="4001365"/>
          </a:xfrm>
          <a:solidFill>
            <a:srgbClr val="E7E9DE"/>
          </a:solidFill>
        </p:grpSpPr>
        <p:sp>
          <p:nvSpPr>
            <p:cNvPr id="7" name="Freeform 236">
              <a:extLst>
                <a:ext uri="{FF2B5EF4-FFF2-40B4-BE49-F238E27FC236}">
                  <a16:creationId xmlns:a16="http://schemas.microsoft.com/office/drawing/2014/main" id="{35357C63-DCF2-DAF8-418B-67A99A46A148}"/>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8" name="Freeform 237">
              <a:extLst>
                <a:ext uri="{FF2B5EF4-FFF2-40B4-BE49-F238E27FC236}">
                  <a16:creationId xmlns:a16="http://schemas.microsoft.com/office/drawing/2014/main" id="{C540D97A-C2CE-46E7-2FBC-D4080DAEDE25}"/>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9" name="Freeform 238">
              <a:extLst>
                <a:ext uri="{FF2B5EF4-FFF2-40B4-BE49-F238E27FC236}">
                  <a16:creationId xmlns:a16="http://schemas.microsoft.com/office/drawing/2014/main" id="{2AF0ED55-1F8F-C0E1-6141-A319640F7B78}"/>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0" name="Freeform 239">
              <a:extLst>
                <a:ext uri="{FF2B5EF4-FFF2-40B4-BE49-F238E27FC236}">
                  <a16:creationId xmlns:a16="http://schemas.microsoft.com/office/drawing/2014/main" id="{20907345-D43E-3D7D-3639-6D7E0212C39E}"/>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1" name="Freeform 240">
              <a:extLst>
                <a:ext uri="{FF2B5EF4-FFF2-40B4-BE49-F238E27FC236}">
                  <a16:creationId xmlns:a16="http://schemas.microsoft.com/office/drawing/2014/main" id="{69D20FF3-4C74-BFF4-C0F0-2E6D74D8060C}"/>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2" name="Freeform 241">
              <a:extLst>
                <a:ext uri="{FF2B5EF4-FFF2-40B4-BE49-F238E27FC236}">
                  <a16:creationId xmlns:a16="http://schemas.microsoft.com/office/drawing/2014/main" id="{15E3EC4F-4D4A-5255-B9A6-2500DCFA6C47}"/>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3" name="Freeform 242">
              <a:extLst>
                <a:ext uri="{FF2B5EF4-FFF2-40B4-BE49-F238E27FC236}">
                  <a16:creationId xmlns:a16="http://schemas.microsoft.com/office/drawing/2014/main" id="{02213037-E8CD-F177-8008-14405E3E86B0}"/>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4" name="Freeform 243">
              <a:extLst>
                <a:ext uri="{FF2B5EF4-FFF2-40B4-BE49-F238E27FC236}">
                  <a16:creationId xmlns:a16="http://schemas.microsoft.com/office/drawing/2014/main" id="{2AF6CF6B-A106-AC44-6AAA-D6C863C0C9F9}"/>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5" name="Freeform 244">
              <a:extLst>
                <a:ext uri="{FF2B5EF4-FFF2-40B4-BE49-F238E27FC236}">
                  <a16:creationId xmlns:a16="http://schemas.microsoft.com/office/drawing/2014/main" id="{0AB528E0-28D6-3487-75E1-B4C766DFE05D}"/>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6" name="Freeform 245">
              <a:extLst>
                <a:ext uri="{FF2B5EF4-FFF2-40B4-BE49-F238E27FC236}">
                  <a16:creationId xmlns:a16="http://schemas.microsoft.com/office/drawing/2014/main" id="{41413730-0356-0C91-6494-88406C9AB2EC}"/>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7" name="Freeform 246">
              <a:extLst>
                <a:ext uri="{FF2B5EF4-FFF2-40B4-BE49-F238E27FC236}">
                  <a16:creationId xmlns:a16="http://schemas.microsoft.com/office/drawing/2014/main" id="{68ED404D-5A5B-B266-10DB-544F61C75F4A}"/>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8" name="Freeform 247">
              <a:extLst>
                <a:ext uri="{FF2B5EF4-FFF2-40B4-BE49-F238E27FC236}">
                  <a16:creationId xmlns:a16="http://schemas.microsoft.com/office/drawing/2014/main" id="{822DC1B5-F681-8242-4699-7399A4F8DEC3}"/>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19" name="Freeform 248">
              <a:extLst>
                <a:ext uri="{FF2B5EF4-FFF2-40B4-BE49-F238E27FC236}">
                  <a16:creationId xmlns:a16="http://schemas.microsoft.com/office/drawing/2014/main" id="{42F50193-93EA-FC12-7BE9-CA6E0E934E41}"/>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0" name="Freeform 249">
              <a:extLst>
                <a:ext uri="{FF2B5EF4-FFF2-40B4-BE49-F238E27FC236}">
                  <a16:creationId xmlns:a16="http://schemas.microsoft.com/office/drawing/2014/main" id="{E31C8F7B-FB12-2EA9-CC33-84DB7A8CD370}"/>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1" name="Freeform 250">
              <a:extLst>
                <a:ext uri="{FF2B5EF4-FFF2-40B4-BE49-F238E27FC236}">
                  <a16:creationId xmlns:a16="http://schemas.microsoft.com/office/drawing/2014/main" id="{0DF3F78A-DA21-3574-114B-7AF9A0436F3A}"/>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2" name="Freeform 251">
              <a:extLst>
                <a:ext uri="{FF2B5EF4-FFF2-40B4-BE49-F238E27FC236}">
                  <a16:creationId xmlns:a16="http://schemas.microsoft.com/office/drawing/2014/main" id="{CBC87341-708C-36E4-56DB-63A78C8A30DB}"/>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 name="Freeform 252">
              <a:extLst>
                <a:ext uri="{FF2B5EF4-FFF2-40B4-BE49-F238E27FC236}">
                  <a16:creationId xmlns:a16="http://schemas.microsoft.com/office/drawing/2014/main" id="{31419748-4F2A-EBA0-8396-2F4849000EC6}"/>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 name="Freeform 253">
              <a:extLst>
                <a:ext uri="{FF2B5EF4-FFF2-40B4-BE49-F238E27FC236}">
                  <a16:creationId xmlns:a16="http://schemas.microsoft.com/office/drawing/2014/main" id="{4061294B-15BE-BA04-3469-45F3642D42EA}"/>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 name="Freeform 254">
              <a:extLst>
                <a:ext uri="{FF2B5EF4-FFF2-40B4-BE49-F238E27FC236}">
                  <a16:creationId xmlns:a16="http://schemas.microsoft.com/office/drawing/2014/main" id="{0CFF38C7-3973-CE69-385B-425196CF3590}"/>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 name="Freeform 255">
              <a:extLst>
                <a:ext uri="{FF2B5EF4-FFF2-40B4-BE49-F238E27FC236}">
                  <a16:creationId xmlns:a16="http://schemas.microsoft.com/office/drawing/2014/main" id="{7DA97343-9A5D-4631-7EF7-CED49F8242BB}"/>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7" name="Freeform 256">
              <a:extLst>
                <a:ext uri="{FF2B5EF4-FFF2-40B4-BE49-F238E27FC236}">
                  <a16:creationId xmlns:a16="http://schemas.microsoft.com/office/drawing/2014/main" id="{81805498-3630-7C4F-DBA8-9764C96C365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8" name="Freeform 257">
              <a:extLst>
                <a:ext uri="{FF2B5EF4-FFF2-40B4-BE49-F238E27FC236}">
                  <a16:creationId xmlns:a16="http://schemas.microsoft.com/office/drawing/2014/main" id="{7DA86866-2EBD-F901-7D52-5DF83CE1978F}"/>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9" name="Freeform 258">
              <a:extLst>
                <a:ext uri="{FF2B5EF4-FFF2-40B4-BE49-F238E27FC236}">
                  <a16:creationId xmlns:a16="http://schemas.microsoft.com/office/drawing/2014/main" id="{B6F7120E-FD4C-84D0-6D60-2808933502C8}"/>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0" name="Freeform 259">
              <a:extLst>
                <a:ext uri="{FF2B5EF4-FFF2-40B4-BE49-F238E27FC236}">
                  <a16:creationId xmlns:a16="http://schemas.microsoft.com/office/drawing/2014/main" id="{96BAB46F-1E5F-5F6E-97B9-931350C3DFF7}"/>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1" name="Freeform 260">
              <a:extLst>
                <a:ext uri="{FF2B5EF4-FFF2-40B4-BE49-F238E27FC236}">
                  <a16:creationId xmlns:a16="http://schemas.microsoft.com/office/drawing/2014/main" id="{0689EF54-D33C-EF13-8D94-FC35AF3AB4ED}"/>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2" name="Freeform 261">
              <a:extLst>
                <a:ext uri="{FF2B5EF4-FFF2-40B4-BE49-F238E27FC236}">
                  <a16:creationId xmlns:a16="http://schemas.microsoft.com/office/drawing/2014/main" id="{B540B22E-27F4-6BEE-219E-F05F57AB28CC}"/>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3" name="Freeform 262">
              <a:extLst>
                <a:ext uri="{FF2B5EF4-FFF2-40B4-BE49-F238E27FC236}">
                  <a16:creationId xmlns:a16="http://schemas.microsoft.com/office/drawing/2014/main" id="{FF45D7FE-64E4-0D07-060C-9253036E4740}"/>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5" name="Freeform 263">
              <a:extLst>
                <a:ext uri="{FF2B5EF4-FFF2-40B4-BE49-F238E27FC236}">
                  <a16:creationId xmlns:a16="http://schemas.microsoft.com/office/drawing/2014/main" id="{6E59AAC3-5498-ED42-82FE-CD0381472124}"/>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36" name="Freeform 264">
              <a:extLst>
                <a:ext uri="{FF2B5EF4-FFF2-40B4-BE49-F238E27FC236}">
                  <a16:creationId xmlns:a16="http://schemas.microsoft.com/office/drawing/2014/main" id="{A0991E6B-8696-BB48-5796-AE678C8097A5}"/>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37" name="Freeform 265">
              <a:extLst>
                <a:ext uri="{FF2B5EF4-FFF2-40B4-BE49-F238E27FC236}">
                  <a16:creationId xmlns:a16="http://schemas.microsoft.com/office/drawing/2014/main" id="{19D9D97B-C422-753A-52FA-1834FD3292A6}"/>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8" name="Freeform 266">
              <a:extLst>
                <a:ext uri="{FF2B5EF4-FFF2-40B4-BE49-F238E27FC236}">
                  <a16:creationId xmlns:a16="http://schemas.microsoft.com/office/drawing/2014/main" id="{35D5782F-A551-C84E-A03C-9F5A68835DBD}"/>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9" name="Freeform 267">
              <a:extLst>
                <a:ext uri="{FF2B5EF4-FFF2-40B4-BE49-F238E27FC236}">
                  <a16:creationId xmlns:a16="http://schemas.microsoft.com/office/drawing/2014/main" id="{42235949-B2BC-D68D-E888-EC70D197FC1B}"/>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0" name="Freeform 268">
              <a:extLst>
                <a:ext uri="{FF2B5EF4-FFF2-40B4-BE49-F238E27FC236}">
                  <a16:creationId xmlns:a16="http://schemas.microsoft.com/office/drawing/2014/main" id="{410C1A46-1B4B-90CD-8EA2-11C6E6FB63A6}"/>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1" name="Freeform 269">
              <a:extLst>
                <a:ext uri="{FF2B5EF4-FFF2-40B4-BE49-F238E27FC236}">
                  <a16:creationId xmlns:a16="http://schemas.microsoft.com/office/drawing/2014/main" id="{204DFF43-8F60-5061-AD4A-8731E03C1751}"/>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2" name="Freeform 270">
              <a:extLst>
                <a:ext uri="{FF2B5EF4-FFF2-40B4-BE49-F238E27FC236}">
                  <a16:creationId xmlns:a16="http://schemas.microsoft.com/office/drawing/2014/main" id="{EFECC0E2-F380-AB53-49CC-0BE89ABE566C}"/>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3" name="Freeform 271">
              <a:extLst>
                <a:ext uri="{FF2B5EF4-FFF2-40B4-BE49-F238E27FC236}">
                  <a16:creationId xmlns:a16="http://schemas.microsoft.com/office/drawing/2014/main" id="{773E2137-6CC2-B3B3-D0B1-2D0A5644641C}"/>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4" name="Freeform 272">
              <a:extLst>
                <a:ext uri="{FF2B5EF4-FFF2-40B4-BE49-F238E27FC236}">
                  <a16:creationId xmlns:a16="http://schemas.microsoft.com/office/drawing/2014/main" id="{DBD2A34C-AE72-E820-D1C9-2C8412BDDC56}"/>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5" name="Freeform 273">
              <a:extLst>
                <a:ext uri="{FF2B5EF4-FFF2-40B4-BE49-F238E27FC236}">
                  <a16:creationId xmlns:a16="http://schemas.microsoft.com/office/drawing/2014/main" id="{016E2097-C7AA-BD95-D8F7-0CEEE7731364}"/>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6" name="Freeform 274">
              <a:extLst>
                <a:ext uri="{FF2B5EF4-FFF2-40B4-BE49-F238E27FC236}">
                  <a16:creationId xmlns:a16="http://schemas.microsoft.com/office/drawing/2014/main" id="{6D45FAD9-9E79-2F13-DEFA-22855072051F}"/>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47" name="Freeform 275">
              <a:extLst>
                <a:ext uri="{FF2B5EF4-FFF2-40B4-BE49-F238E27FC236}">
                  <a16:creationId xmlns:a16="http://schemas.microsoft.com/office/drawing/2014/main" id="{0258C785-14F1-CFDE-5C02-0BAED0B0B084}"/>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0" name="Freeform 276">
              <a:extLst>
                <a:ext uri="{FF2B5EF4-FFF2-40B4-BE49-F238E27FC236}">
                  <a16:creationId xmlns:a16="http://schemas.microsoft.com/office/drawing/2014/main" id="{C99A6F01-BBD8-0ABE-C168-3557FB8EF472}"/>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71" name="Freeform 277">
              <a:extLst>
                <a:ext uri="{FF2B5EF4-FFF2-40B4-BE49-F238E27FC236}">
                  <a16:creationId xmlns:a16="http://schemas.microsoft.com/office/drawing/2014/main" id="{140FE084-DCCB-F14D-F798-BDB79963A57D}"/>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2" name="Freeform 278">
              <a:extLst>
                <a:ext uri="{FF2B5EF4-FFF2-40B4-BE49-F238E27FC236}">
                  <a16:creationId xmlns:a16="http://schemas.microsoft.com/office/drawing/2014/main" id="{96CD7238-F12F-6B4A-D498-45ADFF830A1B}"/>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3" name="Freeform 279">
              <a:extLst>
                <a:ext uri="{FF2B5EF4-FFF2-40B4-BE49-F238E27FC236}">
                  <a16:creationId xmlns:a16="http://schemas.microsoft.com/office/drawing/2014/main" id="{4EC78D20-4906-CCE7-BF8E-6E21405CD615}"/>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4" name="Freeform 280">
              <a:extLst>
                <a:ext uri="{FF2B5EF4-FFF2-40B4-BE49-F238E27FC236}">
                  <a16:creationId xmlns:a16="http://schemas.microsoft.com/office/drawing/2014/main" id="{81D8C5AF-C203-4E2F-8E14-EE819C3DBFCA}"/>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5" name="Freeform 281">
              <a:extLst>
                <a:ext uri="{FF2B5EF4-FFF2-40B4-BE49-F238E27FC236}">
                  <a16:creationId xmlns:a16="http://schemas.microsoft.com/office/drawing/2014/main" id="{B01FCD1B-10E3-F50B-400C-5F669A1DF500}"/>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6" name="Freeform 282">
              <a:extLst>
                <a:ext uri="{FF2B5EF4-FFF2-40B4-BE49-F238E27FC236}">
                  <a16:creationId xmlns:a16="http://schemas.microsoft.com/office/drawing/2014/main" id="{98011059-E5A0-BFB5-AD1B-A45918139468}"/>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7" name="Freeform 283">
              <a:extLst>
                <a:ext uri="{FF2B5EF4-FFF2-40B4-BE49-F238E27FC236}">
                  <a16:creationId xmlns:a16="http://schemas.microsoft.com/office/drawing/2014/main" id="{D6713F4F-D94E-9165-4189-49F226518BB1}"/>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8" name="Freeform 284">
              <a:extLst>
                <a:ext uri="{FF2B5EF4-FFF2-40B4-BE49-F238E27FC236}">
                  <a16:creationId xmlns:a16="http://schemas.microsoft.com/office/drawing/2014/main" id="{34567912-49D1-EE35-218A-EE1A71F0EA9F}"/>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79" name="Freeform 285">
              <a:extLst>
                <a:ext uri="{FF2B5EF4-FFF2-40B4-BE49-F238E27FC236}">
                  <a16:creationId xmlns:a16="http://schemas.microsoft.com/office/drawing/2014/main" id="{C4942040-FA80-88B8-DEEC-24EB516D54B4}"/>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0" name="Freeform 286">
              <a:extLst>
                <a:ext uri="{FF2B5EF4-FFF2-40B4-BE49-F238E27FC236}">
                  <a16:creationId xmlns:a16="http://schemas.microsoft.com/office/drawing/2014/main" id="{6DDCE589-6993-7E68-5029-524BF2BDD8B8}"/>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1" name="Freeform 287">
              <a:extLst>
                <a:ext uri="{FF2B5EF4-FFF2-40B4-BE49-F238E27FC236}">
                  <a16:creationId xmlns:a16="http://schemas.microsoft.com/office/drawing/2014/main" id="{476BBACA-B30F-F1B2-7E3C-0E312ACECD09}"/>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2" name="Freeform 288">
              <a:extLst>
                <a:ext uri="{FF2B5EF4-FFF2-40B4-BE49-F238E27FC236}">
                  <a16:creationId xmlns:a16="http://schemas.microsoft.com/office/drawing/2014/main" id="{70C09247-C0F1-5038-B0DF-E7D3DB1B9EAF}"/>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83" name="Freeform 289">
              <a:extLst>
                <a:ext uri="{FF2B5EF4-FFF2-40B4-BE49-F238E27FC236}">
                  <a16:creationId xmlns:a16="http://schemas.microsoft.com/office/drawing/2014/main" id="{CC4D63B9-DD40-4E58-B534-057E7AC29F80}"/>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4" name="Freeform 290">
              <a:extLst>
                <a:ext uri="{FF2B5EF4-FFF2-40B4-BE49-F238E27FC236}">
                  <a16:creationId xmlns:a16="http://schemas.microsoft.com/office/drawing/2014/main" id="{D399686C-4260-31B8-558E-84B58CB246F0}"/>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5" name="Freeform 291">
              <a:extLst>
                <a:ext uri="{FF2B5EF4-FFF2-40B4-BE49-F238E27FC236}">
                  <a16:creationId xmlns:a16="http://schemas.microsoft.com/office/drawing/2014/main" id="{6A4466A8-49D1-D1C8-4A76-494620EE7336}"/>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6" name="Freeform 292">
              <a:extLst>
                <a:ext uri="{FF2B5EF4-FFF2-40B4-BE49-F238E27FC236}">
                  <a16:creationId xmlns:a16="http://schemas.microsoft.com/office/drawing/2014/main" id="{F2D30FB3-828C-D3CE-0FAB-D6397E5510BE}"/>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7" name="Freeform 293">
              <a:extLst>
                <a:ext uri="{FF2B5EF4-FFF2-40B4-BE49-F238E27FC236}">
                  <a16:creationId xmlns:a16="http://schemas.microsoft.com/office/drawing/2014/main" id="{A8584AEC-14B7-D52A-0E91-45032F4F8BE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8" name="Freeform 294">
              <a:extLst>
                <a:ext uri="{FF2B5EF4-FFF2-40B4-BE49-F238E27FC236}">
                  <a16:creationId xmlns:a16="http://schemas.microsoft.com/office/drawing/2014/main" id="{582B68FD-FB5A-DE28-D3C7-077E6928F0F1}"/>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89" name="Freeform 295">
              <a:extLst>
                <a:ext uri="{FF2B5EF4-FFF2-40B4-BE49-F238E27FC236}">
                  <a16:creationId xmlns:a16="http://schemas.microsoft.com/office/drawing/2014/main" id="{CDE62B0C-A779-32CF-659D-C5F91A97D072}"/>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0" name="Freeform 296">
              <a:extLst>
                <a:ext uri="{FF2B5EF4-FFF2-40B4-BE49-F238E27FC236}">
                  <a16:creationId xmlns:a16="http://schemas.microsoft.com/office/drawing/2014/main" id="{A9437F6F-CCB1-9733-7095-7A866E223A01}"/>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1" name="Freeform 297">
              <a:extLst>
                <a:ext uri="{FF2B5EF4-FFF2-40B4-BE49-F238E27FC236}">
                  <a16:creationId xmlns:a16="http://schemas.microsoft.com/office/drawing/2014/main" id="{68783C50-7329-47DC-E6B8-A5726CE3B512}"/>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2" name="Freeform 298">
              <a:extLst>
                <a:ext uri="{FF2B5EF4-FFF2-40B4-BE49-F238E27FC236}">
                  <a16:creationId xmlns:a16="http://schemas.microsoft.com/office/drawing/2014/main" id="{9C6C88B1-89A8-B261-FDB4-E3FA59B30358}"/>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3" name="Freeform 299">
              <a:extLst>
                <a:ext uri="{FF2B5EF4-FFF2-40B4-BE49-F238E27FC236}">
                  <a16:creationId xmlns:a16="http://schemas.microsoft.com/office/drawing/2014/main" id="{F79C6E19-A8C8-98F7-DD1C-6E093BAE2889}"/>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94" name="Freeform 300">
              <a:extLst>
                <a:ext uri="{FF2B5EF4-FFF2-40B4-BE49-F238E27FC236}">
                  <a16:creationId xmlns:a16="http://schemas.microsoft.com/office/drawing/2014/main" id="{E5E5946B-DD7E-36EA-479A-37DA07E90758}"/>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5" name="Freeform 301">
              <a:extLst>
                <a:ext uri="{FF2B5EF4-FFF2-40B4-BE49-F238E27FC236}">
                  <a16:creationId xmlns:a16="http://schemas.microsoft.com/office/drawing/2014/main" id="{CC518AF2-37C7-CD5C-2902-371F8FCBD310}"/>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6" name="Freeform 302">
              <a:extLst>
                <a:ext uri="{FF2B5EF4-FFF2-40B4-BE49-F238E27FC236}">
                  <a16:creationId xmlns:a16="http://schemas.microsoft.com/office/drawing/2014/main" id="{A29CF615-BA6B-652E-BF66-D30CFE3F3C3F}"/>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7" name="Freeform 303">
              <a:extLst>
                <a:ext uri="{FF2B5EF4-FFF2-40B4-BE49-F238E27FC236}">
                  <a16:creationId xmlns:a16="http://schemas.microsoft.com/office/drawing/2014/main" id="{7E53395E-3919-0361-2176-E30FA2C9A196}"/>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8" name="Freeform 304">
              <a:extLst>
                <a:ext uri="{FF2B5EF4-FFF2-40B4-BE49-F238E27FC236}">
                  <a16:creationId xmlns:a16="http://schemas.microsoft.com/office/drawing/2014/main" id="{3FB79BED-ACC4-6D81-D9A1-814239A87502}"/>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99" name="Freeform 305">
              <a:extLst>
                <a:ext uri="{FF2B5EF4-FFF2-40B4-BE49-F238E27FC236}">
                  <a16:creationId xmlns:a16="http://schemas.microsoft.com/office/drawing/2014/main" id="{BCA35C30-88A3-CA33-2A33-F9D00AA9D4D6}"/>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0" name="Freeform 306">
              <a:extLst>
                <a:ext uri="{FF2B5EF4-FFF2-40B4-BE49-F238E27FC236}">
                  <a16:creationId xmlns:a16="http://schemas.microsoft.com/office/drawing/2014/main" id="{8C33A48F-601A-97D2-53C9-0E1767C573AC}"/>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1" name="Freeform 307">
              <a:extLst>
                <a:ext uri="{FF2B5EF4-FFF2-40B4-BE49-F238E27FC236}">
                  <a16:creationId xmlns:a16="http://schemas.microsoft.com/office/drawing/2014/main" id="{FFDBBC90-E1B9-C65B-1854-15E190A018D4}"/>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2" name="Freeform 308">
              <a:extLst>
                <a:ext uri="{FF2B5EF4-FFF2-40B4-BE49-F238E27FC236}">
                  <a16:creationId xmlns:a16="http://schemas.microsoft.com/office/drawing/2014/main" id="{2BE41E57-505A-52F7-BEE3-B9C24FFF9E77}"/>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3" name="Freeform 309">
              <a:extLst>
                <a:ext uri="{FF2B5EF4-FFF2-40B4-BE49-F238E27FC236}">
                  <a16:creationId xmlns:a16="http://schemas.microsoft.com/office/drawing/2014/main" id="{398DD46E-27C2-5E1A-C1CD-EE8449313E43}"/>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04" name="Freeform 310">
              <a:extLst>
                <a:ext uri="{FF2B5EF4-FFF2-40B4-BE49-F238E27FC236}">
                  <a16:creationId xmlns:a16="http://schemas.microsoft.com/office/drawing/2014/main" id="{AC7D37C5-40D8-02E7-29E0-D16651DED346}"/>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5" name="Freeform 311">
              <a:extLst>
                <a:ext uri="{FF2B5EF4-FFF2-40B4-BE49-F238E27FC236}">
                  <a16:creationId xmlns:a16="http://schemas.microsoft.com/office/drawing/2014/main" id="{72C658A6-08A2-B8DE-912F-CFCC2D602B46}"/>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6" name="Freeform 312">
              <a:extLst>
                <a:ext uri="{FF2B5EF4-FFF2-40B4-BE49-F238E27FC236}">
                  <a16:creationId xmlns:a16="http://schemas.microsoft.com/office/drawing/2014/main" id="{0F02355A-F51F-623B-D59B-644390AE402F}"/>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7" name="Freeform 313">
              <a:extLst>
                <a:ext uri="{FF2B5EF4-FFF2-40B4-BE49-F238E27FC236}">
                  <a16:creationId xmlns:a16="http://schemas.microsoft.com/office/drawing/2014/main" id="{024EB03D-6AA4-152E-D768-9896CE2407B6}"/>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8" name="Freeform 314">
              <a:extLst>
                <a:ext uri="{FF2B5EF4-FFF2-40B4-BE49-F238E27FC236}">
                  <a16:creationId xmlns:a16="http://schemas.microsoft.com/office/drawing/2014/main" id="{D9928103-0507-43E9-2D2E-C18839262403}"/>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09" name="Freeform 315">
              <a:extLst>
                <a:ext uri="{FF2B5EF4-FFF2-40B4-BE49-F238E27FC236}">
                  <a16:creationId xmlns:a16="http://schemas.microsoft.com/office/drawing/2014/main" id="{0BF8F70F-8AE1-D026-5040-743FC2A96EDF}"/>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0" name="Freeform 316">
              <a:extLst>
                <a:ext uri="{FF2B5EF4-FFF2-40B4-BE49-F238E27FC236}">
                  <a16:creationId xmlns:a16="http://schemas.microsoft.com/office/drawing/2014/main" id="{66254E64-D979-AE5E-90A2-63B975DA588C}"/>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1" name="Freeform 317">
              <a:extLst>
                <a:ext uri="{FF2B5EF4-FFF2-40B4-BE49-F238E27FC236}">
                  <a16:creationId xmlns:a16="http://schemas.microsoft.com/office/drawing/2014/main" id="{37B1BCEC-A05F-48B8-8372-99D6AB616821}"/>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2" name="Freeform 318">
              <a:extLst>
                <a:ext uri="{FF2B5EF4-FFF2-40B4-BE49-F238E27FC236}">
                  <a16:creationId xmlns:a16="http://schemas.microsoft.com/office/drawing/2014/main" id="{E8060996-7113-9FD3-56DB-B5A3AE9F9050}"/>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13" name="Freeform 319">
              <a:extLst>
                <a:ext uri="{FF2B5EF4-FFF2-40B4-BE49-F238E27FC236}">
                  <a16:creationId xmlns:a16="http://schemas.microsoft.com/office/drawing/2014/main" id="{4EAB4848-803F-5A36-31F4-649A756733BD}"/>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4" name="Freeform 320">
              <a:extLst>
                <a:ext uri="{FF2B5EF4-FFF2-40B4-BE49-F238E27FC236}">
                  <a16:creationId xmlns:a16="http://schemas.microsoft.com/office/drawing/2014/main" id="{784BCB5E-CEB6-66EA-B81C-C2C975332E3C}"/>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5" name="Freeform 321">
              <a:extLst>
                <a:ext uri="{FF2B5EF4-FFF2-40B4-BE49-F238E27FC236}">
                  <a16:creationId xmlns:a16="http://schemas.microsoft.com/office/drawing/2014/main" id="{0DECC335-4F23-9A6D-E309-4E2171C79B97}"/>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6" name="Freeform 322">
              <a:extLst>
                <a:ext uri="{FF2B5EF4-FFF2-40B4-BE49-F238E27FC236}">
                  <a16:creationId xmlns:a16="http://schemas.microsoft.com/office/drawing/2014/main" id="{A632A6E9-C6F7-2FC3-3D31-3C9D08A5791D}"/>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7" name="Freeform 323">
              <a:extLst>
                <a:ext uri="{FF2B5EF4-FFF2-40B4-BE49-F238E27FC236}">
                  <a16:creationId xmlns:a16="http://schemas.microsoft.com/office/drawing/2014/main" id="{946D5873-A965-8FF2-B841-3406ABB8A00B}"/>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8" name="Freeform 324">
              <a:extLst>
                <a:ext uri="{FF2B5EF4-FFF2-40B4-BE49-F238E27FC236}">
                  <a16:creationId xmlns:a16="http://schemas.microsoft.com/office/drawing/2014/main" id="{DC679F07-6F90-FC7A-61AA-16002DF299F7}"/>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19" name="Freeform 325">
              <a:extLst>
                <a:ext uri="{FF2B5EF4-FFF2-40B4-BE49-F238E27FC236}">
                  <a16:creationId xmlns:a16="http://schemas.microsoft.com/office/drawing/2014/main" id="{71F796E6-8787-A9AC-715E-0CF54AA37A8A}"/>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0" name="Freeform 326">
              <a:extLst>
                <a:ext uri="{FF2B5EF4-FFF2-40B4-BE49-F238E27FC236}">
                  <a16:creationId xmlns:a16="http://schemas.microsoft.com/office/drawing/2014/main" id="{C1FDB8E9-BD53-380C-A31E-530FC243D2A2}"/>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1" name="Freeform 327">
              <a:extLst>
                <a:ext uri="{FF2B5EF4-FFF2-40B4-BE49-F238E27FC236}">
                  <a16:creationId xmlns:a16="http://schemas.microsoft.com/office/drawing/2014/main" id="{1685112B-5B87-CE7A-4D14-A5620BB955A5}"/>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2" name="Freeform 328">
              <a:extLst>
                <a:ext uri="{FF2B5EF4-FFF2-40B4-BE49-F238E27FC236}">
                  <a16:creationId xmlns:a16="http://schemas.microsoft.com/office/drawing/2014/main" id="{80F1E9DD-61C1-9F95-451A-87E5DB165D92}"/>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3" name="Freeform 329">
              <a:extLst>
                <a:ext uri="{FF2B5EF4-FFF2-40B4-BE49-F238E27FC236}">
                  <a16:creationId xmlns:a16="http://schemas.microsoft.com/office/drawing/2014/main" id="{9A3DF3D6-8D91-97B7-7164-FDF35A6CEF9D}"/>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4" name="Freeform 330">
              <a:extLst>
                <a:ext uri="{FF2B5EF4-FFF2-40B4-BE49-F238E27FC236}">
                  <a16:creationId xmlns:a16="http://schemas.microsoft.com/office/drawing/2014/main" id="{FDF59E1D-B617-A7D4-0D92-0ECBEAA87D7F}"/>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5" name="Freeform 331">
              <a:extLst>
                <a:ext uri="{FF2B5EF4-FFF2-40B4-BE49-F238E27FC236}">
                  <a16:creationId xmlns:a16="http://schemas.microsoft.com/office/drawing/2014/main" id="{B62215A1-D7C7-5EF4-8261-0D2C25B84C5A}"/>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6" name="Freeform 332">
              <a:extLst>
                <a:ext uri="{FF2B5EF4-FFF2-40B4-BE49-F238E27FC236}">
                  <a16:creationId xmlns:a16="http://schemas.microsoft.com/office/drawing/2014/main" id="{86483B90-F6C2-39FD-28CF-F9EF02E97061}"/>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7" name="Freeform 333">
              <a:extLst>
                <a:ext uri="{FF2B5EF4-FFF2-40B4-BE49-F238E27FC236}">
                  <a16:creationId xmlns:a16="http://schemas.microsoft.com/office/drawing/2014/main" id="{39108576-8F5D-B783-8832-FADC767E1BE8}"/>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28" name="Freeform 334">
              <a:extLst>
                <a:ext uri="{FF2B5EF4-FFF2-40B4-BE49-F238E27FC236}">
                  <a16:creationId xmlns:a16="http://schemas.microsoft.com/office/drawing/2014/main" id="{3E054E86-096B-BE23-676A-BCD51AFE7E86}"/>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29" name="Freeform 335">
              <a:extLst>
                <a:ext uri="{FF2B5EF4-FFF2-40B4-BE49-F238E27FC236}">
                  <a16:creationId xmlns:a16="http://schemas.microsoft.com/office/drawing/2014/main" id="{E1654EAA-078C-0C61-41BB-2813AF690FD8}"/>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0" name="Freeform 336">
              <a:extLst>
                <a:ext uri="{FF2B5EF4-FFF2-40B4-BE49-F238E27FC236}">
                  <a16:creationId xmlns:a16="http://schemas.microsoft.com/office/drawing/2014/main" id="{86EA32F3-E481-3D80-9739-3D3AC5584878}"/>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1" name="Freeform 337">
              <a:extLst>
                <a:ext uri="{FF2B5EF4-FFF2-40B4-BE49-F238E27FC236}">
                  <a16:creationId xmlns:a16="http://schemas.microsoft.com/office/drawing/2014/main" id="{30332D6B-62F0-C3B4-87E4-CB61041F0BD1}"/>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2" name="Freeform 338">
              <a:extLst>
                <a:ext uri="{FF2B5EF4-FFF2-40B4-BE49-F238E27FC236}">
                  <a16:creationId xmlns:a16="http://schemas.microsoft.com/office/drawing/2014/main" id="{FCAC7FDD-CF55-C30B-9683-3633BD0D73B0}"/>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3" name="Freeform 339">
              <a:extLst>
                <a:ext uri="{FF2B5EF4-FFF2-40B4-BE49-F238E27FC236}">
                  <a16:creationId xmlns:a16="http://schemas.microsoft.com/office/drawing/2014/main" id="{21C49C69-D7A7-4C5A-A7C1-5C74C545659C}"/>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34" name="Freeform 340">
              <a:extLst>
                <a:ext uri="{FF2B5EF4-FFF2-40B4-BE49-F238E27FC236}">
                  <a16:creationId xmlns:a16="http://schemas.microsoft.com/office/drawing/2014/main" id="{39F60EAE-F9DB-8C7C-D2B9-AD6CCE4E03A4}"/>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35" name="Freeform 341">
              <a:extLst>
                <a:ext uri="{FF2B5EF4-FFF2-40B4-BE49-F238E27FC236}">
                  <a16:creationId xmlns:a16="http://schemas.microsoft.com/office/drawing/2014/main" id="{196CBEEA-83C3-128D-C549-808BBDB8CC5C}"/>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7" name="Freeform 342">
              <a:extLst>
                <a:ext uri="{FF2B5EF4-FFF2-40B4-BE49-F238E27FC236}">
                  <a16:creationId xmlns:a16="http://schemas.microsoft.com/office/drawing/2014/main" id="{2054E0FC-2CD5-05F9-7DA0-3E639B79AB80}"/>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8" name="Freeform 343">
              <a:extLst>
                <a:ext uri="{FF2B5EF4-FFF2-40B4-BE49-F238E27FC236}">
                  <a16:creationId xmlns:a16="http://schemas.microsoft.com/office/drawing/2014/main" id="{D78BB244-958E-6151-02CB-8F10843BBBC6}"/>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9" name="Freeform 344">
              <a:extLst>
                <a:ext uri="{FF2B5EF4-FFF2-40B4-BE49-F238E27FC236}">
                  <a16:creationId xmlns:a16="http://schemas.microsoft.com/office/drawing/2014/main" id="{AE1B6A5A-D28A-EE0E-B83F-352CBE0D2C8A}"/>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0" name="Freeform 345">
              <a:extLst>
                <a:ext uri="{FF2B5EF4-FFF2-40B4-BE49-F238E27FC236}">
                  <a16:creationId xmlns:a16="http://schemas.microsoft.com/office/drawing/2014/main" id="{FAFF526A-A277-4ABC-4C5D-CE10C9A927A4}"/>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1" name="Freeform 346">
              <a:extLst>
                <a:ext uri="{FF2B5EF4-FFF2-40B4-BE49-F238E27FC236}">
                  <a16:creationId xmlns:a16="http://schemas.microsoft.com/office/drawing/2014/main" id="{11F1D3EE-5553-218B-3E90-5AE1BAA7C33B}"/>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2" name="Freeform 347">
              <a:extLst>
                <a:ext uri="{FF2B5EF4-FFF2-40B4-BE49-F238E27FC236}">
                  <a16:creationId xmlns:a16="http://schemas.microsoft.com/office/drawing/2014/main" id="{127944C4-A3F6-4CD6-9A64-E88AEEF76B60}"/>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3" name="Freeform 348">
              <a:extLst>
                <a:ext uri="{FF2B5EF4-FFF2-40B4-BE49-F238E27FC236}">
                  <a16:creationId xmlns:a16="http://schemas.microsoft.com/office/drawing/2014/main" id="{F06EB65C-0C92-8BEB-64B2-254A59F44C05}"/>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4" name="Freeform 349">
              <a:extLst>
                <a:ext uri="{FF2B5EF4-FFF2-40B4-BE49-F238E27FC236}">
                  <a16:creationId xmlns:a16="http://schemas.microsoft.com/office/drawing/2014/main" id="{1AF17610-BB3B-4BC8-87FD-85A0090BF7D9}"/>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5" name="Freeform 350">
              <a:extLst>
                <a:ext uri="{FF2B5EF4-FFF2-40B4-BE49-F238E27FC236}">
                  <a16:creationId xmlns:a16="http://schemas.microsoft.com/office/drawing/2014/main" id="{8B76B50F-395D-54C9-00DE-6DBB35FB5D8B}"/>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6" name="Freeform 351">
              <a:extLst>
                <a:ext uri="{FF2B5EF4-FFF2-40B4-BE49-F238E27FC236}">
                  <a16:creationId xmlns:a16="http://schemas.microsoft.com/office/drawing/2014/main" id="{487FB3FB-902B-BD19-B9B3-6F50824F3C47}"/>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7" name="Freeform 352">
              <a:extLst>
                <a:ext uri="{FF2B5EF4-FFF2-40B4-BE49-F238E27FC236}">
                  <a16:creationId xmlns:a16="http://schemas.microsoft.com/office/drawing/2014/main" id="{21549FEB-9AA0-2F61-1762-ABA8D1F5B478}"/>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68" name="Freeform 353">
              <a:extLst>
                <a:ext uri="{FF2B5EF4-FFF2-40B4-BE49-F238E27FC236}">
                  <a16:creationId xmlns:a16="http://schemas.microsoft.com/office/drawing/2014/main" id="{16E9E1C3-84A3-C68E-9B4E-BAD2ADE6F847}"/>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69" name="Freeform 354">
              <a:extLst>
                <a:ext uri="{FF2B5EF4-FFF2-40B4-BE49-F238E27FC236}">
                  <a16:creationId xmlns:a16="http://schemas.microsoft.com/office/drawing/2014/main" id="{E3012E06-725C-3F08-D8E2-C039C1D86CD5}"/>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70" name="Freeform 355">
              <a:extLst>
                <a:ext uri="{FF2B5EF4-FFF2-40B4-BE49-F238E27FC236}">
                  <a16:creationId xmlns:a16="http://schemas.microsoft.com/office/drawing/2014/main" id="{C55C85AA-012E-495E-2451-115085668593}"/>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71" name="Rectangle 370">
            <a:extLst>
              <a:ext uri="{FF2B5EF4-FFF2-40B4-BE49-F238E27FC236}">
                <a16:creationId xmlns:a16="http://schemas.microsoft.com/office/drawing/2014/main" id="{1032C0B9-A274-0FD6-ABF7-2CC7339D3861}"/>
              </a:ext>
            </a:extLst>
          </p:cNvPr>
          <p:cNvSpPr/>
          <p:nvPr/>
        </p:nvSpPr>
        <p:spPr>
          <a:xfrm>
            <a:off x="1082078" y="662619"/>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B210AB96-B5EE-0888-520D-CD2BD8B3B87C}"/>
              </a:ext>
            </a:extLst>
          </p:cNvPr>
          <p:cNvPicPr>
            <a:picLocks noChangeAspect="1"/>
          </p:cNvPicPr>
          <p:nvPr/>
        </p:nvPicPr>
        <p:blipFill>
          <a:blip r:embed="rId2"/>
          <a:stretch>
            <a:fillRect/>
          </a:stretch>
        </p:blipFill>
        <p:spPr>
          <a:xfrm>
            <a:off x="2930700" y="606910"/>
            <a:ext cx="4519052" cy="6139791"/>
          </a:xfrm>
          <a:prstGeom prst="rect">
            <a:avLst/>
          </a:prstGeom>
        </p:spPr>
      </p:pic>
      <p:pic>
        <p:nvPicPr>
          <p:cNvPr id="48" name="Picture 47">
            <a:extLst>
              <a:ext uri="{FF2B5EF4-FFF2-40B4-BE49-F238E27FC236}">
                <a16:creationId xmlns:a16="http://schemas.microsoft.com/office/drawing/2014/main" id="{F672AC17-7EDF-2C4F-DCC7-B704CD9E256A}"/>
              </a:ext>
            </a:extLst>
          </p:cNvPr>
          <p:cNvPicPr>
            <a:picLocks noChangeAspect="1"/>
          </p:cNvPicPr>
          <p:nvPr/>
        </p:nvPicPr>
        <p:blipFill>
          <a:blip r:embed="rId3"/>
          <a:stretch>
            <a:fillRect/>
          </a:stretch>
        </p:blipFill>
        <p:spPr>
          <a:xfrm>
            <a:off x="7684408" y="606909"/>
            <a:ext cx="4244708" cy="6139791"/>
          </a:xfrm>
          <a:prstGeom prst="rect">
            <a:avLst/>
          </a:prstGeom>
        </p:spPr>
      </p:pic>
      <p:sp>
        <p:nvSpPr>
          <p:cNvPr id="49" name="TextBox 48">
            <a:extLst>
              <a:ext uri="{FF2B5EF4-FFF2-40B4-BE49-F238E27FC236}">
                <a16:creationId xmlns:a16="http://schemas.microsoft.com/office/drawing/2014/main" id="{FE23BE82-F97E-B2A3-42B5-65483339B9F4}"/>
              </a:ext>
            </a:extLst>
          </p:cNvPr>
          <p:cNvSpPr txBox="1"/>
          <p:nvPr/>
        </p:nvSpPr>
        <p:spPr>
          <a:xfrm>
            <a:off x="155275" y="2358247"/>
            <a:ext cx="2775425" cy="1200329"/>
          </a:xfrm>
          <a:prstGeom prst="rect">
            <a:avLst/>
          </a:prstGeom>
          <a:noFill/>
        </p:spPr>
        <p:txBody>
          <a:bodyPr wrap="square" rtlCol="0">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AR</a:t>
            </a:r>
          </a:p>
          <a:p>
            <a:r>
              <a:rPr lang="en-IN" sz="3600" b="1" dirty="0">
                <a:solidFill>
                  <a:srgbClr val="FF0000"/>
                </a:solidFill>
                <a:latin typeface="Times New Roman" panose="02020603050405020304" pitchFamily="18" charset="0"/>
                <a:cs typeface="Times New Roman" panose="02020603050405020304" pitchFamily="18" charset="0"/>
              </a:rPr>
              <a:t>Architecture</a:t>
            </a:r>
          </a:p>
        </p:txBody>
      </p:sp>
      <p:sp>
        <p:nvSpPr>
          <p:cNvPr id="50" name="TextBox 49">
            <a:extLst>
              <a:ext uri="{FF2B5EF4-FFF2-40B4-BE49-F238E27FC236}">
                <a16:creationId xmlns:a16="http://schemas.microsoft.com/office/drawing/2014/main" id="{35594E7E-08E8-7E79-3FCD-D9979B368B36}"/>
              </a:ext>
            </a:extLst>
          </p:cNvPr>
          <p:cNvSpPr txBox="1"/>
          <p:nvPr/>
        </p:nvSpPr>
        <p:spPr>
          <a:xfrm>
            <a:off x="7547236" y="185565"/>
            <a:ext cx="4519052" cy="477054"/>
          </a:xfrm>
          <a:prstGeom prst="rect">
            <a:avLst/>
          </a:prstGeom>
          <a:noFill/>
        </p:spPr>
        <p:txBody>
          <a:bodyPr wrap="square" rtlCol="0">
            <a:spAutoFit/>
          </a:bodyPr>
          <a:lstStyle/>
          <a:p>
            <a:pPr algn="ctr"/>
            <a:r>
              <a:rPr lang="en-US" sz="2500" b="1" dirty="0">
                <a:solidFill>
                  <a:srgbClr val="FF0000"/>
                </a:solidFill>
                <a:latin typeface="Times New Roman" panose="02020603050405020304" pitchFamily="18" charset="0"/>
                <a:cs typeface="Times New Roman" panose="02020603050405020304" pitchFamily="18" charset="0"/>
              </a:rPr>
              <a:t>NEW</a:t>
            </a:r>
            <a:endParaRPr lang="en-IN" sz="2500" b="1" dirty="0">
              <a:solidFill>
                <a:srgbClr val="FF0000"/>
              </a:solidFill>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4BA0E8EB-AA2E-DE8C-0EB8-1EB05A4F5F96}"/>
              </a:ext>
            </a:extLst>
          </p:cNvPr>
          <p:cNvSpPr txBox="1"/>
          <p:nvPr/>
        </p:nvSpPr>
        <p:spPr>
          <a:xfrm>
            <a:off x="2930700" y="166118"/>
            <a:ext cx="4519052" cy="477054"/>
          </a:xfrm>
          <a:prstGeom prst="rect">
            <a:avLst/>
          </a:prstGeom>
          <a:noFill/>
        </p:spPr>
        <p:txBody>
          <a:bodyPr wrap="square" rtlCol="0">
            <a:spAutoFit/>
          </a:bodyPr>
          <a:lstStyle/>
          <a:p>
            <a:pPr algn="ctr"/>
            <a:r>
              <a:rPr lang="en-US" sz="2500" b="1" dirty="0">
                <a:solidFill>
                  <a:srgbClr val="FF0000"/>
                </a:solidFill>
                <a:latin typeface="Times New Roman" panose="02020603050405020304" pitchFamily="18" charset="0"/>
                <a:cs typeface="Times New Roman" panose="02020603050405020304" pitchFamily="18" charset="0"/>
              </a:rPr>
              <a:t>OLD</a:t>
            </a:r>
            <a:endParaRPr lang="en-IN" sz="25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4428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1EC178-C980-F59E-C754-A52D8290E087}"/>
              </a:ext>
            </a:extLst>
          </p:cNvPr>
          <p:cNvSpPr txBox="1"/>
          <p:nvPr/>
        </p:nvSpPr>
        <p:spPr>
          <a:xfrm>
            <a:off x="871267" y="17253"/>
            <a:ext cx="6754483" cy="769441"/>
          </a:xfrm>
          <a:prstGeom prst="rect">
            <a:avLst/>
          </a:prstGeom>
          <a:noFill/>
        </p:spPr>
        <p:txBody>
          <a:bodyPr wrap="square" rtlCol="0">
            <a:spAutoFit/>
          </a:bodyPr>
          <a:lstStyle/>
          <a:p>
            <a:r>
              <a:rPr lang="en-US" sz="4400" b="1" dirty="0">
                <a:solidFill>
                  <a:srgbClr val="FF0000"/>
                </a:solidFill>
                <a:latin typeface="Times New Roman" panose="02020603050405020304" pitchFamily="18" charset="0"/>
                <a:cs typeface="Times New Roman" panose="02020603050405020304" pitchFamily="18" charset="0"/>
              </a:rPr>
              <a:t>IMPROVEMENTS</a:t>
            </a:r>
            <a:endParaRPr lang="en-IN" sz="44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B6D387C-424C-7D8C-423B-14CA90AA81DC}"/>
              </a:ext>
            </a:extLst>
          </p:cNvPr>
          <p:cNvSpPr txBox="1"/>
          <p:nvPr/>
        </p:nvSpPr>
        <p:spPr>
          <a:xfrm>
            <a:off x="1092679" y="786694"/>
            <a:ext cx="10006642" cy="5632311"/>
          </a:xfrm>
          <a:prstGeom prst="rect">
            <a:avLst/>
          </a:prstGeom>
          <a:noFill/>
        </p:spPr>
        <p:txBody>
          <a:bodyPr wrap="square" rtlCol="0">
            <a:spAutoFit/>
          </a:bodyPr>
          <a:lstStyle/>
          <a:p>
            <a:r>
              <a:rPr lang="en-IN" b="1" dirty="0"/>
              <a:t>1. Embedding Scaling Restored</a:t>
            </a:r>
          </a:p>
          <a:p>
            <a:pPr lvl="1" algn="just"/>
            <a:r>
              <a:rPr lang="en-IN" dirty="0"/>
              <a:t>The model converts each character/token into a numerical representation called an </a:t>
            </a:r>
            <a:r>
              <a:rPr lang="en-IN" b="1" dirty="0"/>
              <a:t>embedding</a:t>
            </a:r>
            <a:r>
              <a:rPr lang="en-IN" dirty="0"/>
              <a:t>. These embeddings are now multiplied by a scaling factor before being sent into the Transformer. This helps the model learn more smoothly and keeps the training process stable, especially in the attention layers.</a:t>
            </a:r>
          </a:p>
          <a:p>
            <a:r>
              <a:rPr lang="en-IN" b="1" dirty="0"/>
              <a:t>2. Weight Tying</a:t>
            </a:r>
          </a:p>
          <a:p>
            <a:pPr lvl="1" algn="just"/>
            <a:r>
              <a:rPr lang="en-IN" dirty="0"/>
              <a:t>The model now uses the </a:t>
            </a:r>
            <a:r>
              <a:rPr lang="en-IN" b="1" dirty="0"/>
              <a:t>same weights</a:t>
            </a:r>
            <a:r>
              <a:rPr lang="en-IN" dirty="0"/>
              <a:t> for both:</a:t>
            </a:r>
          </a:p>
          <a:p>
            <a:pPr marL="742950" lvl="1" indent="-285750" algn="just">
              <a:buFont typeface="Arial" panose="020B0604020202020204" pitchFamily="34" charset="0"/>
              <a:buChar char="•"/>
            </a:pPr>
            <a:r>
              <a:rPr lang="en-IN" dirty="0"/>
              <a:t>Converting tokens into embeddings (input side) </a:t>
            </a:r>
          </a:p>
          <a:p>
            <a:pPr marL="742950" lvl="1" indent="-285750" algn="just">
              <a:buFont typeface="Arial" panose="020B0604020202020204" pitchFamily="34" charset="0"/>
              <a:buChar char="•"/>
            </a:pPr>
            <a:r>
              <a:rPr lang="en-IN" dirty="0"/>
              <a:t>Predicting output tokens (output side) </a:t>
            </a:r>
          </a:p>
          <a:p>
            <a:pPr lvl="1" algn="just"/>
            <a:r>
              <a:rPr lang="en-IN" dirty="0"/>
              <a:t>Instead of learning two separate sets of parameters, it shares one set. This reduces the number of parameters, improves learning efficiency, and usually helps the model converge faster and achieve better accuracy.</a:t>
            </a:r>
          </a:p>
          <a:p>
            <a:r>
              <a:rPr lang="en-IN" b="1" dirty="0"/>
              <a:t>3. Improved Regularization Settings</a:t>
            </a:r>
          </a:p>
          <a:p>
            <a:pPr marL="742950" lvl="1" indent="-285750">
              <a:buFont typeface="Arial" panose="020B0604020202020204" pitchFamily="34" charset="0"/>
              <a:buChar char="•"/>
            </a:pPr>
            <a:r>
              <a:rPr lang="en-IN" b="1" dirty="0"/>
              <a:t>Batch Size Reduced to 64</a:t>
            </a:r>
          </a:p>
          <a:p>
            <a:pPr lvl="2"/>
            <a:r>
              <a:rPr lang="en-IN" dirty="0"/>
              <a:t>The model now processes 64 samples at a time instead of a larger batch size. Smaller batches often help the model find more robust solutions and generalize better to unseen handwriting.</a:t>
            </a:r>
          </a:p>
          <a:p>
            <a:pPr marL="742950" lvl="1" indent="-285750">
              <a:buFont typeface="Arial" panose="020B0604020202020204" pitchFamily="34" charset="0"/>
              <a:buChar char="•"/>
            </a:pPr>
            <a:r>
              <a:rPr lang="en-IN" b="1" dirty="0"/>
              <a:t>Dropout Reduced to 0.15</a:t>
            </a:r>
          </a:p>
          <a:p>
            <a:pPr lvl="2"/>
            <a:r>
              <a:rPr lang="en-IN" dirty="0"/>
              <a:t>Dropout randomly disables a small percentage of neurons during training to prevent overfitting. Lowering dropout to 0.15 retains more information during training while still providing regularization.</a:t>
            </a:r>
          </a:p>
          <a:p>
            <a:endParaRPr lang="en-IN" dirty="0"/>
          </a:p>
        </p:txBody>
      </p:sp>
    </p:spTree>
    <p:extLst>
      <p:ext uri="{BB962C8B-B14F-4D97-AF65-F5344CB8AC3E}">
        <p14:creationId xmlns:p14="http://schemas.microsoft.com/office/powerpoint/2010/main" val="518674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1C3AD-955E-D9D5-EF0D-CF14E75088ED}"/>
            </a:ext>
          </a:extLst>
        </p:cNvPr>
        <p:cNvGrpSpPr/>
        <p:nvPr/>
      </p:nvGrpSpPr>
      <p:grpSpPr>
        <a:xfrm>
          <a:off x="0" y="0"/>
          <a:ext cx="0" cy="0"/>
          <a:chOff x="0" y="0"/>
          <a:chExt cx="0" cy="0"/>
        </a:xfrm>
      </p:grpSpPr>
      <p:grpSp>
        <p:nvGrpSpPr>
          <p:cNvPr id="48" name="Group 47">
            <a:extLst>
              <a:ext uri="{FF2B5EF4-FFF2-40B4-BE49-F238E27FC236}">
                <a16:creationId xmlns:a16="http://schemas.microsoft.com/office/drawing/2014/main" id="{DEDA8D12-4438-B4F5-9267-ED7EA71CB0AA}"/>
              </a:ext>
            </a:extLst>
          </p:cNvPr>
          <p:cNvGrpSpPr/>
          <p:nvPr/>
        </p:nvGrpSpPr>
        <p:grpSpPr>
          <a:xfrm>
            <a:off x="10319546" y="61137"/>
            <a:ext cx="1813078" cy="1709844"/>
            <a:chOff x="4301836" y="1542184"/>
            <a:chExt cx="4242954" cy="4001365"/>
          </a:xfrm>
          <a:solidFill>
            <a:schemeClr val="bg1"/>
          </a:solidFill>
        </p:grpSpPr>
        <p:sp>
          <p:nvSpPr>
            <p:cNvPr id="49" name="Freeform 48">
              <a:extLst>
                <a:ext uri="{FF2B5EF4-FFF2-40B4-BE49-F238E27FC236}">
                  <a16:creationId xmlns:a16="http://schemas.microsoft.com/office/drawing/2014/main" id="{DF715486-0AA9-BB5F-DEE5-7542AF1B31B1}"/>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6C1943C8-DF4E-457C-4CD5-B3A0C15FA4D0}"/>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9B73FE52-DF53-C042-6EEE-0CA06981AC04}"/>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65A6EBA4-ED59-8236-749D-59A714061D89}"/>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989B604B-DBCA-FC49-8730-0B5829388AFD}"/>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96697789-3CEC-3221-22E5-023FEA315B64}"/>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6F946BF5-1445-34B1-BBB4-5FC78B0D476A}"/>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79127489-5163-F492-BDF7-230180351C42}"/>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56F573D0-1CC5-321C-4521-36743C139265}"/>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7E597CE4-ACA2-A6B9-00BB-1D9B8EC24125}"/>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D27BD912-407D-B5DB-30FA-8AFD54673C42}"/>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7EDD4CC4-53B9-40BA-3F77-6D929B3477EB}"/>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0541151-DD60-7611-722C-58F63D92F32F}"/>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4F9A38CD-6063-60D7-F21C-3E181C0E0ECE}"/>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DA140649-CF58-0B9D-4DC6-84C6EEB4250F}"/>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3526DC87-F497-CFBC-8362-15506CDCC074}"/>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D995EFE5-CCB7-DD1C-131A-31AB436EECB3}"/>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EB20BAD8-F99D-F568-7EC5-C1044D667978}"/>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solidFill>
              <a:schemeClr val="bg1"/>
            </a:solidFill>
            <a:ln w="8653"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9BE23C7D-BD91-B200-0D75-F08A2D52FD77}"/>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4B594D4D-B7CB-A1D8-51B5-9341F93A0800}"/>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6A02162B-29C6-298A-EA57-BA5E17D3A01D}"/>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50259DE9-5426-1773-9B5A-ABB8278E4304}"/>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0578A579-74C4-9E9E-DC14-97B150A525E4}"/>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F36AC21E-748C-6F54-B6BB-7BFB43B1BBCA}"/>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9FF3533D-B543-2AED-2806-BFBF980D1F74}"/>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217E0D21-0AFE-4FA1-EDAC-BE2CEC215025}"/>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7E3706E2-89D2-B647-F7BC-83FC0042A24F}"/>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35F372C1-E2CF-D3D4-78A7-CD61B22625F6}"/>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B8069F52-E8AE-BB5D-30CA-BBB685B69EFE}"/>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6A13635-BB72-127D-0A61-FCA0E4782D3E}"/>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3DA7D246-DA7A-E4EB-E952-C517481B34C3}"/>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0" name="Freeform 79">
              <a:extLst>
                <a:ext uri="{FF2B5EF4-FFF2-40B4-BE49-F238E27FC236}">
                  <a16:creationId xmlns:a16="http://schemas.microsoft.com/office/drawing/2014/main" id="{E7DCB092-AC8E-22BB-59DB-C030A3EB1A7D}"/>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1" name="Freeform 80">
              <a:extLst>
                <a:ext uri="{FF2B5EF4-FFF2-40B4-BE49-F238E27FC236}">
                  <a16:creationId xmlns:a16="http://schemas.microsoft.com/office/drawing/2014/main" id="{82C5EE46-BE9E-E77E-3036-B8120A1C3D92}"/>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7C199248-2246-AEDE-2D92-08DABF0481D7}"/>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63008FBA-7DFA-3839-F783-501811864A63}"/>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1E2EF10A-4794-051A-2572-3E777C2A11B5}"/>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4D13C6ED-FF1E-5B19-04AE-DAC8986C7301}"/>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14FD3D3D-A52C-52B6-8646-367DCE6ECE80}"/>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4B8773C1-1E63-4787-6B5E-21094D6267B4}"/>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82B8B81E-00A6-5161-D3BB-6E01E494E070}"/>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ED4BF83C-7E4C-1243-873C-F81526B01564}"/>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6FA4CDCD-C391-AE55-359B-C444F71D6A00}"/>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2EB760D7-879E-186B-97F1-F23FDD839DAA}"/>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CCB42B33-A0F8-1357-1482-FA098AB4464A}"/>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3A86AD7E-C19A-A96A-D8DA-5DA142556ACD}"/>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2F32A729-BDD3-9DC6-7BAB-AC7509080764}"/>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2A3AD259-A618-C467-142B-4CD8FE70CD79}"/>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9508B7E4-CA66-F065-F061-56B150FDE99E}"/>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66338066-EE75-5123-41AF-425AFF719F53}"/>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8" name="Freeform 97">
              <a:extLst>
                <a:ext uri="{FF2B5EF4-FFF2-40B4-BE49-F238E27FC236}">
                  <a16:creationId xmlns:a16="http://schemas.microsoft.com/office/drawing/2014/main" id="{4908E9DB-115E-F921-86E6-2F2008014DC4}"/>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99" name="Freeform 98">
              <a:extLst>
                <a:ext uri="{FF2B5EF4-FFF2-40B4-BE49-F238E27FC236}">
                  <a16:creationId xmlns:a16="http://schemas.microsoft.com/office/drawing/2014/main" id="{63289A46-694B-8426-C4AF-B54FFB8ABDB5}"/>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0" name="Freeform 99">
              <a:extLst>
                <a:ext uri="{FF2B5EF4-FFF2-40B4-BE49-F238E27FC236}">
                  <a16:creationId xmlns:a16="http://schemas.microsoft.com/office/drawing/2014/main" id="{8C0C9F4A-6519-7941-F86A-A038BFE54AA5}"/>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1" name="Freeform 100">
              <a:extLst>
                <a:ext uri="{FF2B5EF4-FFF2-40B4-BE49-F238E27FC236}">
                  <a16:creationId xmlns:a16="http://schemas.microsoft.com/office/drawing/2014/main" id="{73F31516-32BD-933B-EDB8-94D739C58F0F}"/>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B5A9FD31-E0F9-3E3A-5BF2-6E621DAB674B}"/>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08FB11A2-32EA-6877-6262-B8C0F6165940}"/>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BAF395EF-FB98-0D38-EDCE-3DD1BC625438}"/>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F056C0EC-05C4-AE1D-92C3-75F63EF5BCB5}"/>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11E0BBE0-C9AF-20A2-3D2F-A50FD687E437}"/>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9862D304-5899-AE4D-D09D-D95F6B2EC567}"/>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1B172B5C-DE22-AA36-D80F-2D01501EC6B7}"/>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9085F63C-FF39-D5F6-8F79-15BA73488E88}"/>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7DC6E81C-BCEC-BDC3-F25E-068FFFAA5E33}"/>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A0178983-46E5-F3B8-D834-417443F76565}"/>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C887C362-B90D-21B1-E771-AF1F039EABC2}"/>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269C97EE-DE32-4709-E3D5-B1A14294229A}"/>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D81A4C3A-EDE6-8486-532D-37A0D0D17A50}"/>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E9E37873-EF58-65DA-A0AF-71930D35D578}"/>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4BD0F7DB-B32D-ABC2-41F1-18788F791345}"/>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04BD3422-1B9E-C0D3-9CCC-A4A3874CC21C}"/>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28DE45C9-B447-EDFA-03BE-BC9EA2AC334A}"/>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19" name="Freeform 118">
              <a:extLst>
                <a:ext uri="{FF2B5EF4-FFF2-40B4-BE49-F238E27FC236}">
                  <a16:creationId xmlns:a16="http://schemas.microsoft.com/office/drawing/2014/main" id="{6AE8F1F6-C868-24A7-CA65-C798A57AEB20}"/>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0" name="Freeform 119">
              <a:extLst>
                <a:ext uri="{FF2B5EF4-FFF2-40B4-BE49-F238E27FC236}">
                  <a16:creationId xmlns:a16="http://schemas.microsoft.com/office/drawing/2014/main" id="{366EB3CB-E0BC-1524-159C-AB395EE27718}"/>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1" name="Freeform 120">
              <a:extLst>
                <a:ext uri="{FF2B5EF4-FFF2-40B4-BE49-F238E27FC236}">
                  <a16:creationId xmlns:a16="http://schemas.microsoft.com/office/drawing/2014/main" id="{32B6CA77-6248-3225-A77A-B9DC1DB7FD6C}"/>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2" name="Freeform 121">
              <a:extLst>
                <a:ext uri="{FF2B5EF4-FFF2-40B4-BE49-F238E27FC236}">
                  <a16:creationId xmlns:a16="http://schemas.microsoft.com/office/drawing/2014/main" id="{B5F31590-13D6-EB3C-F815-57BDE6F0CFC8}"/>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23" name="Freeform 122">
              <a:extLst>
                <a:ext uri="{FF2B5EF4-FFF2-40B4-BE49-F238E27FC236}">
                  <a16:creationId xmlns:a16="http://schemas.microsoft.com/office/drawing/2014/main" id="{7A243F8B-EAA5-F8E5-D246-7E135D57FCCE}"/>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4" name="Freeform 123">
              <a:extLst>
                <a:ext uri="{FF2B5EF4-FFF2-40B4-BE49-F238E27FC236}">
                  <a16:creationId xmlns:a16="http://schemas.microsoft.com/office/drawing/2014/main" id="{64C4D8FD-6CD8-34F1-BB66-3816BBBB3517}"/>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5" name="Freeform 124">
              <a:extLst>
                <a:ext uri="{FF2B5EF4-FFF2-40B4-BE49-F238E27FC236}">
                  <a16:creationId xmlns:a16="http://schemas.microsoft.com/office/drawing/2014/main" id="{1F755220-F7AA-F2CF-F99C-99197F8158E5}"/>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6" name="Freeform 125">
              <a:extLst>
                <a:ext uri="{FF2B5EF4-FFF2-40B4-BE49-F238E27FC236}">
                  <a16:creationId xmlns:a16="http://schemas.microsoft.com/office/drawing/2014/main" id="{CEA5D5A8-8975-FAD6-E64B-B8FF41D9418F}"/>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7" name="Freeform 126">
              <a:extLst>
                <a:ext uri="{FF2B5EF4-FFF2-40B4-BE49-F238E27FC236}">
                  <a16:creationId xmlns:a16="http://schemas.microsoft.com/office/drawing/2014/main" id="{8ACA991D-2D9B-14E6-232B-D8C91422038F}"/>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09534260-8484-E5A8-1208-C1A805221C09}"/>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29" name="Freeform 128">
              <a:extLst>
                <a:ext uri="{FF2B5EF4-FFF2-40B4-BE49-F238E27FC236}">
                  <a16:creationId xmlns:a16="http://schemas.microsoft.com/office/drawing/2014/main" id="{18064EEC-C70F-A21B-563D-78ACA0406687}"/>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81124FC7-D64B-76EB-FF5E-2E24B27B1A0A}"/>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7EF5E7D9-A088-E5B5-1941-34C2B7E7D21B}"/>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C793A78B-E1F1-5822-21F8-0B339929F849}"/>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1C633B32-9E68-9FBB-A4AB-FBCF318649B4}"/>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F723CDB6-D570-FE93-3B6D-64F94D8AF592}"/>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4AFC0A83-0E27-8696-76FF-6AA0E13B477F}"/>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6" name="Freeform 135">
              <a:extLst>
                <a:ext uri="{FF2B5EF4-FFF2-40B4-BE49-F238E27FC236}">
                  <a16:creationId xmlns:a16="http://schemas.microsoft.com/office/drawing/2014/main" id="{ACAE9A13-6651-8C99-5A61-0869FB2F9CC3}"/>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56AAC5E2-C880-4914-CA76-96DB2637D9AA}"/>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16F76CA5-B074-DFB5-FA71-E1C46518AB07}"/>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AA05F154-1F2F-22ED-BA46-5C932D1A8BC7}"/>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68E99969-F5C7-9A00-0828-911A1FBBC09A}"/>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6B359E09-BABF-FBE9-BF20-52AAAAB5AF8A}"/>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DCFF3A15-918D-A4DE-C7A5-D96697685C40}"/>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7BC52C78-2770-397D-3321-7877BC41E55B}"/>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12FE0C99-581A-5870-4A4A-8BEFB6007F63}"/>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DF15864B-CB02-9E6C-441B-BFD70A04307B}"/>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7A93B092-5DC0-D718-A85B-7A3152E2CFDC}"/>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F26955A5-7E4D-028B-C3AF-879A35583D71}"/>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934F62CF-B036-079A-D5BB-C9CF8F51ACC5}"/>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E7F22E5A-2F99-4AA3-BA46-3D28FD32EB00}"/>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62926118-40DE-4777-37BB-4931A95D7B5F}"/>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44F1973E-7AAC-C5AE-4D37-18AE87ADEDF5}"/>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22180988-4BFB-8C0A-45C8-949D42DEB22F}"/>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447B43E6-AB2C-E889-3DEA-5F9A6AFF5840}"/>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95CF1BC9-E9B4-FC86-D0C5-AA530B0DC448}"/>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E125D5D1-3ADD-553C-C136-44AAA0E32462}"/>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A9FF69F6-C374-1FA8-309A-32AE33003FCC}"/>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5E2E1AFB-9827-2234-6CEE-C45F568EC1FA}"/>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75D91E2D-A03F-A0DF-070C-9D14E45CE900}"/>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4D6094DE-C4A3-06A5-1DCD-EEB37742BF77}"/>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BE25D6FB-F22D-162E-0A59-693A6206536F}"/>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AB158D78-3ACB-C1AB-4087-CF1B5FE01619}"/>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14CD565B-A9C4-3CBF-250E-789F504B73DF}"/>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B04F4FEE-A862-1A40-0784-DF2A3BEFD75D}"/>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8AEF44F1-9E2D-17A4-461D-130171D4CC56}"/>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85CA2F5D-83A5-4071-17E4-7EB6EA662316}"/>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F8511987-504F-AD55-27B2-026FE37D4A74}"/>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F5E132FD-BC1B-28C6-8820-459FAE5CECE0}"/>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A66ACD38-7D0D-3AF9-D782-A7E6015CDB92}"/>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3" name="Rectangle 2">
            <a:extLst>
              <a:ext uri="{FF2B5EF4-FFF2-40B4-BE49-F238E27FC236}">
                <a16:creationId xmlns:a16="http://schemas.microsoft.com/office/drawing/2014/main" id="{6EDD281B-AF3A-BE01-815F-BC92BF466E65}"/>
              </a:ext>
            </a:extLst>
          </p:cNvPr>
          <p:cNvSpPr/>
          <p:nvPr/>
        </p:nvSpPr>
        <p:spPr>
          <a:xfrm>
            <a:off x="814494" y="4624465"/>
            <a:ext cx="5658214" cy="5649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endParaRPr lang="en-US" sz="2800" dirty="0">
              <a:solidFill>
                <a:schemeClr val="tx1">
                  <a:lumMod val="65000"/>
                  <a:lumOff val="35000"/>
                </a:schemeClr>
              </a:solidFill>
            </a:endParaRPr>
          </a:p>
        </p:txBody>
      </p:sp>
      <p:sp>
        <p:nvSpPr>
          <p:cNvPr id="169" name="Rectangle 168">
            <a:extLst>
              <a:ext uri="{FF2B5EF4-FFF2-40B4-BE49-F238E27FC236}">
                <a16:creationId xmlns:a16="http://schemas.microsoft.com/office/drawing/2014/main" id="{4217BA8F-7283-0C85-9437-6B28BC05037B}"/>
              </a:ext>
            </a:extLst>
          </p:cNvPr>
          <p:cNvSpPr/>
          <p:nvPr/>
        </p:nvSpPr>
        <p:spPr>
          <a:xfrm>
            <a:off x="1040005" y="671003"/>
            <a:ext cx="4103236" cy="4105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r>
              <a:rPr lang="en-US" sz="3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Outcomes of Project</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C67256E-5645-5283-5EA6-EDA3F23EA10E}"/>
              </a:ext>
            </a:extLst>
          </p:cNvPr>
          <p:cNvSpPr txBox="1"/>
          <p:nvPr/>
        </p:nvSpPr>
        <p:spPr>
          <a:xfrm>
            <a:off x="1040005" y="1341763"/>
            <a:ext cx="10393660" cy="3477875"/>
          </a:xfrm>
          <a:prstGeom prst="rect">
            <a:avLst/>
          </a:prstGeom>
          <a:noFill/>
        </p:spPr>
        <p:txBody>
          <a:bodyPr wrap="square">
            <a:spAutoFit/>
          </a:bodyPr>
          <a:lstStyle/>
          <a:p>
            <a:r>
              <a:rPr lang="en-IN" sz="2200" dirty="0"/>
              <a:t>By generating an Ablation Table, we will prove the following outcomes:</a:t>
            </a:r>
          </a:p>
          <a:p>
            <a:pPr marL="342900" indent="-342900">
              <a:buFont typeface="Arial" panose="020B0604020202020204" pitchFamily="34" charset="0"/>
              <a:buChar char="•"/>
            </a:pPr>
            <a:r>
              <a:rPr lang="en-IN" sz="2200" b="1" dirty="0"/>
              <a:t>Baseline:</a:t>
            </a:r>
            <a:r>
              <a:rPr lang="en-IN" sz="2200" dirty="0"/>
              <a:t> CTC-</a:t>
            </a:r>
            <a:r>
              <a:rPr lang="en-IN" sz="2200" dirty="0" err="1"/>
              <a:t>BiLSTM</a:t>
            </a:r>
            <a:r>
              <a:rPr lang="en-IN" sz="2200" dirty="0"/>
              <a:t> model achieves a baseline Character Error Rate (CER) (e.g., ~15%).</a:t>
            </a:r>
          </a:p>
          <a:p>
            <a:pPr marL="342900" indent="-342900">
              <a:buFont typeface="Arial" panose="020B0604020202020204" pitchFamily="34" charset="0"/>
              <a:buChar char="•"/>
            </a:pPr>
            <a:r>
              <a:rPr lang="en-IN" sz="2200" b="1" dirty="0"/>
              <a:t>Architecture Improvement:</a:t>
            </a:r>
            <a:r>
              <a:rPr lang="en-IN" sz="2200" dirty="0"/>
              <a:t> The AR Transformer alone (without constraints or CTC aux) outperforms the CTC baseline due to its autoregressive nature.</a:t>
            </a:r>
          </a:p>
          <a:p>
            <a:pPr marL="342900" indent="-342900">
              <a:buFont typeface="Arial" panose="020B0604020202020204" pitchFamily="34" charset="0"/>
              <a:buChar char="•"/>
            </a:pPr>
            <a:r>
              <a:rPr lang="en-IN" sz="2200" b="1" dirty="0"/>
              <a:t>Auxiliary Loss Impact:</a:t>
            </a:r>
            <a:r>
              <a:rPr lang="en-IN" sz="2200" dirty="0"/>
              <a:t> Adding the Joint CTC loss (weight 0.3) to the AR model improves convergence speed and overall CER.</a:t>
            </a:r>
          </a:p>
          <a:p>
            <a:pPr marL="342900" indent="-342900">
              <a:buFont typeface="Arial" panose="020B0604020202020204" pitchFamily="34" charset="0"/>
              <a:buChar char="•"/>
            </a:pPr>
            <a:r>
              <a:rPr lang="en-IN" sz="2200" b="1" dirty="0"/>
              <a:t>Constraint Impact (Core Outcome):</a:t>
            </a:r>
            <a:r>
              <a:rPr lang="en-IN" sz="2200" dirty="0"/>
              <a:t> Applying the Telugu Linguistic Constraints drastically reduces errors on compound characters (Virama breakdown), achieving the lowest overall CER and WER (Word Error Rate).</a:t>
            </a:r>
          </a:p>
        </p:txBody>
      </p:sp>
    </p:spTree>
    <p:extLst>
      <p:ext uri="{BB962C8B-B14F-4D97-AF65-F5344CB8AC3E}">
        <p14:creationId xmlns:p14="http://schemas.microsoft.com/office/powerpoint/2010/main" val="1276465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7757D"/>
        </a:solidFill>
        <a:effectLst/>
      </p:bgPr>
    </p:bg>
    <p:spTree>
      <p:nvGrpSpPr>
        <p:cNvPr id="1" name="">
          <a:extLst>
            <a:ext uri="{FF2B5EF4-FFF2-40B4-BE49-F238E27FC236}">
              <a16:creationId xmlns:a16="http://schemas.microsoft.com/office/drawing/2014/main" id="{09974A29-DA3F-ADF7-C4CA-BE27632B6A3F}"/>
            </a:ext>
          </a:extLst>
        </p:cNvPr>
        <p:cNvGrpSpPr/>
        <p:nvPr/>
      </p:nvGrpSpPr>
      <p:grpSpPr>
        <a:xfrm>
          <a:off x="0" y="0"/>
          <a:ext cx="0" cy="0"/>
          <a:chOff x="0" y="0"/>
          <a:chExt cx="0" cy="0"/>
        </a:xfrm>
      </p:grpSpPr>
      <p:grpSp>
        <p:nvGrpSpPr>
          <p:cNvPr id="236" name="Group 235">
            <a:extLst>
              <a:ext uri="{FF2B5EF4-FFF2-40B4-BE49-F238E27FC236}">
                <a16:creationId xmlns:a16="http://schemas.microsoft.com/office/drawing/2014/main" id="{7C6199C0-7350-333A-C329-96D92E03778F}"/>
              </a:ext>
            </a:extLst>
          </p:cNvPr>
          <p:cNvGrpSpPr/>
          <p:nvPr/>
        </p:nvGrpSpPr>
        <p:grpSpPr>
          <a:xfrm>
            <a:off x="10319546" y="61137"/>
            <a:ext cx="1813078" cy="1709844"/>
            <a:chOff x="4301836" y="1542184"/>
            <a:chExt cx="4242954" cy="4001365"/>
          </a:xfrm>
          <a:solidFill>
            <a:srgbClr val="E7E9DE"/>
          </a:solidFill>
        </p:grpSpPr>
        <p:sp>
          <p:nvSpPr>
            <p:cNvPr id="237" name="Freeform 236">
              <a:extLst>
                <a:ext uri="{FF2B5EF4-FFF2-40B4-BE49-F238E27FC236}">
                  <a16:creationId xmlns:a16="http://schemas.microsoft.com/office/drawing/2014/main" id="{6AE6B3D4-C009-49A4-6ADE-ADDD7A6E4E75}"/>
                </a:ext>
              </a:extLst>
            </p:cNvPr>
            <p:cNvSpPr/>
            <p:nvPr/>
          </p:nvSpPr>
          <p:spPr>
            <a:xfrm>
              <a:off x="4301836"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8" name="Freeform 237">
              <a:extLst>
                <a:ext uri="{FF2B5EF4-FFF2-40B4-BE49-F238E27FC236}">
                  <a16:creationId xmlns:a16="http://schemas.microsoft.com/office/drawing/2014/main" id="{95AB0906-8471-BA97-EF9C-DA0F17D5CFE0}"/>
                </a:ext>
              </a:extLst>
            </p:cNvPr>
            <p:cNvSpPr/>
            <p:nvPr/>
          </p:nvSpPr>
          <p:spPr>
            <a:xfrm>
              <a:off x="459104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39" name="Freeform 238">
              <a:extLst>
                <a:ext uri="{FF2B5EF4-FFF2-40B4-BE49-F238E27FC236}">
                  <a16:creationId xmlns:a16="http://schemas.microsoft.com/office/drawing/2014/main" id="{B49306A8-4479-9AB5-6C75-1038C3585B8E}"/>
                </a:ext>
              </a:extLst>
            </p:cNvPr>
            <p:cNvSpPr/>
            <p:nvPr/>
          </p:nvSpPr>
          <p:spPr>
            <a:xfrm>
              <a:off x="488112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0" name="Freeform 239">
              <a:extLst>
                <a:ext uri="{FF2B5EF4-FFF2-40B4-BE49-F238E27FC236}">
                  <a16:creationId xmlns:a16="http://schemas.microsoft.com/office/drawing/2014/main" id="{4B6BC0C4-FCFE-687D-3A5D-FB99EC41563E}"/>
                </a:ext>
              </a:extLst>
            </p:cNvPr>
            <p:cNvSpPr/>
            <p:nvPr/>
          </p:nvSpPr>
          <p:spPr>
            <a:xfrm>
              <a:off x="5171209"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1" name="Freeform 240">
              <a:extLst>
                <a:ext uri="{FF2B5EF4-FFF2-40B4-BE49-F238E27FC236}">
                  <a16:creationId xmlns:a16="http://schemas.microsoft.com/office/drawing/2014/main" id="{13E67BAC-8416-CF20-B1B5-8C639B064156}"/>
                </a:ext>
              </a:extLst>
            </p:cNvPr>
            <p:cNvSpPr/>
            <p:nvPr/>
          </p:nvSpPr>
          <p:spPr>
            <a:xfrm>
              <a:off x="546042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2" name="Freeform 241">
              <a:extLst>
                <a:ext uri="{FF2B5EF4-FFF2-40B4-BE49-F238E27FC236}">
                  <a16:creationId xmlns:a16="http://schemas.microsoft.com/office/drawing/2014/main" id="{17BF4969-44F3-A5F2-52D5-266BFCFF0AC4}"/>
                </a:ext>
              </a:extLst>
            </p:cNvPr>
            <p:cNvSpPr/>
            <p:nvPr/>
          </p:nvSpPr>
          <p:spPr>
            <a:xfrm>
              <a:off x="5750502"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3" name="Freeform 242">
              <a:extLst>
                <a:ext uri="{FF2B5EF4-FFF2-40B4-BE49-F238E27FC236}">
                  <a16:creationId xmlns:a16="http://schemas.microsoft.com/office/drawing/2014/main" id="{16B4015C-0B9F-202F-5B3F-856A66DA4EBA}"/>
                </a:ext>
              </a:extLst>
            </p:cNvPr>
            <p:cNvSpPr/>
            <p:nvPr/>
          </p:nvSpPr>
          <p:spPr>
            <a:xfrm>
              <a:off x="603971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4" name="Freeform 243">
              <a:extLst>
                <a:ext uri="{FF2B5EF4-FFF2-40B4-BE49-F238E27FC236}">
                  <a16:creationId xmlns:a16="http://schemas.microsoft.com/office/drawing/2014/main" id="{8EA1446B-8C29-AD81-B351-11CE934AF5C9}"/>
                </a:ext>
              </a:extLst>
            </p:cNvPr>
            <p:cNvSpPr/>
            <p:nvPr/>
          </p:nvSpPr>
          <p:spPr>
            <a:xfrm>
              <a:off x="632979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5" name="Freeform 244">
              <a:extLst>
                <a:ext uri="{FF2B5EF4-FFF2-40B4-BE49-F238E27FC236}">
                  <a16:creationId xmlns:a16="http://schemas.microsoft.com/office/drawing/2014/main" id="{EDE11EA4-9690-34CC-8703-ACC73116E1C1}"/>
                </a:ext>
              </a:extLst>
            </p:cNvPr>
            <p:cNvSpPr/>
            <p:nvPr/>
          </p:nvSpPr>
          <p:spPr>
            <a:xfrm>
              <a:off x="6619875"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6" name="Freeform 245">
              <a:extLst>
                <a:ext uri="{FF2B5EF4-FFF2-40B4-BE49-F238E27FC236}">
                  <a16:creationId xmlns:a16="http://schemas.microsoft.com/office/drawing/2014/main" id="{1EF9F05A-30BD-AFFC-F26A-1745968E9711}"/>
                </a:ext>
              </a:extLst>
            </p:cNvPr>
            <p:cNvSpPr/>
            <p:nvPr/>
          </p:nvSpPr>
          <p:spPr>
            <a:xfrm>
              <a:off x="690908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7" name="Freeform 246">
              <a:extLst>
                <a:ext uri="{FF2B5EF4-FFF2-40B4-BE49-F238E27FC236}">
                  <a16:creationId xmlns:a16="http://schemas.microsoft.com/office/drawing/2014/main" id="{60CD5D1A-84F9-148B-FE6F-5EE8C543D2F2}"/>
                </a:ext>
              </a:extLst>
            </p:cNvPr>
            <p:cNvSpPr/>
            <p:nvPr/>
          </p:nvSpPr>
          <p:spPr>
            <a:xfrm>
              <a:off x="7199168"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8" name="Freeform 247">
              <a:extLst>
                <a:ext uri="{FF2B5EF4-FFF2-40B4-BE49-F238E27FC236}">
                  <a16:creationId xmlns:a16="http://schemas.microsoft.com/office/drawing/2014/main" id="{E17AAAAF-211A-629C-75E3-4CB110A9F18E}"/>
                </a:ext>
              </a:extLst>
            </p:cNvPr>
            <p:cNvSpPr/>
            <p:nvPr/>
          </p:nvSpPr>
          <p:spPr>
            <a:xfrm>
              <a:off x="7489247"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49" name="Freeform 248">
              <a:extLst>
                <a:ext uri="{FF2B5EF4-FFF2-40B4-BE49-F238E27FC236}">
                  <a16:creationId xmlns:a16="http://schemas.microsoft.com/office/drawing/2014/main" id="{BF112B28-56C4-A92B-AA7A-6B583487AD09}"/>
                </a:ext>
              </a:extLst>
            </p:cNvPr>
            <p:cNvSpPr/>
            <p:nvPr/>
          </p:nvSpPr>
          <p:spPr>
            <a:xfrm>
              <a:off x="777846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50" name="Freeform 249">
              <a:extLst>
                <a:ext uri="{FF2B5EF4-FFF2-40B4-BE49-F238E27FC236}">
                  <a16:creationId xmlns:a16="http://schemas.microsoft.com/office/drawing/2014/main" id="{CA4899DA-2492-349A-5C54-53C0F450F861}"/>
                </a:ext>
              </a:extLst>
            </p:cNvPr>
            <p:cNvSpPr/>
            <p:nvPr/>
          </p:nvSpPr>
          <p:spPr>
            <a:xfrm>
              <a:off x="8068541" y="1542184"/>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51" name="Freeform 250">
              <a:extLst>
                <a:ext uri="{FF2B5EF4-FFF2-40B4-BE49-F238E27FC236}">
                  <a16:creationId xmlns:a16="http://schemas.microsoft.com/office/drawing/2014/main" id="{94C37C1F-5C42-9254-9D8C-0FB8D5801238}"/>
                </a:ext>
              </a:extLst>
            </p:cNvPr>
            <p:cNvSpPr/>
            <p:nvPr/>
          </p:nvSpPr>
          <p:spPr>
            <a:xfrm>
              <a:off x="8357754" y="1542184"/>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2" name="Freeform 251">
              <a:extLst>
                <a:ext uri="{FF2B5EF4-FFF2-40B4-BE49-F238E27FC236}">
                  <a16:creationId xmlns:a16="http://schemas.microsoft.com/office/drawing/2014/main" id="{FD05550B-67F0-7684-5725-0E9CF14FAC8C}"/>
                </a:ext>
              </a:extLst>
            </p:cNvPr>
            <p:cNvSpPr/>
            <p:nvPr/>
          </p:nvSpPr>
          <p:spPr>
            <a:xfrm>
              <a:off x="459104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3" name="Freeform 252">
              <a:extLst>
                <a:ext uri="{FF2B5EF4-FFF2-40B4-BE49-F238E27FC236}">
                  <a16:creationId xmlns:a16="http://schemas.microsoft.com/office/drawing/2014/main" id="{DBC29A3F-1B7D-0869-0034-3F20D24D3064}"/>
                </a:ext>
              </a:extLst>
            </p:cNvPr>
            <p:cNvSpPr/>
            <p:nvPr/>
          </p:nvSpPr>
          <p:spPr>
            <a:xfrm>
              <a:off x="488112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4" name="Freeform 253">
              <a:extLst>
                <a:ext uri="{FF2B5EF4-FFF2-40B4-BE49-F238E27FC236}">
                  <a16:creationId xmlns:a16="http://schemas.microsoft.com/office/drawing/2014/main" id="{9E8CDFD3-F631-0BCB-8C39-C1070B5868AC}"/>
                </a:ext>
              </a:extLst>
            </p:cNvPr>
            <p:cNvSpPr/>
            <p:nvPr/>
          </p:nvSpPr>
          <p:spPr>
            <a:xfrm>
              <a:off x="5171209"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5" name="Freeform 254">
              <a:extLst>
                <a:ext uri="{FF2B5EF4-FFF2-40B4-BE49-F238E27FC236}">
                  <a16:creationId xmlns:a16="http://schemas.microsoft.com/office/drawing/2014/main" id="{F7ADDCBA-80DA-4A90-F66B-FE4017CED351}"/>
                </a:ext>
              </a:extLst>
            </p:cNvPr>
            <p:cNvSpPr/>
            <p:nvPr/>
          </p:nvSpPr>
          <p:spPr>
            <a:xfrm>
              <a:off x="546042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69"/>
                    <a:pt x="41869"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6" name="Freeform 255">
              <a:extLst>
                <a:ext uri="{FF2B5EF4-FFF2-40B4-BE49-F238E27FC236}">
                  <a16:creationId xmlns:a16="http://schemas.microsoft.com/office/drawing/2014/main" id="{3C5766E8-A61B-3338-6805-C395EAB0BC1C}"/>
                </a:ext>
              </a:extLst>
            </p:cNvPr>
            <p:cNvSpPr/>
            <p:nvPr/>
          </p:nvSpPr>
          <p:spPr>
            <a:xfrm>
              <a:off x="5750502"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7" name="Freeform 256">
              <a:extLst>
                <a:ext uri="{FF2B5EF4-FFF2-40B4-BE49-F238E27FC236}">
                  <a16:creationId xmlns:a16="http://schemas.microsoft.com/office/drawing/2014/main" id="{0B6D0AC4-B277-2EB7-40DB-486DE792B626}"/>
                </a:ext>
              </a:extLst>
            </p:cNvPr>
            <p:cNvSpPr/>
            <p:nvPr/>
          </p:nvSpPr>
          <p:spPr>
            <a:xfrm>
              <a:off x="603971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8" name="Freeform 257">
              <a:extLst>
                <a:ext uri="{FF2B5EF4-FFF2-40B4-BE49-F238E27FC236}">
                  <a16:creationId xmlns:a16="http://schemas.microsoft.com/office/drawing/2014/main" id="{60D88CF3-520E-A6F1-61ED-249EF8020408}"/>
                </a:ext>
              </a:extLst>
            </p:cNvPr>
            <p:cNvSpPr/>
            <p:nvPr/>
          </p:nvSpPr>
          <p:spPr>
            <a:xfrm>
              <a:off x="632979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59" name="Freeform 258">
              <a:extLst>
                <a:ext uri="{FF2B5EF4-FFF2-40B4-BE49-F238E27FC236}">
                  <a16:creationId xmlns:a16="http://schemas.microsoft.com/office/drawing/2014/main" id="{4657AEAA-1118-BB92-CED6-3CA305E86D0F}"/>
                </a:ext>
              </a:extLst>
            </p:cNvPr>
            <p:cNvSpPr/>
            <p:nvPr/>
          </p:nvSpPr>
          <p:spPr>
            <a:xfrm>
              <a:off x="6619875"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0" name="Freeform 259">
              <a:extLst>
                <a:ext uri="{FF2B5EF4-FFF2-40B4-BE49-F238E27FC236}">
                  <a16:creationId xmlns:a16="http://schemas.microsoft.com/office/drawing/2014/main" id="{C82A9C3C-C5C2-2532-606F-8EE0DBA2788C}"/>
                </a:ext>
              </a:extLst>
            </p:cNvPr>
            <p:cNvSpPr/>
            <p:nvPr/>
          </p:nvSpPr>
          <p:spPr>
            <a:xfrm>
              <a:off x="690908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1" name="Freeform 260">
              <a:extLst>
                <a:ext uri="{FF2B5EF4-FFF2-40B4-BE49-F238E27FC236}">
                  <a16:creationId xmlns:a16="http://schemas.microsoft.com/office/drawing/2014/main" id="{31060DBE-04B2-4FEC-0979-A377D9589C29}"/>
                </a:ext>
              </a:extLst>
            </p:cNvPr>
            <p:cNvSpPr/>
            <p:nvPr/>
          </p:nvSpPr>
          <p:spPr>
            <a:xfrm>
              <a:off x="7199168"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2" name="Freeform 261">
              <a:extLst>
                <a:ext uri="{FF2B5EF4-FFF2-40B4-BE49-F238E27FC236}">
                  <a16:creationId xmlns:a16="http://schemas.microsoft.com/office/drawing/2014/main" id="{DD4A6781-0EF9-7938-D753-BB8EE4F8A862}"/>
                </a:ext>
              </a:extLst>
            </p:cNvPr>
            <p:cNvSpPr/>
            <p:nvPr/>
          </p:nvSpPr>
          <p:spPr>
            <a:xfrm>
              <a:off x="7489247"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3" name="Freeform 262">
              <a:extLst>
                <a:ext uri="{FF2B5EF4-FFF2-40B4-BE49-F238E27FC236}">
                  <a16:creationId xmlns:a16="http://schemas.microsoft.com/office/drawing/2014/main" id="{13DA7BBE-2BFE-3BAD-04A1-FE2D0B644933}"/>
                </a:ext>
              </a:extLst>
            </p:cNvPr>
            <p:cNvSpPr/>
            <p:nvPr/>
          </p:nvSpPr>
          <p:spPr>
            <a:xfrm>
              <a:off x="777846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64" name="Freeform 263">
              <a:extLst>
                <a:ext uri="{FF2B5EF4-FFF2-40B4-BE49-F238E27FC236}">
                  <a16:creationId xmlns:a16="http://schemas.microsoft.com/office/drawing/2014/main" id="{A44786BD-BCEC-17AD-31EE-4AABB6325F29}"/>
                </a:ext>
              </a:extLst>
            </p:cNvPr>
            <p:cNvSpPr/>
            <p:nvPr/>
          </p:nvSpPr>
          <p:spPr>
            <a:xfrm>
              <a:off x="8068541" y="181494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69"/>
                    <a:pt x="41870" y="0"/>
                    <a:pt x="93519" y="0"/>
                  </a:cubicBezTo>
                  <a:cubicBezTo>
                    <a:pt x="145167" y="0"/>
                    <a:pt x="187037" y="41869"/>
                    <a:pt x="187037" y="93518"/>
                  </a:cubicBezTo>
                  <a:close/>
                </a:path>
              </a:pathLst>
            </a:custGeom>
            <a:grpFill/>
            <a:ln w="8653" cap="flat">
              <a:noFill/>
              <a:prstDash val="solid"/>
              <a:miter/>
            </a:ln>
          </p:spPr>
          <p:txBody>
            <a:bodyPr rtlCol="0" anchor="ctr"/>
            <a:lstStyle/>
            <a:p>
              <a:endParaRPr lang="en-US"/>
            </a:p>
          </p:txBody>
        </p:sp>
        <p:sp>
          <p:nvSpPr>
            <p:cNvPr id="265" name="Freeform 264">
              <a:extLst>
                <a:ext uri="{FF2B5EF4-FFF2-40B4-BE49-F238E27FC236}">
                  <a16:creationId xmlns:a16="http://schemas.microsoft.com/office/drawing/2014/main" id="{62B78DD8-E84D-20D5-E19C-061974FC1E45}"/>
                </a:ext>
              </a:extLst>
            </p:cNvPr>
            <p:cNvSpPr/>
            <p:nvPr/>
          </p:nvSpPr>
          <p:spPr>
            <a:xfrm>
              <a:off x="8357754" y="181494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69"/>
                    <a:pt x="41870" y="0"/>
                    <a:pt x="93518" y="0"/>
                  </a:cubicBezTo>
                  <a:cubicBezTo>
                    <a:pt x="145167" y="0"/>
                    <a:pt x="187036" y="41869"/>
                    <a:pt x="187036" y="93518"/>
                  </a:cubicBezTo>
                  <a:close/>
                </a:path>
              </a:pathLst>
            </a:custGeom>
            <a:grpFill/>
            <a:ln w="8653" cap="flat">
              <a:noFill/>
              <a:prstDash val="solid"/>
              <a:miter/>
            </a:ln>
          </p:spPr>
          <p:txBody>
            <a:bodyPr rtlCol="0" anchor="ctr"/>
            <a:lstStyle/>
            <a:p>
              <a:endParaRPr lang="en-US"/>
            </a:p>
          </p:txBody>
        </p:sp>
        <p:sp>
          <p:nvSpPr>
            <p:cNvPr id="266" name="Freeform 265">
              <a:extLst>
                <a:ext uri="{FF2B5EF4-FFF2-40B4-BE49-F238E27FC236}">
                  <a16:creationId xmlns:a16="http://schemas.microsoft.com/office/drawing/2014/main" id="{9BC96E19-0F40-F6B3-B394-D5F160719FAC}"/>
                </a:ext>
              </a:extLst>
            </p:cNvPr>
            <p:cNvSpPr/>
            <p:nvPr/>
          </p:nvSpPr>
          <p:spPr>
            <a:xfrm>
              <a:off x="488112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7" name="Freeform 266">
              <a:extLst>
                <a:ext uri="{FF2B5EF4-FFF2-40B4-BE49-F238E27FC236}">
                  <a16:creationId xmlns:a16="http://schemas.microsoft.com/office/drawing/2014/main" id="{29BEECD7-44B3-7381-A0B6-A449529903A5}"/>
                </a:ext>
              </a:extLst>
            </p:cNvPr>
            <p:cNvSpPr/>
            <p:nvPr/>
          </p:nvSpPr>
          <p:spPr>
            <a:xfrm>
              <a:off x="5171209"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8" name="Freeform 267">
              <a:extLst>
                <a:ext uri="{FF2B5EF4-FFF2-40B4-BE49-F238E27FC236}">
                  <a16:creationId xmlns:a16="http://schemas.microsoft.com/office/drawing/2014/main" id="{08FD7F62-05E2-FD12-8644-6A6729944868}"/>
                </a:ext>
              </a:extLst>
            </p:cNvPr>
            <p:cNvSpPr/>
            <p:nvPr/>
          </p:nvSpPr>
          <p:spPr>
            <a:xfrm>
              <a:off x="546042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69" name="Freeform 268">
              <a:extLst>
                <a:ext uri="{FF2B5EF4-FFF2-40B4-BE49-F238E27FC236}">
                  <a16:creationId xmlns:a16="http://schemas.microsoft.com/office/drawing/2014/main" id="{53E3710D-6205-54CC-07D6-B2C1FFF4734B}"/>
                </a:ext>
              </a:extLst>
            </p:cNvPr>
            <p:cNvSpPr/>
            <p:nvPr/>
          </p:nvSpPr>
          <p:spPr>
            <a:xfrm>
              <a:off x="5750502"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0" name="Freeform 269">
              <a:extLst>
                <a:ext uri="{FF2B5EF4-FFF2-40B4-BE49-F238E27FC236}">
                  <a16:creationId xmlns:a16="http://schemas.microsoft.com/office/drawing/2014/main" id="{1B80C728-89C9-0C46-B2B9-323D125B67B9}"/>
                </a:ext>
              </a:extLst>
            </p:cNvPr>
            <p:cNvSpPr/>
            <p:nvPr/>
          </p:nvSpPr>
          <p:spPr>
            <a:xfrm>
              <a:off x="603971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1" name="Freeform 270">
              <a:extLst>
                <a:ext uri="{FF2B5EF4-FFF2-40B4-BE49-F238E27FC236}">
                  <a16:creationId xmlns:a16="http://schemas.microsoft.com/office/drawing/2014/main" id="{9EE07371-7D0E-E5D5-5778-C76372D5F74C}"/>
                </a:ext>
              </a:extLst>
            </p:cNvPr>
            <p:cNvSpPr/>
            <p:nvPr/>
          </p:nvSpPr>
          <p:spPr>
            <a:xfrm>
              <a:off x="632979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2" name="Freeform 271">
              <a:extLst>
                <a:ext uri="{FF2B5EF4-FFF2-40B4-BE49-F238E27FC236}">
                  <a16:creationId xmlns:a16="http://schemas.microsoft.com/office/drawing/2014/main" id="{DDBC68D5-AD9E-7E5E-CA95-629616B7B4CE}"/>
                </a:ext>
              </a:extLst>
            </p:cNvPr>
            <p:cNvSpPr/>
            <p:nvPr/>
          </p:nvSpPr>
          <p:spPr>
            <a:xfrm>
              <a:off x="6619875"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3" name="Freeform 272">
              <a:extLst>
                <a:ext uri="{FF2B5EF4-FFF2-40B4-BE49-F238E27FC236}">
                  <a16:creationId xmlns:a16="http://schemas.microsoft.com/office/drawing/2014/main" id="{79ADA5C0-6F33-3F19-400F-96CBB076BF12}"/>
                </a:ext>
              </a:extLst>
            </p:cNvPr>
            <p:cNvSpPr/>
            <p:nvPr/>
          </p:nvSpPr>
          <p:spPr>
            <a:xfrm>
              <a:off x="690908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4" name="Freeform 273">
              <a:extLst>
                <a:ext uri="{FF2B5EF4-FFF2-40B4-BE49-F238E27FC236}">
                  <a16:creationId xmlns:a16="http://schemas.microsoft.com/office/drawing/2014/main" id="{77BA186C-A6A5-9471-1651-35AB949BE0DF}"/>
                </a:ext>
              </a:extLst>
            </p:cNvPr>
            <p:cNvSpPr/>
            <p:nvPr/>
          </p:nvSpPr>
          <p:spPr>
            <a:xfrm>
              <a:off x="7199168"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5" name="Freeform 274">
              <a:extLst>
                <a:ext uri="{FF2B5EF4-FFF2-40B4-BE49-F238E27FC236}">
                  <a16:creationId xmlns:a16="http://schemas.microsoft.com/office/drawing/2014/main" id="{D9E36621-8B6D-9E89-F7A9-A09DBFDDBF66}"/>
                </a:ext>
              </a:extLst>
            </p:cNvPr>
            <p:cNvSpPr/>
            <p:nvPr/>
          </p:nvSpPr>
          <p:spPr>
            <a:xfrm>
              <a:off x="7489247"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6" name="Freeform 275">
              <a:extLst>
                <a:ext uri="{FF2B5EF4-FFF2-40B4-BE49-F238E27FC236}">
                  <a16:creationId xmlns:a16="http://schemas.microsoft.com/office/drawing/2014/main" id="{4591CEC4-43B1-52F0-EDBE-A9EF06D08F2E}"/>
                </a:ext>
              </a:extLst>
            </p:cNvPr>
            <p:cNvSpPr/>
            <p:nvPr/>
          </p:nvSpPr>
          <p:spPr>
            <a:xfrm>
              <a:off x="777846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77" name="Freeform 276">
              <a:extLst>
                <a:ext uri="{FF2B5EF4-FFF2-40B4-BE49-F238E27FC236}">
                  <a16:creationId xmlns:a16="http://schemas.microsoft.com/office/drawing/2014/main" id="{49056893-5507-9F1E-36FF-EDB5DF28CC65}"/>
                </a:ext>
              </a:extLst>
            </p:cNvPr>
            <p:cNvSpPr/>
            <p:nvPr/>
          </p:nvSpPr>
          <p:spPr>
            <a:xfrm>
              <a:off x="8068541" y="208684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78" name="Freeform 277">
              <a:extLst>
                <a:ext uri="{FF2B5EF4-FFF2-40B4-BE49-F238E27FC236}">
                  <a16:creationId xmlns:a16="http://schemas.microsoft.com/office/drawing/2014/main" id="{3889EC38-886C-C7D3-0CC6-7E5FD2611EF3}"/>
                </a:ext>
              </a:extLst>
            </p:cNvPr>
            <p:cNvSpPr/>
            <p:nvPr/>
          </p:nvSpPr>
          <p:spPr>
            <a:xfrm>
              <a:off x="8357754" y="208684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79" name="Freeform 278">
              <a:extLst>
                <a:ext uri="{FF2B5EF4-FFF2-40B4-BE49-F238E27FC236}">
                  <a16:creationId xmlns:a16="http://schemas.microsoft.com/office/drawing/2014/main" id="{97A53E23-78ED-8E56-3323-AEE813FF3539}"/>
                </a:ext>
              </a:extLst>
            </p:cNvPr>
            <p:cNvSpPr/>
            <p:nvPr/>
          </p:nvSpPr>
          <p:spPr>
            <a:xfrm>
              <a:off x="5171209"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0" name="Freeform 279">
              <a:extLst>
                <a:ext uri="{FF2B5EF4-FFF2-40B4-BE49-F238E27FC236}">
                  <a16:creationId xmlns:a16="http://schemas.microsoft.com/office/drawing/2014/main" id="{21C8D3A8-87CF-9E20-2F4D-7A318D724E74}"/>
                </a:ext>
              </a:extLst>
            </p:cNvPr>
            <p:cNvSpPr/>
            <p:nvPr/>
          </p:nvSpPr>
          <p:spPr>
            <a:xfrm>
              <a:off x="546042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1" name="Freeform 280">
              <a:extLst>
                <a:ext uri="{FF2B5EF4-FFF2-40B4-BE49-F238E27FC236}">
                  <a16:creationId xmlns:a16="http://schemas.microsoft.com/office/drawing/2014/main" id="{9DA6824A-E0EE-820C-0CD5-A609F2C5633B}"/>
                </a:ext>
              </a:extLst>
            </p:cNvPr>
            <p:cNvSpPr/>
            <p:nvPr/>
          </p:nvSpPr>
          <p:spPr>
            <a:xfrm>
              <a:off x="5750502"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2" name="Freeform 281">
              <a:extLst>
                <a:ext uri="{FF2B5EF4-FFF2-40B4-BE49-F238E27FC236}">
                  <a16:creationId xmlns:a16="http://schemas.microsoft.com/office/drawing/2014/main" id="{EA7E7EA4-C06C-3D33-8212-46640F622152}"/>
                </a:ext>
              </a:extLst>
            </p:cNvPr>
            <p:cNvSpPr/>
            <p:nvPr/>
          </p:nvSpPr>
          <p:spPr>
            <a:xfrm>
              <a:off x="603971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3" name="Freeform 282">
              <a:extLst>
                <a:ext uri="{FF2B5EF4-FFF2-40B4-BE49-F238E27FC236}">
                  <a16:creationId xmlns:a16="http://schemas.microsoft.com/office/drawing/2014/main" id="{76146377-2EF6-EB93-C2C5-124C83647BA4}"/>
                </a:ext>
              </a:extLst>
            </p:cNvPr>
            <p:cNvSpPr/>
            <p:nvPr/>
          </p:nvSpPr>
          <p:spPr>
            <a:xfrm>
              <a:off x="632979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4" name="Freeform 283">
              <a:extLst>
                <a:ext uri="{FF2B5EF4-FFF2-40B4-BE49-F238E27FC236}">
                  <a16:creationId xmlns:a16="http://schemas.microsoft.com/office/drawing/2014/main" id="{54FAEB72-C74D-353E-0071-47121E68A79B}"/>
                </a:ext>
              </a:extLst>
            </p:cNvPr>
            <p:cNvSpPr/>
            <p:nvPr/>
          </p:nvSpPr>
          <p:spPr>
            <a:xfrm>
              <a:off x="6619875"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5" name="Freeform 284">
              <a:extLst>
                <a:ext uri="{FF2B5EF4-FFF2-40B4-BE49-F238E27FC236}">
                  <a16:creationId xmlns:a16="http://schemas.microsoft.com/office/drawing/2014/main" id="{B483B63E-13E7-22C8-99D5-452884AA5907}"/>
                </a:ext>
              </a:extLst>
            </p:cNvPr>
            <p:cNvSpPr/>
            <p:nvPr/>
          </p:nvSpPr>
          <p:spPr>
            <a:xfrm>
              <a:off x="690908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6" name="Freeform 285">
              <a:extLst>
                <a:ext uri="{FF2B5EF4-FFF2-40B4-BE49-F238E27FC236}">
                  <a16:creationId xmlns:a16="http://schemas.microsoft.com/office/drawing/2014/main" id="{E606449C-50A1-2F88-BDAC-E9098CFD5D88}"/>
                </a:ext>
              </a:extLst>
            </p:cNvPr>
            <p:cNvSpPr/>
            <p:nvPr/>
          </p:nvSpPr>
          <p:spPr>
            <a:xfrm>
              <a:off x="7199168"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7" name="Freeform 286">
              <a:extLst>
                <a:ext uri="{FF2B5EF4-FFF2-40B4-BE49-F238E27FC236}">
                  <a16:creationId xmlns:a16="http://schemas.microsoft.com/office/drawing/2014/main" id="{0218FB12-7F3F-49C4-E789-B00E0D297524}"/>
                </a:ext>
              </a:extLst>
            </p:cNvPr>
            <p:cNvSpPr/>
            <p:nvPr/>
          </p:nvSpPr>
          <p:spPr>
            <a:xfrm>
              <a:off x="7489247"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88" name="Freeform 287">
              <a:extLst>
                <a:ext uri="{FF2B5EF4-FFF2-40B4-BE49-F238E27FC236}">
                  <a16:creationId xmlns:a16="http://schemas.microsoft.com/office/drawing/2014/main" id="{D22921BC-8D71-AC91-F7C4-CEAB4C422D10}"/>
                </a:ext>
              </a:extLst>
            </p:cNvPr>
            <p:cNvSpPr/>
            <p:nvPr/>
          </p:nvSpPr>
          <p:spPr>
            <a:xfrm>
              <a:off x="777846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89" name="Freeform 288">
              <a:extLst>
                <a:ext uri="{FF2B5EF4-FFF2-40B4-BE49-F238E27FC236}">
                  <a16:creationId xmlns:a16="http://schemas.microsoft.com/office/drawing/2014/main" id="{B9D9EF7B-83DA-C177-C477-B64036BF05F1}"/>
                </a:ext>
              </a:extLst>
            </p:cNvPr>
            <p:cNvSpPr/>
            <p:nvPr/>
          </p:nvSpPr>
          <p:spPr>
            <a:xfrm>
              <a:off x="8068541" y="2359602"/>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290" name="Freeform 289">
              <a:extLst>
                <a:ext uri="{FF2B5EF4-FFF2-40B4-BE49-F238E27FC236}">
                  <a16:creationId xmlns:a16="http://schemas.microsoft.com/office/drawing/2014/main" id="{5C631F2F-3F0B-A175-1C87-1D75B94293ED}"/>
                </a:ext>
              </a:extLst>
            </p:cNvPr>
            <p:cNvSpPr/>
            <p:nvPr/>
          </p:nvSpPr>
          <p:spPr>
            <a:xfrm>
              <a:off x="8357754" y="2359602"/>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1" name="Freeform 290">
              <a:extLst>
                <a:ext uri="{FF2B5EF4-FFF2-40B4-BE49-F238E27FC236}">
                  <a16:creationId xmlns:a16="http://schemas.microsoft.com/office/drawing/2014/main" id="{28686EC7-70F1-2624-D40D-34119C11B7F0}"/>
                </a:ext>
              </a:extLst>
            </p:cNvPr>
            <p:cNvSpPr/>
            <p:nvPr/>
          </p:nvSpPr>
          <p:spPr>
            <a:xfrm>
              <a:off x="546042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69" y="187036"/>
                    <a:pt x="0" y="145167"/>
                    <a:pt x="0" y="93518"/>
                  </a:cubicBezTo>
                  <a:cubicBezTo>
                    <a:pt x="0" y="41870"/>
                    <a:pt x="41869"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2" name="Freeform 291">
              <a:extLst>
                <a:ext uri="{FF2B5EF4-FFF2-40B4-BE49-F238E27FC236}">
                  <a16:creationId xmlns:a16="http://schemas.microsoft.com/office/drawing/2014/main" id="{48DB1D36-94C7-A8CF-3481-F036BFB99DED}"/>
                </a:ext>
              </a:extLst>
            </p:cNvPr>
            <p:cNvSpPr/>
            <p:nvPr/>
          </p:nvSpPr>
          <p:spPr>
            <a:xfrm>
              <a:off x="5750502"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97E016A8-5DEB-9A9C-3C4A-2D9BE7C72B0F}"/>
                </a:ext>
              </a:extLst>
            </p:cNvPr>
            <p:cNvSpPr/>
            <p:nvPr/>
          </p:nvSpPr>
          <p:spPr>
            <a:xfrm>
              <a:off x="603971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4" name="Freeform 293">
              <a:extLst>
                <a:ext uri="{FF2B5EF4-FFF2-40B4-BE49-F238E27FC236}">
                  <a16:creationId xmlns:a16="http://schemas.microsoft.com/office/drawing/2014/main" id="{6A508B83-E98A-7854-9745-89A39F3370D6}"/>
                </a:ext>
              </a:extLst>
            </p:cNvPr>
            <p:cNvSpPr/>
            <p:nvPr/>
          </p:nvSpPr>
          <p:spPr>
            <a:xfrm>
              <a:off x="632979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5" name="Freeform 294">
              <a:extLst>
                <a:ext uri="{FF2B5EF4-FFF2-40B4-BE49-F238E27FC236}">
                  <a16:creationId xmlns:a16="http://schemas.microsoft.com/office/drawing/2014/main" id="{6F44BB54-F677-6359-4739-E334EDF5381C}"/>
                </a:ext>
              </a:extLst>
            </p:cNvPr>
            <p:cNvSpPr/>
            <p:nvPr/>
          </p:nvSpPr>
          <p:spPr>
            <a:xfrm>
              <a:off x="6619875"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6" name="Freeform 295">
              <a:extLst>
                <a:ext uri="{FF2B5EF4-FFF2-40B4-BE49-F238E27FC236}">
                  <a16:creationId xmlns:a16="http://schemas.microsoft.com/office/drawing/2014/main" id="{78540717-337D-61BB-8466-0D4C333EB0C4}"/>
                </a:ext>
              </a:extLst>
            </p:cNvPr>
            <p:cNvSpPr/>
            <p:nvPr/>
          </p:nvSpPr>
          <p:spPr>
            <a:xfrm>
              <a:off x="690908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7" name="Freeform 296">
              <a:extLst>
                <a:ext uri="{FF2B5EF4-FFF2-40B4-BE49-F238E27FC236}">
                  <a16:creationId xmlns:a16="http://schemas.microsoft.com/office/drawing/2014/main" id="{D67D2DFC-B9C9-5C49-7804-E009BFC2FA06}"/>
                </a:ext>
              </a:extLst>
            </p:cNvPr>
            <p:cNvSpPr/>
            <p:nvPr/>
          </p:nvSpPr>
          <p:spPr>
            <a:xfrm>
              <a:off x="7199168"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769BDAAD-C259-9AED-C872-BDE537937A19}"/>
                </a:ext>
              </a:extLst>
            </p:cNvPr>
            <p:cNvSpPr/>
            <p:nvPr/>
          </p:nvSpPr>
          <p:spPr>
            <a:xfrm>
              <a:off x="7489247"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299" name="Freeform 298">
              <a:extLst>
                <a:ext uri="{FF2B5EF4-FFF2-40B4-BE49-F238E27FC236}">
                  <a16:creationId xmlns:a16="http://schemas.microsoft.com/office/drawing/2014/main" id="{92391B1C-4229-A044-CFE0-49B63286BFF2}"/>
                </a:ext>
              </a:extLst>
            </p:cNvPr>
            <p:cNvSpPr/>
            <p:nvPr/>
          </p:nvSpPr>
          <p:spPr>
            <a:xfrm>
              <a:off x="777846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00" name="Freeform 299">
              <a:extLst>
                <a:ext uri="{FF2B5EF4-FFF2-40B4-BE49-F238E27FC236}">
                  <a16:creationId xmlns:a16="http://schemas.microsoft.com/office/drawing/2014/main" id="{8CD3E019-DF97-BC1D-86DE-2BC79EBE2A76}"/>
                </a:ext>
              </a:extLst>
            </p:cNvPr>
            <p:cNvSpPr/>
            <p:nvPr/>
          </p:nvSpPr>
          <p:spPr>
            <a:xfrm>
              <a:off x="8068541" y="2632363"/>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01" name="Freeform 300">
              <a:extLst>
                <a:ext uri="{FF2B5EF4-FFF2-40B4-BE49-F238E27FC236}">
                  <a16:creationId xmlns:a16="http://schemas.microsoft.com/office/drawing/2014/main" id="{1B782E61-D97C-FB64-1053-964AF3CE92E1}"/>
                </a:ext>
              </a:extLst>
            </p:cNvPr>
            <p:cNvSpPr/>
            <p:nvPr/>
          </p:nvSpPr>
          <p:spPr>
            <a:xfrm>
              <a:off x="8357754" y="263236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2" name="Freeform 301">
              <a:extLst>
                <a:ext uri="{FF2B5EF4-FFF2-40B4-BE49-F238E27FC236}">
                  <a16:creationId xmlns:a16="http://schemas.microsoft.com/office/drawing/2014/main" id="{7052B387-D0A8-C89A-C8DE-567BB2F9FF59}"/>
                </a:ext>
              </a:extLst>
            </p:cNvPr>
            <p:cNvSpPr/>
            <p:nvPr/>
          </p:nvSpPr>
          <p:spPr>
            <a:xfrm>
              <a:off x="5750502"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3" name="Freeform 302">
              <a:extLst>
                <a:ext uri="{FF2B5EF4-FFF2-40B4-BE49-F238E27FC236}">
                  <a16:creationId xmlns:a16="http://schemas.microsoft.com/office/drawing/2014/main" id="{A4216C73-A289-1637-DD78-E61AD2DF2835}"/>
                </a:ext>
              </a:extLst>
            </p:cNvPr>
            <p:cNvSpPr/>
            <p:nvPr/>
          </p:nvSpPr>
          <p:spPr>
            <a:xfrm>
              <a:off x="603971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4" name="Freeform 303">
              <a:extLst>
                <a:ext uri="{FF2B5EF4-FFF2-40B4-BE49-F238E27FC236}">
                  <a16:creationId xmlns:a16="http://schemas.microsoft.com/office/drawing/2014/main" id="{B25521A8-1A8F-8A9A-F131-7FD3D92FB4F3}"/>
                </a:ext>
              </a:extLst>
            </p:cNvPr>
            <p:cNvSpPr/>
            <p:nvPr/>
          </p:nvSpPr>
          <p:spPr>
            <a:xfrm>
              <a:off x="632979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5" name="Freeform 304">
              <a:extLst>
                <a:ext uri="{FF2B5EF4-FFF2-40B4-BE49-F238E27FC236}">
                  <a16:creationId xmlns:a16="http://schemas.microsoft.com/office/drawing/2014/main" id="{EEE57A03-E4D4-AA82-87D1-70C242A3B55D}"/>
                </a:ext>
              </a:extLst>
            </p:cNvPr>
            <p:cNvSpPr/>
            <p:nvPr/>
          </p:nvSpPr>
          <p:spPr>
            <a:xfrm>
              <a:off x="6619875"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6" name="Freeform 305">
              <a:extLst>
                <a:ext uri="{FF2B5EF4-FFF2-40B4-BE49-F238E27FC236}">
                  <a16:creationId xmlns:a16="http://schemas.microsoft.com/office/drawing/2014/main" id="{B1818AD8-2376-D8A3-2EFA-85781BEA7E16}"/>
                </a:ext>
              </a:extLst>
            </p:cNvPr>
            <p:cNvSpPr/>
            <p:nvPr/>
          </p:nvSpPr>
          <p:spPr>
            <a:xfrm>
              <a:off x="690908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7" name="Freeform 306">
              <a:extLst>
                <a:ext uri="{FF2B5EF4-FFF2-40B4-BE49-F238E27FC236}">
                  <a16:creationId xmlns:a16="http://schemas.microsoft.com/office/drawing/2014/main" id="{0CA9F585-005F-CACB-50C1-7DAC8757081C}"/>
                </a:ext>
              </a:extLst>
            </p:cNvPr>
            <p:cNvSpPr/>
            <p:nvPr/>
          </p:nvSpPr>
          <p:spPr>
            <a:xfrm>
              <a:off x="7199168"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8" name="Freeform 307">
              <a:extLst>
                <a:ext uri="{FF2B5EF4-FFF2-40B4-BE49-F238E27FC236}">
                  <a16:creationId xmlns:a16="http://schemas.microsoft.com/office/drawing/2014/main" id="{44B46989-79EA-97E5-4BAA-90DA36C3594B}"/>
                </a:ext>
              </a:extLst>
            </p:cNvPr>
            <p:cNvSpPr/>
            <p:nvPr/>
          </p:nvSpPr>
          <p:spPr>
            <a:xfrm>
              <a:off x="7489247"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09" name="Freeform 308">
              <a:extLst>
                <a:ext uri="{FF2B5EF4-FFF2-40B4-BE49-F238E27FC236}">
                  <a16:creationId xmlns:a16="http://schemas.microsoft.com/office/drawing/2014/main" id="{C630CF39-0DE6-9842-B871-FD54052E60CD}"/>
                </a:ext>
              </a:extLst>
            </p:cNvPr>
            <p:cNvSpPr/>
            <p:nvPr/>
          </p:nvSpPr>
          <p:spPr>
            <a:xfrm>
              <a:off x="777846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0" name="Freeform 309">
              <a:extLst>
                <a:ext uri="{FF2B5EF4-FFF2-40B4-BE49-F238E27FC236}">
                  <a16:creationId xmlns:a16="http://schemas.microsoft.com/office/drawing/2014/main" id="{AFD62814-8841-E61A-AE24-65F36B84D4ED}"/>
                </a:ext>
              </a:extLst>
            </p:cNvPr>
            <p:cNvSpPr/>
            <p:nvPr/>
          </p:nvSpPr>
          <p:spPr>
            <a:xfrm>
              <a:off x="8068541" y="2904259"/>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1" name="Freeform 310">
              <a:extLst>
                <a:ext uri="{FF2B5EF4-FFF2-40B4-BE49-F238E27FC236}">
                  <a16:creationId xmlns:a16="http://schemas.microsoft.com/office/drawing/2014/main" id="{DD4CD568-D3C0-16F3-3842-CB05C468FAD0}"/>
                </a:ext>
              </a:extLst>
            </p:cNvPr>
            <p:cNvSpPr/>
            <p:nvPr/>
          </p:nvSpPr>
          <p:spPr>
            <a:xfrm>
              <a:off x="8357754" y="2904259"/>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2" name="Freeform 311">
              <a:extLst>
                <a:ext uri="{FF2B5EF4-FFF2-40B4-BE49-F238E27FC236}">
                  <a16:creationId xmlns:a16="http://schemas.microsoft.com/office/drawing/2014/main" id="{301B1F92-DEE8-1144-5090-F827AF882C14}"/>
                </a:ext>
              </a:extLst>
            </p:cNvPr>
            <p:cNvSpPr/>
            <p:nvPr/>
          </p:nvSpPr>
          <p:spPr>
            <a:xfrm>
              <a:off x="603971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3" name="Freeform 312">
              <a:extLst>
                <a:ext uri="{FF2B5EF4-FFF2-40B4-BE49-F238E27FC236}">
                  <a16:creationId xmlns:a16="http://schemas.microsoft.com/office/drawing/2014/main" id="{CCBC098A-9926-29A9-0155-43F3A0C7B96A}"/>
                </a:ext>
              </a:extLst>
            </p:cNvPr>
            <p:cNvSpPr/>
            <p:nvPr/>
          </p:nvSpPr>
          <p:spPr>
            <a:xfrm>
              <a:off x="632979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4" name="Freeform 313">
              <a:extLst>
                <a:ext uri="{FF2B5EF4-FFF2-40B4-BE49-F238E27FC236}">
                  <a16:creationId xmlns:a16="http://schemas.microsoft.com/office/drawing/2014/main" id="{86AD9669-6A5A-2B79-F68A-DF2A5D5F7DDD}"/>
                </a:ext>
              </a:extLst>
            </p:cNvPr>
            <p:cNvSpPr/>
            <p:nvPr/>
          </p:nvSpPr>
          <p:spPr>
            <a:xfrm>
              <a:off x="6619875"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5" name="Freeform 314">
              <a:extLst>
                <a:ext uri="{FF2B5EF4-FFF2-40B4-BE49-F238E27FC236}">
                  <a16:creationId xmlns:a16="http://schemas.microsoft.com/office/drawing/2014/main" id="{50DCD269-3CC2-0B33-D624-AA49E1B165CA}"/>
                </a:ext>
              </a:extLst>
            </p:cNvPr>
            <p:cNvSpPr/>
            <p:nvPr/>
          </p:nvSpPr>
          <p:spPr>
            <a:xfrm>
              <a:off x="690908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6" name="Freeform 315">
              <a:extLst>
                <a:ext uri="{FF2B5EF4-FFF2-40B4-BE49-F238E27FC236}">
                  <a16:creationId xmlns:a16="http://schemas.microsoft.com/office/drawing/2014/main" id="{CF638A96-5C68-674A-1828-7EAE4EA5C0DE}"/>
                </a:ext>
              </a:extLst>
            </p:cNvPr>
            <p:cNvSpPr/>
            <p:nvPr/>
          </p:nvSpPr>
          <p:spPr>
            <a:xfrm>
              <a:off x="7199168"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7" name="Freeform 316">
              <a:extLst>
                <a:ext uri="{FF2B5EF4-FFF2-40B4-BE49-F238E27FC236}">
                  <a16:creationId xmlns:a16="http://schemas.microsoft.com/office/drawing/2014/main" id="{90CD1291-04E0-C091-8B8D-5E61351D9ED4}"/>
                </a:ext>
              </a:extLst>
            </p:cNvPr>
            <p:cNvSpPr/>
            <p:nvPr/>
          </p:nvSpPr>
          <p:spPr>
            <a:xfrm>
              <a:off x="7489247"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18" name="Freeform 317">
              <a:extLst>
                <a:ext uri="{FF2B5EF4-FFF2-40B4-BE49-F238E27FC236}">
                  <a16:creationId xmlns:a16="http://schemas.microsoft.com/office/drawing/2014/main" id="{25719CAE-FC69-D8A5-ABC3-62A84BFB0B48}"/>
                </a:ext>
              </a:extLst>
            </p:cNvPr>
            <p:cNvSpPr/>
            <p:nvPr/>
          </p:nvSpPr>
          <p:spPr>
            <a:xfrm>
              <a:off x="777846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19" name="Freeform 318">
              <a:extLst>
                <a:ext uri="{FF2B5EF4-FFF2-40B4-BE49-F238E27FC236}">
                  <a16:creationId xmlns:a16="http://schemas.microsoft.com/office/drawing/2014/main" id="{4DE0BF54-1825-37BA-87E3-0101C2523978}"/>
                </a:ext>
              </a:extLst>
            </p:cNvPr>
            <p:cNvSpPr/>
            <p:nvPr/>
          </p:nvSpPr>
          <p:spPr>
            <a:xfrm>
              <a:off x="8068541" y="3177020"/>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0" name="Freeform 319">
              <a:extLst>
                <a:ext uri="{FF2B5EF4-FFF2-40B4-BE49-F238E27FC236}">
                  <a16:creationId xmlns:a16="http://schemas.microsoft.com/office/drawing/2014/main" id="{88004EFA-28A9-1447-718B-151867994D35}"/>
                </a:ext>
              </a:extLst>
            </p:cNvPr>
            <p:cNvSpPr/>
            <p:nvPr/>
          </p:nvSpPr>
          <p:spPr>
            <a:xfrm>
              <a:off x="8357754" y="3177020"/>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1" name="Freeform 320">
              <a:extLst>
                <a:ext uri="{FF2B5EF4-FFF2-40B4-BE49-F238E27FC236}">
                  <a16:creationId xmlns:a16="http://schemas.microsoft.com/office/drawing/2014/main" id="{CF0B76C2-20D6-31CF-93B2-53FCECF94DCA}"/>
                </a:ext>
              </a:extLst>
            </p:cNvPr>
            <p:cNvSpPr/>
            <p:nvPr/>
          </p:nvSpPr>
          <p:spPr>
            <a:xfrm>
              <a:off x="632979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2" name="Freeform 321">
              <a:extLst>
                <a:ext uri="{FF2B5EF4-FFF2-40B4-BE49-F238E27FC236}">
                  <a16:creationId xmlns:a16="http://schemas.microsoft.com/office/drawing/2014/main" id="{6F23D02B-D4E3-FF1B-B9C0-258DB69E0F3C}"/>
                </a:ext>
              </a:extLst>
            </p:cNvPr>
            <p:cNvSpPr/>
            <p:nvPr/>
          </p:nvSpPr>
          <p:spPr>
            <a:xfrm>
              <a:off x="6619875"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3" name="Freeform 322">
              <a:extLst>
                <a:ext uri="{FF2B5EF4-FFF2-40B4-BE49-F238E27FC236}">
                  <a16:creationId xmlns:a16="http://schemas.microsoft.com/office/drawing/2014/main" id="{3C76304B-81DE-EA8C-9E88-D652755679C4}"/>
                </a:ext>
              </a:extLst>
            </p:cNvPr>
            <p:cNvSpPr/>
            <p:nvPr/>
          </p:nvSpPr>
          <p:spPr>
            <a:xfrm>
              <a:off x="690908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4" name="Freeform 323">
              <a:extLst>
                <a:ext uri="{FF2B5EF4-FFF2-40B4-BE49-F238E27FC236}">
                  <a16:creationId xmlns:a16="http://schemas.microsoft.com/office/drawing/2014/main" id="{2C3ED704-1250-6D2D-660A-9EF150B41041}"/>
                </a:ext>
              </a:extLst>
            </p:cNvPr>
            <p:cNvSpPr/>
            <p:nvPr/>
          </p:nvSpPr>
          <p:spPr>
            <a:xfrm>
              <a:off x="7199168"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5" name="Freeform 324">
              <a:extLst>
                <a:ext uri="{FF2B5EF4-FFF2-40B4-BE49-F238E27FC236}">
                  <a16:creationId xmlns:a16="http://schemas.microsoft.com/office/drawing/2014/main" id="{7A6D5F7E-61A6-4E6E-666F-F4E8F7E40197}"/>
                </a:ext>
              </a:extLst>
            </p:cNvPr>
            <p:cNvSpPr/>
            <p:nvPr/>
          </p:nvSpPr>
          <p:spPr>
            <a:xfrm>
              <a:off x="7489247"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6" name="Freeform 325">
              <a:extLst>
                <a:ext uri="{FF2B5EF4-FFF2-40B4-BE49-F238E27FC236}">
                  <a16:creationId xmlns:a16="http://schemas.microsoft.com/office/drawing/2014/main" id="{1E5DC440-2299-6FDC-EBF9-1BE380620FD8}"/>
                </a:ext>
              </a:extLst>
            </p:cNvPr>
            <p:cNvSpPr/>
            <p:nvPr/>
          </p:nvSpPr>
          <p:spPr>
            <a:xfrm>
              <a:off x="777846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7" name="Freeform 326">
              <a:extLst>
                <a:ext uri="{FF2B5EF4-FFF2-40B4-BE49-F238E27FC236}">
                  <a16:creationId xmlns:a16="http://schemas.microsoft.com/office/drawing/2014/main" id="{69DFF316-7443-F539-1D4D-E71D07E20DE2}"/>
                </a:ext>
              </a:extLst>
            </p:cNvPr>
            <p:cNvSpPr/>
            <p:nvPr/>
          </p:nvSpPr>
          <p:spPr>
            <a:xfrm>
              <a:off x="8068541" y="3449781"/>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28" name="Freeform 327">
              <a:extLst>
                <a:ext uri="{FF2B5EF4-FFF2-40B4-BE49-F238E27FC236}">
                  <a16:creationId xmlns:a16="http://schemas.microsoft.com/office/drawing/2014/main" id="{BCE55FAF-D37C-53C7-BE7B-5E9269D5DA92}"/>
                </a:ext>
              </a:extLst>
            </p:cNvPr>
            <p:cNvSpPr/>
            <p:nvPr/>
          </p:nvSpPr>
          <p:spPr>
            <a:xfrm>
              <a:off x="8357754" y="3449781"/>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29" name="Freeform 328">
              <a:extLst>
                <a:ext uri="{FF2B5EF4-FFF2-40B4-BE49-F238E27FC236}">
                  <a16:creationId xmlns:a16="http://schemas.microsoft.com/office/drawing/2014/main" id="{7E0F5554-9E14-4264-6F0E-E2423FF070FA}"/>
                </a:ext>
              </a:extLst>
            </p:cNvPr>
            <p:cNvSpPr/>
            <p:nvPr/>
          </p:nvSpPr>
          <p:spPr>
            <a:xfrm>
              <a:off x="6619875"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0" name="Freeform 329">
              <a:extLst>
                <a:ext uri="{FF2B5EF4-FFF2-40B4-BE49-F238E27FC236}">
                  <a16:creationId xmlns:a16="http://schemas.microsoft.com/office/drawing/2014/main" id="{53C57555-D22B-544E-D8C3-032A37BD78E4}"/>
                </a:ext>
              </a:extLst>
            </p:cNvPr>
            <p:cNvSpPr/>
            <p:nvPr/>
          </p:nvSpPr>
          <p:spPr>
            <a:xfrm>
              <a:off x="690908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1" name="Freeform 330">
              <a:extLst>
                <a:ext uri="{FF2B5EF4-FFF2-40B4-BE49-F238E27FC236}">
                  <a16:creationId xmlns:a16="http://schemas.microsoft.com/office/drawing/2014/main" id="{8648EB53-8B17-F097-2E55-885D5B188CE8}"/>
                </a:ext>
              </a:extLst>
            </p:cNvPr>
            <p:cNvSpPr/>
            <p:nvPr/>
          </p:nvSpPr>
          <p:spPr>
            <a:xfrm>
              <a:off x="7199168"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2" name="Freeform 331">
              <a:extLst>
                <a:ext uri="{FF2B5EF4-FFF2-40B4-BE49-F238E27FC236}">
                  <a16:creationId xmlns:a16="http://schemas.microsoft.com/office/drawing/2014/main" id="{3151C22B-E0EF-ABF6-420A-77BF863B6A92}"/>
                </a:ext>
              </a:extLst>
            </p:cNvPr>
            <p:cNvSpPr/>
            <p:nvPr/>
          </p:nvSpPr>
          <p:spPr>
            <a:xfrm>
              <a:off x="7489247"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3" name="Freeform 332">
              <a:extLst>
                <a:ext uri="{FF2B5EF4-FFF2-40B4-BE49-F238E27FC236}">
                  <a16:creationId xmlns:a16="http://schemas.microsoft.com/office/drawing/2014/main" id="{85AE2CCF-4680-79B2-9151-CADFCC357A3C}"/>
                </a:ext>
              </a:extLst>
            </p:cNvPr>
            <p:cNvSpPr/>
            <p:nvPr/>
          </p:nvSpPr>
          <p:spPr>
            <a:xfrm>
              <a:off x="777846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34" name="Freeform 333">
              <a:extLst>
                <a:ext uri="{FF2B5EF4-FFF2-40B4-BE49-F238E27FC236}">
                  <a16:creationId xmlns:a16="http://schemas.microsoft.com/office/drawing/2014/main" id="{EEC7E60B-CF7A-ADA4-E868-38D54B107152}"/>
                </a:ext>
              </a:extLst>
            </p:cNvPr>
            <p:cNvSpPr/>
            <p:nvPr/>
          </p:nvSpPr>
          <p:spPr>
            <a:xfrm>
              <a:off x="8068541" y="3721677"/>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35" name="Freeform 334">
              <a:extLst>
                <a:ext uri="{FF2B5EF4-FFF2-40B4-BE49-F238E27FC236}">
                  <a16:creationId xmlns:a16="http://schemas.microsoft.com/office/drawing/2014/main" id="{8194A8EE-77CE-BD9C-4E65-F09C683F65BE}"/>
                </a:ext>
              </a:extLst>
            </p:cNvPr>
            <p:cNvSpPr/>
            <p:nvPr/>
          </p:nvSpPr>
          <p:spPr>
            <a:xfrm>
              <a:off x="8357754" y="3721677"/>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6" name="Freeform 335">
              <a:extLst>
                <a:ext uri="{FF2B5EF4-FFF2-40B4-BE49-F238E27FC236}">
                  <a16:creationId xmlns:a16="http://schemas.microsoft.com/office/drawing/2014/main" id="{43AAD094-BFBD-787D-9FC2-E48411799545}"/>
                </a:ext>
              </a:extLst>
            </p:cNvPr>
            <p:cNvSpPr/>
            <p:nvPr/>
          </p:nvSpPr>
          <p:spPr>
            <a:xfrm>
              <a:off x="690908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7" name="Freeform 336">
              <a:extLst>
                <a:ext uri="{FF2B5EF4-FFF2-40B4-BE49-F238E27FC236}">
                  <a16:creationId xmlns:a16="http://schemas.microsoft.com/office/drawing/2014/main" id="{AA4BEBFD-7552-CA4A-9652-A5417B0F6BB6}"/>
                </a:ext>
              </a:extLst>
            </p:cNvPr>
            <p:cNvSpPr/>
            <p:nvPr/>
          </p:nvSpPr>
          <p:spPr>
            <a:xfrm>
              <a:off x="7199168"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8" name="Freeform 337">
              <a:extLst>
                <a:ext uri="{FF2B5EF4-FFF2-40B4-BE49-F238E27FC236}">
                  <a16:creationId xmlns:a16="http://schemas.microsoft.com/office/drawing/2014/main" id="{40778DA1-1F9C-E62A-4B37-206A8F3E33EB}"/>
                </a:ext>
              </a:extLst>
            </p:cNvPr>
            <p:cNvSpPr/>
            <p:nvPr/>
          </p:nvSpPr>
          <p:spPr>
            <a:xfrm>
              <a:off x="7489247"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39" name="Freeform 338">
              <a:extLst>
                <a:ext uri="{FF2B5EF4-FFF2-40B4-BE49-F238E27FC236}">
                  <a16:creationId xmlns:a16="http://schemas.microsoft.com/office/drawing/2014/main" id="{AED662F1-39E6-9457-4888-F28B45E57C17}"/>
                </a:ext>
              </a:extLst>
            </p:cNvPr>
            <p:cNvSpPr/>
            <p:nvPr/>
          </p:nvSpPr>
          <p:spPr>
            <a:xfrm>
              <a:off x="777846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0" name="Freeform 339">
              <a:extLst>
                <a:ext uri="{FF2B5EF4-FFF2-40B4-BE49-F238E27FC236}">
                  <a16:creationId xmlns:a16="http://schemas.microsoft.com/office/drawing/2014/main" id="{2870CCF9-5BB8-44AB-DC41-6B1458F40E2E}"/>
                </a:ext>
              </a:extLst>
            </p:cNvPr>
            <p:cNvSpPr/>
            <p:nvPr/>
          </p:nvSpPr>
          <p:spPr>
            <a:xfrm>
              <a:off x="8068541" y="399443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1" name="Freeform 340">
              <a:extLst>
                <a:ext uri="{FF2B5EF4-FFF2-40B4-BE49-F238E27FC236}">
                  <a16:creationId xmlns:a16="http://schemas.microsoft.com/office/drawing/2014/main" id="{B3B05434-0097-1448-9E33-DB819E8B5393}"/>
                </a:ext>
              </a:extLst>
            </p:cNvPr>
            <p:cNvSpPr/>
            <p:nvPr/>
          </p:nvSpPr>
          <p:spPr>
            <a:xfrm>
              <a:off x="8357754" y="399443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2" name="Freeform 341">
              <a:extLst>
                <a:ext uri="{FF2B5EF4-FFF2-40B4-BE49-F238E27FC236}">
                  <a16:creationId xmlns:a16="http://schemas.microsoft.com/office/drawing/2014/main" id="{15139F59-BD9F-5001-7088-D1F497BE363F}"/>
                </a:ext>
              </a:extLst>
            </p:cNvPr>
            <p:cNvSpPr/>
            <p:nvPr/>
          </p:nvSpPr>
          <p:spPr>
            <a:xfrm>
              <a:off x="7199168"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3" name="Freeform 342">
              <a:extLst>
                <a:ext uri="{FF2B5EF4-FFF2-40B4-BE49-F238E27FC236}">
                  <a16:creationId xmlns:a16="http://schemas.microsoft.com/office/drawing/2014/main" id="{FA41D73C-C93A-A06F-66B2-AA1848AA931F}"/>
                </a:ext>
              </a:extLst>
            </p:cNvPr>
            <p:cNvSpPr/>
            <p:nvPr/>
          </p:nvSpPr>
          <p:spPr>
            <a:xfrm>
              <a:off x="7489247"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4" name="Freeform 343">
              <a:extLst>
                <a:ext uri="{FF2B5EF4-FFF2-40B4-BE49-F238E27FC236}">
                  <a16:creationId xmlns:a16="http://schemas.microsoft.com/office/drawing/2014/main" id="{2E4C336D-910A-FCCD-0588-0B71A3B14737}"/>
                </a:ext>
              </a:extLst>
            </p:cNvPr>
            <p:cNvSpPr/>
            <p:nvPr/>
          </p:nvSpPr>
          <p:spPr>
            <a:xfrm>
              <a:off x="777846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5" name="Freeform 344">
              <a:extLst>
                <a:ext uri="{FF2B5EF4-FFF2-40B4-BE49-F238E27FC236}">
                  <a16:creationId xmlns:a16="http://schemas.microsoft.com/office/drawing/2014/main" id="{103AC243-E9BE-1386-E0B1-F7FD8F618DA2}"/>
                </a:ext>
              </a:extLst>
            </p:cNvPr>
            <p:cNvSpPr/>
            <p:nvPr/>
          </p:nvSpPr>
          <p:spPr>
            <a:xfrm>
              <a:off x="8068541" y="4267200"/>
              <a:ext cx="187036" cy="187036"/>
            </a:xfrm>
            <a:custGeom>
              <a:avLst/>
              <a:gdLst>
                <a:gd name="connsiteX0" fmla="*/ 187037 w 187036"/>
                <a:gd name="connsiteY0" fmla="*/ 93518 h 187036"/>
                <a:gd name="connsiteX1" fmla="*/ 93519 w 187036"/>
                <a:gd name="connsiteY1" fmla="*/ 187037 h 187036"/>
                <a:gd name="connsiteX2" fmla="*/ 0 w 187036"/>
                <a:gd name="connsiteY2" fmla="*/ 93519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7"/>
                    <a:pt x="93519" y="187037"/>
                  </a:cubicBezTo>
                  <a:cubicBezTo>
                    <a:pt x="41870" y="187037"/>
                    <a:pt x="0" y="145167"/>
                    <a:pt x="0" y="93519"/>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6" name="Freeform 345">
              <a:extLst>
                <a:ext uri="{FF2B5EF4-FFF2-40B4-BE49-F238E27FC236}">
                  <a16:creationId xmlns:a16="http://schemas.microsoft.com/office/drawing/2014/main" id="{D218F222-61AB-A672-C304-50E406055180}"/>
                </a:ext>
              </a:extLst>
            </p:cNvPr>
            <p:cNvSpPr/>
            <p:nvPr/>
          </p:nvSpPr>
          <p:spPr>
            <a:xfrm>
              <a:off x="8357754" y="4267200"/>
              <a:ext cx="187036" cy="187036"/>
            </a:xfrm>
            <a:custGeom>
              <a:avLst/>
              <a:gdLst>
                <a:gd name="connsiteX0" fmla="*/ 187036 w 187036"/>
                <a:gd name="connsiteY0" fmla="*/ 93518 h 187036"/>
                <a:gd name="connsiteX1" fmla="*/ 93518 w 187036"/>
                <a:gd name="connsiteY1" fmla="*/ 187037 h 187036"/>
                <a:gd name="connsiteX2" fmla="*/ 0 w 187036"/>
                <a:gd name="connsiteY2" fmla="*/ 93519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7"/>
                    <a:pt x="93518" y="187037"/>
                  </a:cubicBezTo>
                  <a:cubicBezTo>
                    <a:pt x="41870" y="187037"/>
                    <a:pt x="0" y="145167"/>
                    <a:pt x="0" y="93519"/>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7" name="Freeform 346">
              <a:extLst>
                <a:ext uri="{FF2B5EF4-FFF2-40B4-BE49-F238E27FC236}">
                  <a16:creationId xmlns:a16="http://schemas.microsoft.com/office/drawing/2014/main" id="{CB7D46B1-E68B-7906-3EA5-C7052A5DEFDD}"/>
                </a:ext>
              </a:extLst>
            </p:cNvPr>
            <p:cNvSpPr/>
            <p:nvPr/>
          </p:nvSpPr>
          <p:spPr>
            <a:xfrm>
              <a:off x="7489247"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48" name="Freeform 347">
              <a:extLst>
                <a:ext uri="{FF2B5EF4-FFF2-40B4-BE49-F238E27FC236}">
                  <a16:creationId xmlns:a16="http://schemas.microsoft.com/office/drawing/2014/main" id="{9513D5A6-336E-9965-0482-02877A98F923}"/>
                </a:ext>
              </a:extLst>
            </p:cNvPr>
            <p:cNvSpPr/>
            <p:nvPr/>
          </p:nvSpPr>
          <p:spPr>
            <a:xfrm>
              <a:off x="777846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49" name="Freeform 348">
              <a:extLst>
                <a:ext uri="{FF2B5EF4-FFF2-40B4-BE49-F238E27FC236}">
                  <a16:creationId xmlns:a16="http://schemas.microsoft.com/office/drawing/2014/main" id="{B6E671F9-9FDD-36B2-E5ED-896544B87065}"/>
                </a:ext>
              </a:extLst>
            </p:cNvPr>
            <p:cNvSpPr/>
            <p:nvPr/>
          </p:nvSpPr>
          <p:spPr>
            <a:xfrm>
              <a:off x="8068541" y="4539095"/>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0" name="Freeform 349">
              <a:extLst>
                <a:ext uri="{FF2B5EF4-FFF2-40B4-BE49-F238E27FC236}">
                  <a16:creationId xmlns:a16="http://schemas.microsoft.com/office/drawing/2014/main" id="{81AB5E22-45A9-F597-0CA7-F6550C1DC6D4}"/>
                </a:ext>
              </a:extLst>
            </p:cNvPr>
            <p:cNvSpPr/>
            <p:nvPr/>
          </p:nvSpPr>
          <p:spPr>
            <a:xfrm>
              <a:off x="8357754" y="4539095"/>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1" name="Freeform 350">
              <a:extLst>
                <a:ext uri="{FF2B5EF4-FFF2-40B4-BE49-F238E27FC236}">
                  <a16:creationId xmlns:a16="http://schemas.microsoft.com/office/drawing/2014/main" id="{D00B5876-597C-E80C-F8E0-36B5E77A3507}"/>
                </a:ext>
              </a:extLst>
            </p:cNvPr>
            <p:cNvSpPr/>
            <p:nvPr/>
          </p:nvSpPr>
          <p:spPr>
            <a:xfrm>
              <a:off x="777846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2" name="Freeform 351">
              <a:extLst>
                <a:ext uri="{FF2B5EF4-FFF2-40B4-BE49-F238E27FC236}">
                  <a16:creationId xmlns:a16="http://schemas.microsoft.com/office/drawing/2014/main" id="{887E0B72-6B1B-249E-A1CB-99550A9D9D00}"/>
                </a:ext>
              </a:extLst>
            </p:cNvPr>
            <p:cNvSpPr/>
            <p:nvPr/>
          </p:nvSpPr>
          <p:spPr>
            <a:xfrm>
              <a:off x="8068541" y="4811856"/>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3" name="Freeform 352">
              <a:extLst>
                <a:ext uri="{FF2B5EF4-FFF2-40B4-BE49-F238E27FC236}">
                  <a16:creationId xmlns:a16="http://schemas.microsoft.com/office/drawing/2014/main" id="{91871F59-0E26-A018-81C1-786ED3BE5DF6}"/>
                </a:ext>
              </a:extLst>
            </p:cNvPr>
            <p:cNvSpPr/>
            <p:nvPr/>
          </p:nvSpPr>
          <p:spPr>
            <a:xfrm>
              <a:off x="8357754" y="4811856"/>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4" name="Freeform 353">
              <a:extLst>
                <a:ext uri="{FF2B5EF4-FFF2-40B4-BE49-F238E27FC236}">
                  <a16:creationId xmlns:a16="http://schemas.microsoft.com/office/drawing/2014/main" id="{1D920C36-F43E-BD69-BAFE-72A15243397E}"/>
                </a:ext>
              </a:extLst>
            </p:cNvPr>
            <p:cNvSpPr/>
            <p:nvPr/>
          </p:nvSpPr>
          <p:spPr>
            <a:xfrm>
              <a:off x="8068541" y="5084618"/>
              <a:ext cx="187036" cy="187036"/>
            </a:xfrm>
            <a:custGeom>
              <a:avLst/>
              <a:gdLst>
                <a:gd name="connsiteX0" fmla="*/ 187037 w 187036"/>
                <a:gd name="connsiteY0" fmla="*/ 93518 h 187036"/>
                <a:gd name="connsiteX1" fmla="*/ 93519 w 187036"/>
                <a:gd name="connsiteY1" fmla="*/ 187036 h 187036"/>
                <a:gd name="connsiteX2" fmla="*/ 0 w 187036"/>
                <a:gd name="connsiteY2" fmla="*/ 93518 h 187036"/>
                <a:gd name="connsiteX3" fmla="*/ 93519 w 187036"/>
                <a:gd name="connsiteY3" fmla="*/ 0 h 187036"/>
                <a:gd name="connsiteX4" fmla="*/ 187037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7" y="93518"/>
                  </a:moveTo>
                  <a:cubicBezTo>
                    <a:pt x="187037" y="145167"/>
                    <a:pt x="145167" y="187036"/>
                    <a:pt x="93519" y="187036"/>
                  </a:cubicBezTo>
                  <a:cubicBezTo>
                    <a:pt x="41870" y="187036"/>
                    <a:pt x="0" y="145167"/>
                    <a:pt x="0" y="93518"/>
                  </a:cubicBezTo>
                  <a:cubicBezTo>
                    <a:pt x="0" y="41870"/>
                    <a:pt x="41870" y="0"/>
                    <a:pt x="93519" y="0"/>
                  </a:cubicBezTo>
                  <a:cubicBezTo>
                    <a:pt x="145167" y="0"/>
                    <a:pt x="187037" y="41870"/>
                    <a:pt x="187037" y="93518"/>
                  </a:cubicBezTo>
                  <a:close/>
                </a:path>
              </a:pathLst>
            </a:custGeom>
            <a:grpFill/>
            <a:ln w="8653" cap="flat">
              <a:noFill/>
              <a:prstDash val="solid"/>
              <a:miter/>
            </a:ln>
          </p:spPr>
          <p:txBody>
            <a:bodyPr rtlCol="0" anchor="ctr"/>
            <a:lstStyle/>
            <a:p>
              <a:endParaRPr lang="en-US"/>
            </a:p>
          </p:txBody>
        </p:sp>
        <p:sp>
          <p:nvSpPr>
            <p:cNvPr id="355" name="Freeform 354">
              <a:extLst>
                <a:ext uri="{FF2B5EF4-FFF2-40B4-BE49-F238E27FC236}">
                  <a16:creationId xmlns:a16="http://schemas.microsoft.com/office/drawing/2014/main" id="{E9953019-BE7F-9AB4-C255-858A405EFAC4}"/>
                </a:ext>
              </a:extLst>
            </p:cNvPr>
            <p:cNvSpPr/>
            <p:nvPr/>
          </p:nvSpPr>
          <p:spPr>
            <a:xfrm>
              <a:off x="8357754" y="5084618"/>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sp>
          <p:nvSpPr>
            <p:cNvPr id="356" name="Freeform 355">
              <a:extLst>
                <a:ext uri="{FF2B5EF4-FFF2-40B4-BE49-F238E27FC236}">
                  <a16:creationId xmlns:a16="http://schemas.microsoft.com/office/drawing/2014/main" id="{CEB9DDDB-121F-3015-C840-3448EAF3BD41}"/>
                </a:ext>
              </a:extLst>
            </p:cNvPr>
            <p:cNvSpPr/>
            <p:nvPr/>
          </p:nvSpPr>
          <p:spPr>
            <a:xfrm>
              <a:off x="8357754" y="5356513"/>
              <a:ext cx="187036" cy="187036"/>
            </a:xfrm>
            <a:custGeom>
              <a:avLst/>
              <a:gdLst>
                <a:gd name="connsiteX0" fmla="*/ 187036 w 187036"/>
                <a:gd name="connsiteY0" fmla="*/ 93518 h 187036"/>
                <a:gd name="connsiteX1" fmla="*/ 93518 w 187036"/>
                <a:gd name="connsiteY1" fmla="*/ 187036 h 187036"/>
                <a:gd name="connsiteX2" fmla="*/ 0 w 187036"/>
                <a:gd name="connsiteY2" fmla="*/ 93518 h 187036"/>
                <a:gd name="connsiteX3" fmla="*/ 93518 w 187036"/>
                <a:gd name="connsiteY3" fmla="*/ 0 h 187036"/>
                <a:gd name="connsiteX4" fmla="*/ 187036 w 187036"/>
                <a:gd name="connsiteY4" fmla="*/ 93518 h 18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036" h="187036">
                  <a:moveTo>
                    <a:pt x="187036" y="93518"/>
                  </a:moveTo>
                  <a:cubicBezTo>
                    <a:pt x="187036" y="145167"/>
                    <a:pt x="145167" y="187036"/>
                    <a:pt x="93518" y="187036"/>
                  </a:cubicBezTo>
                  <a:cubicBezTo>
                    <a:pt x="41870" y="187036"/>
                    <a:pt x="0" y="145167"/>
                    <a:pt x="0" y="93518"/>
                  </a:cubicBezTo>
                  <a:cubicBezTo>
                    <a:pt x="0" y="41870"/>
                    <a:pt x="41870" y="0"/>
                    <a:pt x="93518" y="0"/>
                  </a:cubicBezTo>
                  <a:cubicBezTo>
                    <a:pt x="145167" y="0"/>
                    <a:pt x="187036" y="41870"/>
                    <a:pt x="187036" y="93518"/>
                  </a:cubicBezTo>
                  <a:close/>
                </a:path>
              </a:pathLst>
            </a:custGeom>
            <a:grpFill/>
            <a:ln w="8653" cap="flat">
              <a:noFill/>
              <a:prstDash val="solid"/>
              <a:miter/>
            </a:ln>
          </p:spPr>
          <p:txBody>
            <a:bodyPr rtlCol="0" anchor="ctr"/>
            <a:lstStyle/>
            <a:p>
              <a:endParaRPr lang="en-US"/>
            </a:p>
          </p:txBody>
        </p:sp>
      </p:grpSp>
      <p:sp>
        <p:nvSpPr>
          <p:cNvPr id="54" name="Rectangle 53">
            <a:extLst>
              <a:ext uri="{FF2B5EF4-FFF2-40B4-BE49-F238E27FC236}">
                <a16:creationId xmlns:a16="http://schemas.microsoft.com/office/drawing/2014/main" id="{D4F3ED48-433C-07BE-F2F6-35F273EE2404}"/>
              </a:ext>
            </a:extLst>
          </p:cNvPr>
          <p:cNvSpPr/>
          <p:nvPr/>
        </p:nvSpPr>
        <p:spPr>
          <a:xfrm>
            <a:off x="1082078" y="662619"/>
            <a:ext cx="8622747" cy="75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182880" tIns="0" rIns="0" bIns="0" rtlCol="0" anchor="t" anchorCtr="0"/>
          <a:lstStyle/>
          <a:p>
            <a:r>
              <a:rPr lang="en-US" sz="4400" b="1" kern="1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Conclusion</a:t>
            </a:r>
            <a:endParaRPr lang="en-US" sz="4400" b="1" kern="1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863E763-8BF8-938D-FC86-38733D436B2D}"/>
              </a:ext>
            </a:extLst>
          </p:cNvPr>
          <p:cNvSpPr txBox="1"/>
          <p:nvPr/>
        </p:nvSpPr>
        <p:spPr>
          <a:xfrm>
            <a:off x="854015" y="1341763"/>
            <a:ext cx="10703603" cy="4893647"/>
          </a:xfrm>
          <a:prstGeom prst="rect">
            <a:avLst/>
          </a:prstGeom>
          <a:noFill/>
        </p:spPr>
        <p:txBody>
          <a:bodyPr wrap="square">
            <a:spAutoFit/>
          </a:bodyPr>
          <a:lstStyle/>
          <a:p>
            <a:pPr marL="342900" indent="-342900">
              <a:buFont typeface="Arial" panose="020B0604020202020204" pitchFamily="34" charset="0"/>
              <a:buChar char="•"/>
            </a:pPr>
            <a:r>
              <a:rPr lang="en-IN" sz="2400" dirty="0"/>
              <a:t>Successfully addresses the limitations of </a:t>
            </a:r>
            <a:r>
              <a:rPr lang="en-IN" sz="2400" b="1" dirty="0"/>
              <a:t>standard CTC-based HTR systems</a:t>
            </a:r>
            <a:r>
              <a:rPr lang="en-IN" sz="2400" dirty="0"/>
              <a:t> for complex Indic scripts. </a:t>
            </a:r>
          </a:p>
          <a:p>
            <a:pPr marL="342900" indent="-342900">
              <a:buFont typeface="Arial" panose="020B0604020202020204" pitchFamily="34" charset="0"/>
              <a:buChar char="•"/>
            </a:pPr>
            <a:r>
              <a:rPr lang="en-IN" sz="2400" dirty="0"/>
              <a:t>Utilizes an </a:t>
            </a:r>
            <a:r>
              <a:rPr lang="en-IN" sz="2400" b="1" dirty="0"/>
              <a:t>autoregressive Transformer decoder</a:t>
            </a:r>
            <a:r>
              <a:rPr lang="en-IN" sz="2400" dirty="0"/>
              <a:t> for improved contextual character prediction. </a:t>
            </a:r>
          </a:p>
          <a:p>
            <a:pPr marL="342900" indent="-342900">
              <a:buFont typeface="Arial" panose="020B0604020202020204" pitchFamily="34" charset="0"/>
              <a:buChar char="•"/>
            </a:pPr>
            <a:r>
              <a:rPr lang="en-IN" sz="2400" dirty="0"/>
              <a:t>Incorporates </a:t>
            </a:r>
            <a:r>
              <a:rPr lang="en-IN" sz="2400" b="1" dirty="0"/>
              <a:t>Telugu script grammatical rules</a:t>
            </a:r>
            <a:r>
              <a:rPr lang="en-IN" sz="2400" dirty="0"/>
              <a:t> through </a:t>
            </a:r>
            <a:r>
              <a:rPr lang="en-IN" sz="2400" b="1" dirty="0"/>
              <a:t>script-specific constrained decoding</a:t>
            </a:r>
            <a:r>
              <a:rPr lang="en-IN" sz="2400" dirty="0"/>
              <a:t>. </a:t>
            </a:r>
          </a:p>
          <a:p>
            <a:pPr marL="342900" indent="-342900">
              <a:buFont typeface="Arial" panose="020B0604020202020204" pitchFamily="34" charset="0"/>
              <a:buChar char="•"/>
            </a:pPr>
            <a:r>
              <a:rPr lang="en-IN" sz="2400" dirty="0"/>
              <a:t>Significantly </a:t>
            </a:r>
            <a:r>
              <a:rPr lang="en-IN" sz="2400" b="1" dirty="0"/>
              <a:t>reduces orthographic (spelling) errors</a:t>
            </a:r>
            <a:r>
              <a:rPr lang="en-IN" sz="2400" dirty="0"/>
              <a:t> in recognized text. </a:t>
            </a:r>
          </a:p>
          <a:p>
            <a:pPr marL="342900" indent="-342900">
              <a:buFont typeface="Arial" panose="020B0604020202020204" pitchFamily="34" charset="0"/>
              <a:buChar char="•"/>
            </a:pPr>
            <a:r>
              <a:rPr lang="en-IN" sz="2400" dirty="0"/>
              <a:t>Employs </a:t>
            </a:r>
            <a:r>
              <a:rPr lang="en-IN" sz="2400" b="1" dirty="0"/>
              <a:t>Joint CTC-Attention Training</a:t>
            </a:r>
            <a:r>
              <a:rPr lang="en-IN" sz="2400" dirty="0"/>
              <a:t> for stable and efficient model learning. </a:t>
            </a:r>
          </a:p>
          <a:p>
            <a:pPr marL="342900" indent="-342900">
              <a:buFont typeface="Arial" panose="020B0604020202020204" pitchFamily="34" charset="0"/>
              <a:buChar char="•"/>
            </a:pPr>
            <a:r>
              <a:rPr lang="en-IN" sz="2400" dirty="0"/>
              <a:t>Combines </a:t>
            </a:r>
            <a:r>
              <a:rPr lang="en-IN" sz="2400" b="1" dirty="0"/>
              <a:t>modern deep learning architectures</a:t>
            </a:r>
            <a:r>
              <a:rPr lang="en-IN" sz="2400" dirty="0"/>
              <a:t> with </a:t>
            </a:r>
            <a:r>
              <a:rPr lang="en-IN" sz="2400" b="1" dirty="0"/>
              <a:t>domain-specific linguistic knowledge</a:t>
            </a:r>
            <a:r>
              <a:rPr lang="en-IN" sz="2400" dirty="0"/>
              <a:t>. </a:t>
            </a:r>
          </a:p>
          <a:p>
            <a:pPr marL="342900" indent="-342900">
              <a:buFont typeface="Arial" panose="020B0604020202020204" pitchFamily="34" charset="0"/>
              <a:buChar char="•"/>
            </a:pPr>
            <a:r>
              <a:rPr lang="en-IN" sz="2400" dirty="0"/>
              <a:t>Achieves </a:t>
            </a:r>
            <a:r>
              <a:rPr lang="en-IN" sz="2400" b="1" dirty="0"/>
              <a:t>robust and highly accurate</a:t>
            </a:r>
            <a:r>
              <a:rPr lang="en-IN" sz="2400" dirty="0"/>
              <a:t> Telugu handwritten word recognition. </a:t>
            </a:r>
          </a:p>
          <a:p>
            <a:pPr marL="342900" indent="-342900">
              <a:buFont typeface="Arial" panose="020B0604020202020204" pitchFamily="34" charset="0"/>
              <a:buChar char="•"/>
            </a:pPr>
            <a:r>
              <a:rPr lang="en-IN" sz="2400" dirty="0"/>
              <a:t>Facilitates improved </a:t>
            </a:r>
            <a:r>
              <a:rPr lang="en-IN" sz="2400" b="1" dirty="0"/>
              <a:t>digitization of historical and modern Telugu handwritten documents</a:t>
            </a:r>
            <a:r>
              <a:rPr lang="en-IN" sz="2400" dirty="0"/>
              <a:t>. </a:t>
            </a:r>
          </a:p>
        </p:txBody>
      </p:sp>
    </p:spTree>
    <p:extLst>
      <p:ext uri="{BB962C8B-B14F-4D97-AF65-F5344CB8AC3E}">
        <p14:creationId xmlns:p14="http://schemas.microsoft.com/office/powerpoint/2010/main" val="264684883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9983</TotalTime>
  <Words>2029</Words>
  <Application>Microsoft Office PowerPoint</Application>
  <PresentationFormat>Widescreen</PresentationFormat>
  <Paragraphs>244</Paragraphs>
  <Slides>22</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Century Gothic</vt:lpstr>
      <vt:lpstr>Courier</vt:lpstr>
      <vt:lpstr>pplxSans</vt:lpstr>
      <vt:lpstr>Times New Roman</vt:lpstr>
      <vt:lpstr>Tw Cen MT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Alexandra Ragazhinskaya</dc:creator>
  <cp:lastModifiedBy>Bhargav Sakilam</cp:lastModifiedBy>
  <cp:revision>148</cp:revision>
  <cp:lastPrinted>2020-08-31T22:23:58Z</cp:lastPrinted>
  <dcterms:created xsi:type="dcterms:W3CDTF">2021-07-07T23:54:57Z</dcterms:created>
  <dcterms:modified xsi:type="dcterms:W3CDTF">2026-07-31T18:20:20Z</dcterms:modified>
</cp:coreProperties>
</file>